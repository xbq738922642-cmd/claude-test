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24"/>
  </p:notesMasterIdLst>
  <p:sldIdLst>
    <p:sldId id="256" r:id="rId5"/>
    <p:sldId id="269" r:id="rId6"/>
    <p:sldId id="257" r:id="rId7"/>
    <p:sldId id="258" r:id="rId8"/>
    <p:sldId id="266" r:id="rId9"/>
    <p:sldId id="271" r:id="rId10"/>
    <p:sldId id="272" r:id="rId11"/>
    <p:sldId id="267" r:id="rId12"/>
    <p:sldId id="273" r:id="rId13"/>
    <p:sldId id="270" r:id="rId14"/>
    <p:sldId id="276" r:id="rId31"/>
    <p:sldId id="274" r:id="rId15"/>
    <p:sldId id="275" r:id="rId16"/>
    <p:sldId id="260" r:id="rId17"/>
    <p:sldId id="261" r:id="rId18"/>
    <p:sldId id="262" r:id="rId19"/>
    <p:sldId id="259" r:id="rId20"/>
    <p:sldId id="263" r:id="rId21"/>
    <p:sldId id="264" r:id="rId22"/>
    <p:sldId id="26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6A8631-F634-8A1B-4431-D73782B86DA7}" v="1" dt="2026-07-11T01:07:08.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88" autoAdjust="0"/>
    <p:restoredTop sz="94660"/>
  </p:normalViewPr>
  <p:slideViewPr>
    <p:cSldViewPr snapToGrid="0">
      <p:cViewPr varScale="1">
        <p:scale>
          <a:sx n="154" d="100"/>
          <a:sy n="154" d="100"/>
        </p:scale>
        <p:origin x="48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仁平　晶文" userId="S::anihira@takushoku-u.ac.jp::4364d165-30fd-4de8-95d5-0a3f95a26d87" providerId="AD" clId="Web-{6A6A8631-F634-8A1B-4431-D73782B86DA7}"/>
    <pc:docChg chg="modSld">
      <pc:chgData name="仁平　晶文" userId="S::anihira@takushoku-u.ac.jp::4364d165-30fd-4de8-95d5-0a3f95a26d87" providerId="AD" clId="Web-{6A6A8631-F634-8A1B-4431-D73782B86DA7}" dt="2026-07-11T01:07:08.024" v="0" actId="1076"/>
      <pc:docMkLst>
        <pc:docMk/>
      </pc:docMkLst>
      <pc:sldChg chg="modSp">
        <pc:chgData name="仁平　晶文" userId="S::anihira@takushoku-u.ac.jp::4364d165-30fd-4de8-95d5-0a3f95a26d87" providerId="AD" clId="Web-{6A6A8631-F634-8A1B-4431-D73782B86DA7}" dt="2026-07-11T01:07:08.024" v="0" actId="1076"/>
        <pc:sldMkLst>
          <pc:docMk/>
          <pc:sldMk cId="1551799571" sldId="257"/>
        </pc:sldMkLst>
        <pc:picChg chg="mod">
          <ac:chgData name="仁平　晶文" userId="S::anihira@takushoku-u.ac.jp::4364d165-30fd-4de8-95d5-0a3f95a26d87" providerId="AD" clId="Web-{6A6A8631-F634-8A1B-4431-D73782B86DA7}" dt="2026-07-11T01:07:08.024" v="0" actId="1076"/>
          <ac:picMkLst>
            <pc:docMk/>
            <pc:sldMk cId="1551799571" sldId="257"/>
            <ac:picMk id="10" creationId="{9870009C-B4CB-C6F8-6B09-2F62495727D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FF6E-D459-490D-B8EB-16A78B62EEFD}" type="datetimeFigureOut">
              <a:rPr lang="zh-CN" altLang="en-US" smtClean="0"/>
              <a:t>2026/9/29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A95E56-20BD-437C-8EF0-5998B60596DE}" type="slidenum">
              <a:rPr lang="zh-CN" altLang="en-US" smtClean="0"/>
              <a:t>‹#›</a:t>
            </a:fld>
            <a:endParaRPr lang="zh-CN" altLang="en-US"/>
          </a:p>
        </p:txBody>
      </p:sp>
    </p:spTree>
    <p:extLst>
      <p:ext uri="{BB962C8B-B14F-4D97-AF65-F5344CB8AC3E}">
        <p14:creationId xmlns:p14="http://schemas.microsoft.com/office/powerpoint/2010/main" val="3274718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【約30秒】それでは、「アマゾンのラストマイル配送における共通化と現地適応――日米比較を通じて」というテーマで、修士論文の中間発表を始めます。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【約40秒】まず用語の整理です。物流は保管・包装・輸送などを総合的に管理する活動、ECのフルフィルメントは注文を完了するまでの一連の業務を指します。両者は重なりますが、見る視点が異なります。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【約40秒】ECの拡大により、配送、特にラストマイルがEC企業の競争力を左右するようになりました。アマゾンはフルフィルメントセンターと自社配送網を整備して、この能力を強化してきました。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【約50秒】アメリカでは、外部事業者への依存によるコスト増と、2013年のクリスマス商戦の配送遅延が重なり、自社で管理できる配送体制の構築に舵を切りました。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【約40秒】その具体策がDSPとAmazon Flexです。DSPは専属の配送会社、Flexは個人ドライバーです。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【約50秒】日本では2017年の宅配クライシスが転機でした。ドライバー不足と運賃値上げで、大手宅配便への依存が難しくなり、自社で管理する配送体制を広げました。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【約40秒】日本では、従来の宅配便に加え、デリバリープロバイダ、Amazon Flex、地域配送企業などを組み合わせて拡充しています。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【約30秒】ここで日米の方式を整理します。アメリカは自社配送中心、日本は外部との連携を維持しつつ自社配送を拡大している点が特徴です。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【約50秒】この違いを説明する理論の一つが取引費用論です。取引費用が内部管理費用を上回れば内製化、下回れば市場取引が選ばれます。配送を外部に頼むか自社で持つかの判断に当てはまります。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【約50秒】もう一つは標準化と現地適応の視点です。多国籍企業は、全世界で共通化する圧力と現地に合わせる圧力の両方を受けます。本研究のタイトルはこの視点に基づいています。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【約40秒】アメリカでは宅配大手のシェアが低下し、アマゾン自社が約21%まで伸びています。自社でコントロールできる範囲が大きい状況です。（2枚目：日本ではコントロールできない部分が残ります。）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【約40秒】以上から、問題意識はこちらです。なぜアメリカでは自社配送中心なのに、日本では外部連携を維持しつつ自社配送を拡大しているのか。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【約40秒】研究方法は定性研究で、文献研究と日米の比較ケーススタディを行います。配送主体、ネットワーク、外部連携などの観点で比較します。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【約40秒】現時点の仮説です。物流環境の違いが外部依存の程度の違いを生み、それがラストマイル戦略の違いになると考えています。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【約30秒】学術的には日米比較研究を補完し、実務的にはEC企業の海外物流戦略に示唆を与えると考えます。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【約20秒】論文は全6章構成を予定しています。今後は第3章以降の分析を進めます。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【約30秒】一方、日本では外部の宅配事業者や地域配送企業に頼る部分が残り、自社でコントロールできない領域があります。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以上です。ご質問・ご助言をお願いいたします。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【約50秒】齊藤（2021）によれば、アマゾンはかつてUPS、FedEx、USPSに配送を委託していましたが、2013年の配送遅延を機に、Flex、DSP、Amazon Airなどで自社の配送体制を築きました。日本でも、地域配送事業者「デリバリープロバイダ」を組織化して自社配送体制を強化しています（林，2020）。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ja-JP" altLang="en-US"/>
              <a:t>マスター タイトルの書式設定</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a:xfrm>
            <a:off x="2416500" y="329307"/>
            <a:ext cx="4973915" cy="309201"/>
          </a:xfrm>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a:xfrm>
            <a:off x="1437664" y="798973"/>
            <a:ext cx="811019" cy="503578"/>
          </a:xfrm>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2254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6829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ja-JP" altLang="en-US"/>
              <a:t>マスター タイトルの書式設定</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9413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79208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447191" y="2824269"/>
            <a:ext cx="4645152" cy="26444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412362" y="2821491"/>
            <a:ext cx="4645152" cy="263737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r>
              <a:rPr kumimoji="1" lang="en-US" altLang="zh-CN"/>
              <a:t>2026/7/11</a:t>
            </a:r>
            <a:endParaRPr kumimoji="1" lang="ja-JP" altLang="en-US"/>
          </a:p>
        </p:txBody>
      </p:sp>
      <p:sp>
        <p:nvSpPr>
          <p:cNvPr id="8" name="Footer Placeholder 7"/>
          <p:cNvSpPr>
            <a:spLocks noGrp="1"/>
          </p:cNvSpPr>
          <p:nvPr>
            <p:ph type="ftr" sz="quarter" idx="11"/>
          </p:nvPr>
        </p:nvSpPr>
        <p:spPr/>
        <p:txBody>
          <a:bodyPr/>
          <a:lstStyle/>
          <a:p>
            <a:r>
              <a:rPr kumimoji="1" lang="en-US" altLang="ja-JP"/>
              <a:t>123</a:t>
            </a:r>
            <a:endParaRPr kumimoji="1" lang="ja-JP" altLang="en-US"/>
          </a:p>
        </p:txBody>
      </p:sp>
      <p:sp>
        <p:nvSpPr>
          <p:cNvPr id="9" name="Slide Number Placeholder 8"/>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69372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r>
              <a:rPr kumimoji="1" lang="en-US" altLang="zh-CN"/>
              <a:t>2026/7/11</a:t>
            </a:r>
            <a:endParaRPr kumimoji="1" lang="ja-JP" altLang="en-US"/>
          </a:p>
        </p:txBody>
      </p:sp>
      <p:sp>
        <p:nvSpPr>
          <p:cNvPr id="4" name="Footer Placeholder 3"/>
          <p:cNvSpPr>
            <a:spLocks noGrp="1"/>
          </p:cNvSpPr>
          <p:nvPr>
            <p:ph type="ftr" sz="quarter" idx="11"/>
          </p:nvPr>
        </p:nvSpPr>
        <p:spPr/>
        <p:txBody>
          <a:bodyPr/>
          <a:lstStyle/>
          <a:p>
            <a:r>
              <a:rPr kumimoji="1" lang="en-US" altLang="ja-JP"/>
              <a:t>123</a:t>
            </a:r>
            <a:endParaRPr kumimoji="1" lang="ja-JP" altLang="en-US"/>
          </a:p>
        </p:txBody>
      </p:sp>
      <p:sp>
        <p:nvSpPr>
          <p:cNvPr id="5" name="Slide Number Placeholder 4"/>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707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kumimoji="1" lang="en-US" altLang="zh-CN"/>
              <a:t>2026/7/11</a:t>
            </a:r>
            <a:endParaRPr kumimoji="1" lang="ja-JP" altLang="en-US"/>
          </a:p>
        </p:txBody>
      </p:sp>
      <p:sp>
        <p:nvSpPr>
          <p:cNvPr id="3" name="Footer Placeholder 2"/>
          <p:cNvSpPr>
            <a:spLocks noGrp="1"/>
          </p:cNvSpPr>
          <p:nvPr>
            <p:ph type="ftr" sz="quarter" idx="11"/>
          </p:nvPr>
        </p:nvSpPr>
        <p:spPr/>
        <p:txBody>
          <a:bodyPr/>
          <a:lstStyle/>
          <a:p>
            <a:r>
              <a:rPr kumimoji="1" lang="en-US" altLang="ja-JP"/>
              <a:t>123</a:t>
            </a:r>
            <a:endParaRPr kumimoji="1" lang="ja-JP" altLang="en-US"/>
          </a:p>
        </p:txBody>
      </p:sp>
      <p:sp>
        <p:nvSpPr>
          <p:cNvPr id="4" name="Slide Number Placeholder 3"/>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spTree>
    <p:extLst>
      <p:ext uri="{BB962C8B-B14F-4D97-AF65-F5344CB8AC3E}">
        <p14:creationId xmlns:p14="http://schemas.microsoft.com/office/powerpoint/2010/main" val="2065169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ja-JP" altLang="en-US"/>
              <a:t>マスター タイトルの書式設定</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507731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r>
              <a:rPr kumimoji="1" lang="en-US" altLang="zh-CN"/>
              <a:t>2026/7/11</a:t>
            </a:r>
            <a:endParaRPr kumimoji="1" lang="ja-JP" altLang="en-US"/>
          </a:p>
        </p:txBody>
      </p:sp>
      <p:sp>
        <p:nvSpPr>
          <p:cNvPr id="6" name="Footer Placeholder 5"/>
          <p:cNvSpPr>
            <a:spLocks noGrp="1"/>
          </p:cNvSpPr>
          <p:nvPr>
            <p:ph type="ftr" sz="quarter" idx="11"/>
          </p:nvPr>
        </p:nvSpPr>
        <p:spPr>
          <a:xfrm>
            <a:off x="1447382" y="318640"/>
            <a:ext cx="5541004" cy="320931"/>
          </a:xfrm>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54818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5489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293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r>
              <a:rPr kumimoji="1" lang="en-US" altLang="zh-CN"/>
              <a:t>2026/7/11</a:t>
            </a:r>
            <a:endParaRPr kumimoji="1" lang="ja-JP" alt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r>
              <a:rPr kumimoji="1" lang="en-US" altLang="ja-JP"/>
              <a:t>123</a:t>
            </a:r>
            <a:endParaRPr kumimoji="1" lang="ja-JP" alt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AD8D06-E6E2-4C60-875F-3DB64B60E5CA}" type="slidenum">
              <a:rPr kumimoji="1" lang="ja-JP" altLang="en-US" smtClean="0"/>
              <a:t>‹#›</a:t>
            </a:fld>
            <a:endParaRPr kumimoji="1" lang="ja-JP" alt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481135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914400" rtl="0" eaLnBrk="1" latinLnBrk="0" hangingPunct="1">
        <a:lnSpc>
          <a:spcPct val="90000"/>
        </a:lnSpc>
        <a:spcBef>
          <a:spcPct val="0"/>
        </a:spcBef>
        <a:buNone/>
        <a:defRPr kumimoji="1"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kumimoji="1"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DA9709-67C0-127C-AE2A-DA8D019CE163}"/>
              </a:ext>
            </a:extLst>
          </p:cNvPr>
          <p:cNvSpPr>
            <a:spLocks noGrp="1"/>
          </p:cNvSpPr>
          <p:nvPr>
            <p:ph type="ctrTitle"/>
          </p:nvPr>
        </p:nvSpPr>
        <p:spPr>
          <a:xfrm>
            <a:off x="2102499" y="1676871"/>
            <a:ext cx="9782784" cy="2447990"/>
          </a:xfrm>
        </p:spPr>
        <p:txBody>
          <a:bodyPr>
            <a:normAutofit fontScale="90000"/>
          </a:bodyPr>
          <a:lstStyle/>
          <a:p>
            <a:br>
              <a:rPr lang="en-US" altLang="ja-JP" sz="3200" cap="none" dirty="0"/>
            </a:br>
            <a:br>
              <a:rPr lang="en-US" altLang="ja-JP" sz="3200" cap="none" dirty="0"/>
            </a:br>
            <a:r>
              <a:rPr lang="ja-JP" altLang="en-US" sz="3200" dirty="0"/>
              <a:t>アマゾンのラストマイル配送における共通化と現地適応</a:t>
            </a:r>
            <a:br>
              <a:rPr lang="en-US" altLang="ja-JP" sz="3200" dirty="0">
                <a:latin typeface="Yu Mincho" panose="02020400000000000000" pitchFamily="18" charset="-128"/>
                <a:ea typeface="Yu Mincho" panose="02020400000000000000" pitchFamily="18" charset="-128"/>
              </a:rPr>
            </a:br>
            <a:r>
              <a:rPr lang="en-US" altLang="ja-JP" sz="3200" dirty="0">
                <a:latin typeface="Yu Mincho" panose="02020400000000000000" pitchFamily="18" charset="-128"/>
                <a:ea typeface="Yu Mincho" panose="02020400000000000000" pitchFamily="18" charset="-128"/>
              </a:rPr>
              <a:t>                              </a:t>
            </a:r>
            <a:br>
              <a:rPr lang="en-US" altLang="ja-JP" sz="3200" dirty="0">
                <a:latin typeface="Yu Mincho" panose="02020400000000000000" pitchFamily="18" charset="-128"/>
                <a:ea typeface="Yu Mincho" panose="02020400000000000000" pitchFamily="18" charset="-128"/>
              </a:rPr>
            </a:br>
            <a:endParaRPr kumimoji="1" lang="ja-JP" altLang="en-US" sz="3200" dirty="0">
              <a:latin typeface="Yu Mincho" panose="02020400000000000000" pitchFamily="18" charset="-128"/>
              <a:ea typeface="Yu Mincho" panose="02020400000000000000" pitchFamily="18" charset="-128"/>
            </a:endParaRPr>
          </a:p>
        </p:txBody>
      </p:sp>
      <p:sp>
        <p:nvSpPr>
          <p:cNvPr id="3" name="字幕 2">
            <a:extLst>
              <a:ext uri="{FF2B5EF4-FFF2-40B4-BE49-F238E27FC236}">
                <a16:creationId xmlns:a16="http://schemas.microsoft.com/office/drawing/2014/main" id="{38DACF7E-8999-4222-5FB3-741ED2949EA8}"/>
              </a:ext>
            </a:extLst>
          </p:cNvPr>
          <p:cNvSpPr>
            <a:spLocks noGrp="1"/>
          </p:cNvSpPr>
          <p:nvPr>
            <p:ph type="subTitle" idx="1"/>
          </p:nvPr>
        </p:nvSpPr>
        <p:spPr>
          <a:xfrm>
            <a:off x="2417779" y="3804902"/>
            <a:ext cx="8637072" cy="1930314"/>
          </a:xfrm>
        </p:spPr>
        <p:txBody>
          <a:bodyPr>
            <a:normAutofit fontScale="92500"/>
          </a:bodyPr>
          <a:lstStyle/>
          <a:p>
            <a:r>
              <a:rPr lang="en-US" altLang="ja-JP" dirty="0">
                <a:latin typeface="Yu Mincho" panose="02020400000000000000" pitchFamily="18" charset="-128"/>
                <a:ea typeface="Yu Mincho" panose="02020400000000000000" pitchFamily="18" charset="-128"/>
              </a:rPr>
              <a:t>                                                      </a:t>
            </a:r>
            <a:r>
              <a:rPr lang="en-US" altLang="ja-JP" dirty="0"/>
              <a:t>― </a:t>
            </a:r>
            <a:r>
              <a:rPr lang="ja-JP" altLang="en-US" dirty="0"/>
              <a:t>日米比較を通じて </a:t>
            </a:r>
            <a:r>
              <a:rPr lang="en-US" altLang="ja-JP" dirty="0"/>
              <a:t>―</a:t>
            </a:r>
            <a:endParaRPr kumimoji="1" lang="en-US" altLang="ja-JP" dirty="0"/>
          </a:p>
          <a:p>
            <a:r>
              <a:rPr lang="ja-JP" altLang="en-US" dirty="0"/>
              <a:t>                                                                              　　　　　　</a:t>
            </a:r>
            <a:r>
              <a:rPr lang="ja-JP" altLang="en-US" dirty="0">
                <a:latin typeface="Yu Mincho" panose="02020400000000000000" pitchFamily="18" charset="-128"/>
                <a:ea typeface="Yu Mincho" panose="02020400000000000000" pitchFamily="18" charset="-128"/>
              </a:rPr>
              <a:t>氏名：シン　ハクケイ</a:t>
            </a:r>
          </a:p>
          <a:p>
            <a:r>
              <a:rPr lang="ja-JP" altLang="en-US" dirty="0">
                <a:latin typeface="Yu Mincho" panose="02020400000000000000" pitchFamily="18" charset="-128"/>
                <a:ea typeface="Yu Mincho" panose="02020400000000000000" pitchFamily="18" charset="-128"/>
              </a:rPr>
              <a:t>　　　　　　　　　　　　　　　　　　　　　　　　　　学籍番号：</a:t>
            </a:r>
            <a:r>
              <a:rPr lang="en-US" altLang="ja-JP" dirty="0">
                <a:latin typeface="Yu Mincho" panose="02020400000000000000" pitchFamily="18" charset="-128"/>
                <a:ea typeface="Yu Mincho" panose="02020400000000000000" pitchFamily="18" charset="-128"/>
              </a:rPr>
              <a:t>G5M0020205</a:t>
            </a:r>
          </a:p>
        </p:txBody>
      </p:sp>
      <p:sp>
        <p:nvSpPr>
          <p:cNvPr id="6" name="日期占位符 5">
            <a:extLst>
              <a:ext uri="{FF2B5EF4-FFF2-40B4-BE49-F238E27FC236}">
                <a16:creationId xmlns:a16="http://schemas.microsoft.com/office/drawing/2014/main" id="{ABA4853C-D669-3037-9CD2-3F9B9F9E6FC6}"/>
              </a:ext>
            </a:extLst>
          </p:cNvPr>
          <p:cNvSpPr>
            <a:spLocks noGrp="1"/>
          </p:cNvSpPr>
          <p:nvPr>
            <p:ph type="dt" sz="half" idx="10"/>
          </p:nvPr>
        </p:nvSpPr>
        <p:spPr>
          <a:xfrm>
            <a:off x="7554138" y="330370"/>
            <a:ext cx="3617715" cy="309201"/>
          </a:xfrm>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83749CA5-7531-0CD0-2D02-1A4986B7DCC1}"/>
              </a:ext>
            </a:extLst>
          </p:cNvPr>
          <p:cNvSpPr>
            <a:spLocks noGrp="1"/>
          </p:cNvSpPr>
          <p:nvPr>
            <p:ph type="sldNum" sz="quarter" idx="12"/>
          </p:nvPr>
        </p:nvSpPr>
        <p:spPr/>
        <p:txBody>
          <a:bodyPr/>
          <a:lstStyle/>
          <a:p>
            <a:fld id="{4BAD8D06-E6E2-4C60-875F-3DB64B60E5CA}" type="slidenum">
              <a:rPr kumimoji="1" lang="ja-JP" altLang="en-US" smtClean="0"/>
              <a:t>1</a:t>
            </a:fld>
            <a:endParaRPr kumimoji="1" lang="ja-JP" altLang="en-US"/>
          </a:p>
        </p:txBody>
      </p:sp>
    </p:spTree>
    <p:extLst>
      <p:ext uri="{BB962C8B-B14F-4D97-AF65-F5344CB8AC3E}">
        <p14:creationId xmlns:p14="http://schemas.microsoft.com/office/powerpoint/2010/main" val="16713039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770F4F-BF31-9FB9-07C2-4DA609EDCCF2}"/>
              </a:ext>
            </a:extLst>
          </p:cNvPr>
          <p:cNvSpPr>
            <a:spLocks noGrp="1"/>
          </p:cNvSpPr>
          <p:nvPr>
            <p:ph type="title"/>
          </p:nvPr>
        </p:nvSpPr>
        <p:spPr/>
        <p:txBody>
          <a:bodyPr>
            <a:normAutofit/>
          </a:bodyPr>
          <a:lstStyle/>
          <a:p>
            <a:br>
              <a:rPr lang="en-US" altLang="ja-JP" dirty="0"/>
            </a:br>
            <a:r>
              <a:rPr lang="ja-JP" altLang="en-US" dirty="0">
                <a:latin typeface="Yu Mincho" panose="02020400000000000000" pitchFamily="18" charset="-128"/>
                <a:ea typeface="Yu Mincho" panose="02020400000000000000" pitchFamily="18" charset="-128"/>
              </a:rPr>
              <a:t>先行研究</a:t>
            </a:r>
            <a:r>
              <a:rPr lang="en-US" altLang="ja-JP" sz="2700" dirty="0">
                <a:latin typeface="Yu Mincho" panose="02020400000000000000" pitchFamily="18" charset="-128"/>
                <a:ea typeface="Yu Mincho" panose="02020400000000000000" pitchFamily="18" charset="-128"/>
              </a:rPr>
              <a:t>(</a:t>
            </a:r>
            <a:r>
              <a:rPr lang="ja-JP" altLang="en-US" sz="2700" dirty="0">
                <a:latin typeface="Yu Mincho" panose="02020400000000000000" pitchFamily="18" charset="-128"/>
                <a:ea typeface="Yu Mincho" panose="02020400000000000000" pitchFamily="18" charset="-128"/>
              </a:rPr>
              <a:t>物流と</a:t>
            </a:r>
            <a:r>
              <a:rPr lang="en-US" altLang="ja-JP" sz="2700" b="1" dirty="0">
                <a:latin typeface="Yu Mincho" panose="02020400000000000000" pitchFamily="18" charset="-128"/>
                <a:ea typeface="Yu Mincho" panose="02020400000000000000" pitchFamily="18" charset="-128"/>
              </a:rPr>
              <a:t>EC</a:t>
            </a:r>
            <a:r>
              <a:rPr lang="ja-JP" altLang="en-US" sz="2700" dirty="0">
                <a:latin typeface="Yu Mincho" panose="02020400000000000000" pitchFamily="18" charset="-128"/>
                <a:ea typeface="Yu Mincho" panose="02020400000000000000" pitchFamily="18" charset="-128"/>
              </a:rPr>
              <a:t>におけるフルフィルメントの関係</a:t>
            </a:r>
            <a:r>
              <a:rPr lang="en-US" altLang="ja-JP" sz="2700" dirty="0">
                <a:latin typeface="Yu Mincho" panose="02020400000000000000" pitchFamily="18" charset="-128"/>
                <a:ea typeface="Yu Mincho" panose="02020400000000000000" pitchFamily="18" charset="-128"/>
              </a:rPr>
              <a:t>)</a:t>
            </a:r>
            <a:endParaRPr lang="zh-CN" altLang="en-US" sz="2700"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2B1C15-1508-E680-F6BF-A5AD9D00087B}"/>
              </a:ext>
            </a:extLst>
          </p:cNvPr>
          <p:cNvSpPr>
            <a:spLocks noGrp="1"/>
          </p:cNvSpPr>
          <p:nvPr>
            <p:ph idx="1"/>
          </p:nvPr>
        </p:nvSpPr>
        <p:spPr>
          <a:xfrm>
            <a:off x="1451579" y="2015733"/>
            <a:ext cx="9603275" cy="3539092"/>
          </a:xfrm>
        </p:spPr>
        <p:txBody>
          <a:bodyPr>
            <a:normAutofit fontScale="85000" lnSpcReduction="10000"/>
          </a:bodyPr>
          <a:lstStyle/>
          <a:p>
            <a:pPr marL="0" indent="0">
              <a:buNone/>
            </a:pPr>
            <a:r>
              <a:rPr lang="ja-JP" altLang="en-US" dirty="0"/>
              <a:t>　　　　　　　　　</a:t>
            </a: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endParaRPr lang="en-US" altLang="zh-TW" sz="1300" dirty="0"/>
          </a:p>
          <a:p>
            <a:pPr marL="0" indent="0">
              <a:buNone/>
            </a:pPr>
            <a:r>
              <a:rPr lang="zh-TW" altLang="en-US" sz="1300" b="1" dirty="0">
                <a:latin typeface="Yu Mincho" panose="02020400000000000000" pitchFamily="18" charset="-128"/>
                <a:ea typeface="Yu Mincho" panose="02020400000000000000" pitchFamily="18" charset="-128"/>
              </a:rPr>
              <a:t>日本工業規格</a:t>
            </a:r>
            <a:r>
              <a:rPr lang="en-US" altLang="zh-TW" sz="1300" b="1" dirty="0">
                <a:latin typeface="Yu Mincho" panose="02020400000000000000" pitchFamily="18" charset="-128"/>
                <a:ea typeface="Yu Mincho" panose="02020400000000000000" pitchFamily="18" charset="-128"/>
              </a:rPr>
              <a:t>(2006)</a:t>
            </a:r>
            <a:r>
              <a:rPr lang="ja-JP" altLang="en-US" sz="1300" b="1" dirty="0">
                <a:latin typeface="Yu Mincho" panose="02020400000000000000" pitchFamily="18" charset="-128"/>
                <a:ea typeface="Yu Mincho" panose="02020400000000000000" pitchFamily="18" charset="-128"/>
              </a:rPr>
              <a:t>は物流は物資を供給者から需要者へ、時間的及び空間的に移動する過程の活動。一般的には、包装、輸送、保管、荷役、流通加工及びそれらに関連する情報の諸機能を総合的に管理する活動と説明した。</a:t>
            </a:r>
            <a:endParaRPr lang="en-US" altLang="ja-JP" sz="1300" b="1" dirty="0">
              <a:latin typeface="Yu Mincho" panose="02020400000000000000" pitchFamily="18" charset="-128"/>
              <a:ea typeface="Yu Mincho" panose="02020400000000000000" pitchFamily="18" charset="-128"/>
            </a:endParaRPr>
          </a:p>
          <a:p>
            <a:pPr marL="0" indent="0">
              <a:buNone/>
            </a:pPr>
            <a:r>
              <a:rPr lang="en-US" altLang="ja-JP" sz="1300" b="1" dirty="0">
                <a:latin typeface="Yu Mincho" panose="02020400000000000000" pitchFamily="18" charset="-128"/>
                <a:ea typeface="Yu Mincho" panose="02020400000000000000" pitchFamily="18" charset="-128"/>
              </a:rPr>
              <a:t>EC </a:t>
            </a:r>
            <a:r>
              <a:rPr lang="ja-JP" altLang="en-US" sz="1300" b="1" dirty="0">
                <a:latin typeface="Yu Mincho" panose="02020400000000000000" pitchFamily="18" charset="-128"/>
                <a:ea typeface="Yu Mincho" panose="02020400000000000000" pitchFamily="18" charset="-128"/>
              </a:rPr>
              <a:t>におけるフルフィルメントサービスの業務範囲は、「検品，在庫管理，商品保管」などといった </a:t>
            </a:r>
            <a:r>
              <a:rPr lang="en-US" altLang="ja-JP" sz="1300" b="1" dirty="0">
                <a:latin typeface="Yu Mincho" panose="02020400000000000000" pitchFamily="18" charset="-128"/>
                <a:ea typeface="Yu Mincho" panose="02020400000000000000" pitchFamily="18" charset="-128"/>
              </a:rPr>
              <a:t>inbound operations</a:t>
            </a:r>
            <a:r>
              <a:rPr lang="ja-JP" altLang="en-US" sz="1300" b="1" dirty="0">
                <a:latin typeface="Yu Mincho" panose="02020400000000000000" pitchFamily="18" charset="-128"/>
                <a:ea typeface="Yu Mincho" panose="02020400000000000000" pitchFamily="18" charset="-128"/>
              </a:rPr>
              <a:t>、および，「商品のピッキング、梱包、発送、配達」などといった </a:t>
            </a:r>
            <a:r>
              <a:rPr lang="en-US" altLang="ja-JP" sz="1300" b="1" dirty="0">
                <a:latin typeface="Yu Mincho" panose="02020400000000000000" pitchFamily="18" charset="-128"/>
                <a:ea typeface="Yu Mincho" panose="02020400000000000000" pitchFamily="18" charset="-128"/>
              </a:rPr>
              <a:t>outbound operations </a:t>
            </a:r>
            <a:r>
              <a:rPr lang="ja-JP" altLang="en-US" sz="1300" b="1" dirty="0">
                <a:latin typeface="Yu Mincho" panose="02020400000000000000" pitchFamily="18" charset="-128"/>
                <a:ea typeface="Yu Mincho" panose="02020400000000000000" pitchFamily="18" charset="-128"/>
              </a:rPr>
              <a:t>の </a:t>
            </a:r>
            <a:r>
              <a:rPr lang="en-US" altLang="ja-JP" sz="1300" b="1" dirty="0">
                <a:latin typeface="Yu Mincho" panose="02020400000000000000" pitchFamily="18" charset="-128"/>
                <a:ea typeface="Yu Mincho" panose="02020400000000000000" pitchFamily="18" charset="-128"/>
              </a:rPr>
              <a:t>2 </a:t>
            </a:r>
            <a:r>
              <a:rPr lang="ja-JP" altLang="en-US" sz="1300" b="1" dirty="0">
                <a:latin typeface="Yu Mincho" panose="02020400000000000000" pitchFamily="18" charset="-128"/>
                <a:ea typeface="Yu Mincho" panose="02020400000000000000" pitchFamily="18" charset="-128"/>
              </a:rPr>
              <a:t>種類の業務を対象としたサービスであることを示した。（丁，</a:t>
            </a:r>
            <a:r>
              <a:rPr lang="en-US" altLang="ja-JP" sz="1300" b="1" dirty="0">
                <a:latin typeface="Yu Mincho" panose="02020400000000000000" pitchFamily="18" charset="-128"/>
                <a:ea typeface="Yu Mincho" panose="02020400000000000000" pitchFamily="18" charset="-128"/>
              </a:rPr>
              <a:t>2025</a:t>
            </a:r>
            <a:r>
              <a:rPr lang="ja-JP" altLang="en-US" sz="1300" b="1" dirty="0">
                <a:latin typeface="Yu Mincho" panose="02020400000000000000" pitchFamily="18" charset="-128"/>
                <a:ea typeface="Yu Mincho" panose="02020400000000000000" pitchFamily="18" charset="-128"/>
              </a:rPr>
              <a:t>）。</a:t>
            </a:r>
            <a:endParaRPr lang="en-US" altLang="ja-JP" sz="1300" b="1" dirty="0">
              <a:latin typeface="Yu Mincho" panose="02020400000000000000" pitchFamily="18" charset="-128"/>
              <a:ea typeface="Yu Mincho" panose="02020400000000000000" pitchFamily="18" charset="-128"/>
            </a:endParaRPr>
          </a:p>
          <a:p>
            <a:pPr marL="0" indent="0">
              <a:buNone/>
            </a:pPr>
            <a:r>
              <a:rPr lang="ja-JP" altLang="en-US" sz="1400" dirty="0">
                <a:latin typeface="Yu Mincho" panose="02020400000000000000" pitchFamily="18" charset="-128"/>
                <a:ea typeface="Yu Mincho" panose="02020400000000000000" pitchFamily="18" charset="-128"/>
              </a:rPr>
              <a:t>物流と</a:t>
            </a:r>
            <a:r>
              <a:rPr lang="en-US" altLang="ja-JP" sz="1400" dirty="0">
                <a:latin typeface="Yu Mincho" panose="02020400000000000000" pitchFamily="18" charset="-128"/>
                <a:ea typeface="Yu Mincho" panose="02020400000000000000" pitchFamily="18" charset="-128"/>
              </a:rPr>
              <a:t>EC</a:t>
            </a:r>
            <a:r>
              <a:rPr lang="ja-JP" altLang="en-US" sz="1400" dirty="0">
                <a:latin typeface="Yu Mincho" panose="02020400000000000000" pitchFamily="18" charset="-128"/>
                <a:ea typeface="Yu Mincho" panose="02020400000000000000" pitchFamily="18" charset="-128"/>
              </a:rPr>
              <a:t>におけるフルフィルメントは、保管・包装・配送などの活動で重なる。一方、物流は物資の流れを中心に捉え、フルフィルメントは顧客の注文を完了するまでの業務を中心に捉える。</a:t>
            </a:r>
            <a:endParaRPr lang="en-US" altLang="ja-JP" sz="1300" b="1" dirty="0">
              <a:latin typeface="Yu Mincho" panose="02020400000000000000" pitchFamily="18" charset="-128"/>
              <a:ea typeface="Yu Mincho" panose="02020400000000000000" pitchFamily="18" charset="-128"/>
            </a:endParaRPr>
          </a:p>
          <a:p>
            <a:pPr marL="0" indent="0">
              <a:buNone/>
            </a:pPr>
            <a:endParaRPr lang="en-US" altLang="ja-JP" sz="1300" b="1" dirty="0">
              <a:latin typeface="Yu Mincho" panose="02020400000000000000" pitchFamily="18" charset="-128"/>
              <a:ea typeface="Yu Mincho" panose="02020400000000000000" pitchFamily="18" charset="-128"/>
            </a:endParaRPr>
          </a:p>
          <a:p>
            <a:pPr marL="0" indent="0">
              <a:buNone/>
            </a:pPr>
            <a:endParaRPr lang="en-US" altLang="ja-JP" sz="1300" dirty="0"/>
          </a:p>
          <a:p>
            <a:pPr marL="0" indent="0">
              <a:buNone/>
            </a:pPr>
            <a:endParaRPr lang="zh-CN" altLang="en-US" dirty="0"/>
          </a:p>
        </p:txBody>
      </p:sp>
      <p:sp>
        <p:nvSpPr>
          <p:cNvPr id="4" name="日期占位符 3">
            <a:extLst>
              <a:ext uri="{FF2B5EF4-FFF2-40B4-BE49-F238E27FC236}">
                <a16:creationId xmlns:a16="http://schemas.microsoft.com/office/drawing/2014/main" id="{E8AB3E88-1DF5-DDD2-CD90-ECA75B241D65}"/>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6D559547-D835-72C2-FF30-5280F1505867}"/>
              </a:ext>
            </a:extLst>
          </p:cNvPr>
          <p:cNvSpPr>
            <a:spLocks noGrp="1"/>
          </p:cNvSpPr>
          <p:nvPr>
            <p:ph type="sldNum" sz="quarter" idx="12"/>
          </p:nvPr>
        </p:nvSpPr>
        <p:spPr/>
        <p:txBody>
          <a:bodyPr/>
          <a:lstStyle/>
          <a:p>
            <a:fld id="{4BAD8D06-E6E2-4C60-875F-3DB64B60E5CA}" type="slidenum">
              <a:rPr kumimoji="1" lang="ja-JP" altLang="en-US" smtClean="0"/>
              <a:t>2</a:t>
            </a:fld>
            <a:endParaRPr kumimoji="1" lang="ja-JP" altLang="en-US"/>
          </a:p>
        </p:txBody>
      </p:sp>
      <p:pic>
        <p:nvPicPr>
          <p:cNvPr id="7" name="图片 6">
            <a:extLst>
              <a:ext uri="{FF2B5EF4-FFF2-40B4-BE49-F238E27FC236}">
                <a16:creationId xmlns:a16="http://schemas.microsoft.com/office/drawing/2014/main" id="{94DA0C8A-7DC2-083F-6514-A09C1CD892B4}"/>
              </a:ext>
            </a:extLst>
          </p:cNvPr>
          <p:cNvPicPr>
            <a:picLocks noChangeAspect="1"/>
          </p:cNvPicPr>
          <p:nvPr/>
        </p:nvPicPr>
        <p:blipFill>
          <a:blip r:embed="rId2"/>
          <a:stretch>
            <a:fillRect/>
          </a:stretch>
        </p:blipFill>
        <p:spPr>
          <a:xfrm>
            <a:off x="2886269" y="2015733"/>
            <a:ext cx="6108441" cy="1803390"/>
          </a:xfrm>
          <a:prstGeom prst="rect">
            <a:avLst/>
          </a:prstGeom>
        </p:spPr>
      </p:pic>
    </p:spTree>
    <p:extLst>
      <p:ext uri="{BB962C8B-B14F-4D97-AF65-F5344CB8AC3E}">
        <p14:creationId xmlns:p14="http://schemas.microsoft.com/office/powerpoint/2010/main" val="196858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733843-E50C-A12A-E126-EF1EB044BE04}"/>
              </a:ext>
            </a:extLst>
          </p:cNvPr>
          <p:cNvSpPr>
            <a:spLocks noGrp="1"/>
          </p:cNvSpPr>
          <p:nvPr>
            <p:ph type="title"/>
          </p:nvPr>
        </p:nvSpPr>
        <p:spPr/>
        <p:txBody>
          <a:bodyPr/>
          <a:lstStyle/>
          <a:p>
            <a:br>
              <a:rPr kumimoji="1" lang="en-US" altLang="ja-JP"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a:t>
            </a:r>
            <a:r>
              <a:rPr kumimoji="1" lang="ja-JP" altLang="en-US" dirty="0">
                <a:latin typeface="Yu Mincho" panose="02020400000000000000" pitchFamily="18" charset="-128"/>
                <a:ea typeface="Yu Mincho" panose="02020400000000000000" pitchFamily="18" charset="-128"/>
              </a:rPr>
              <a:t>背景</a:t>
            </a:r>
            <a:r>
              <a:rPr kumimoji="1" lang="en-US" altLang="ja-JP" dirty="0">
                <a:latin typeface="Yu Mincho" panose="02020400000000000000" pitchFamily="18" charset="-128"/>
                <a:ea typeface="Yu Mincho" panose="02020400000000000000" pitchFamily="18" charset="-128"/>
              </a:rPr>
              <a:t>)</a:t>
            </a:r>
            <a:endParaRPr kumimoji="1" lang="ja-JP" altLang="en-US" dirty="0">
              <a:latin typeface="Yu Mincho" panose="02020400000000000000" pitchFamily="18" charset="-128"/>
              <a:ea typeface="Yu Mincho" panose="02020400000000000000" pitchFamily="18" charset="-128"/>
            </a:endParaRPr>
          </a:p>
        </p:txBody>
      </p:sp>
      <p:sp>
        <p:nvSpPr>
          <p:cNvPr id="3" name="コンテンツ プレースホルダー 2">
            <a:extLst>
              <a:ext uri="{FF2B5EF4-FFF2-40B4-BE49-F238E27FC236}">
                <a16:creationId xmlns:a16="http://schemas.microsoft.com/office/drawing/2014/main" id="{47FC369D-3716-1FD4-24CC-B6C991BC3FDA}"/>
              </a:ext>
            </a:extLst>
          </p:cNvPr>
          <p:cNvSpPr>
            <a:spLocks noGrp="1"/>
          </p:cNvSpPr>
          <p:nvPr>
            <p:ph idx="1"/>
          </p:nvPr>
        </p:nvSpPr>
        <p:spPr>
          <a:xfrm>
            <a:off x="1215203" y="2855488"/>
            <a:ext cx="9603275" cy="3450613"/>
          </a:xfrm>
        </p:spPr>
        <p:txBody>
          <a:bodyPr>
            <a:normAutofit fontScale="77500" lnSpcReduction="20000"/>
          </a:bodyPr>
          <a:lstStyle/>
          <a:p>
            <a:pPr marL="0" indent="0">
              <a:buNone/>
            </a:pPr>
            <a:endParaRPr lang="en-US" altLang="ja-JP" sz="1600" dirty="0"/>
          </a:p>
          <a:p>
            <a:pPr marL="0" indent="0">
              <a:buNone/>
            </a:pPr>
            <a:r>
              <a:rPr lang="en-US" altLang="ja-JP" sz="1600" dirty="0"/>
              <a:t>               </a:t>
            </a:r>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r>
              <a:rPr lang="ja-JP" altLang="en-US" sz="1600" b="1" dirty="0">
                <a:latin typeface="Yu Mincho" panose="02020400000000000000" pitchFamily="18" charset="-128"/>
                <a:ea typeface="Yu Mincho" panose="02020400000000000000" pitchFamily="18" charset="-128"/>
              </a:rPr>
              <a:t>・近年、</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市場は急速に拡大している。</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企業においてフルフィルメントは重要なオペレーションであり、事業の成功を左右する要因である。（丁，</a:t>
            </a:r>
            <a:r>
              <a:rPr lang="en-US" altLang="ja-JP" sz="1600" b="1" dirty="0">
                <a:latin typeface="Yu Mincho" panose="02020400000000000000" pitchFamily="18" charset="-128"/>
                <a:ea typeface="Yu Mincho" panose="02020400000000000000" pitchFamily="18" charset="-128"/>
              </a:rPr>
              <a:t>2023</a:t>
            </a:r>
            <a:r>
              <a:rPr lang="ja-JP" altLang="en-US" sz="1600" b="1" dirty="0">
                <a:latin typeface="Yu Mincho" panose="02020400000000000000" pitchFamily="18" charset="-128"/>
                <a:ea typeface="Yu Mincho" panose="02020400000000000000" pitchFamily="18" charset="-128"/>
              </a:rPr>
              <a:t>）。</a:t>
            </a:r>
            <a:endParaRPr lang="en-US" altLang="ja-JP" sz="1600" b="1" dirty="0">
              <a:latin typeface="Yu Mincho" panose="02020400000000000000" pitchFamily="18" charset="-128"/>
              <a:ea typeface="Yu Mincho" panose="02020400000000000000" pitchFamily="18" charset="-128"/>
            </a:endParaRPr>
          </a:p>
          <a:p>
            <a:pPr marL="0" indent="0">
              <a:buNone/>
            </a:pPr>
            <a:r>
              <a:rPr lang="ja-JP" altLang="en-US" sz="1600" b="1" dirty="0">
                <a:latin typeface="Yu Mincho" panose="02020400000000000000" pitchFamily="18" charset="-128"/>
                <a:ea typeface="Yu Mincho" panose="02020400000000000000" pitchFamily="18" charset="-128"/>
              </a:rPr>
              <a:t>・ </a:t>
            </a:r>
            <a:r>
              <a:rPr lang="en-US" altLang="ja-JP" sz="1600" b="1" dirty="0">
                <a:latin typeface="Yu Mincho" panose="02020400000000000000" pitchFamily="18" charset="-128"/>
                <a:ea typeface="Yu Mincho" panose="02020400000000000000" pitchFamily="18" charset="-128"/>
              </a:rPr>
              <a:t>Amazon</a:t>
            </a:r>
            <a:r>
              <a:rPr lang="ja-JP" altLang="en-US" sz="1600" b="1" dirty="0">
                <a:latin typeface="Yu Mincho" panose="02020400000000000000" pitchFamily="18" charset="-128"/>
                <a:ea typeface="Yu Mincho" panose="02020400000000000000" pitchFamily="18" charset="-128"/>
              </a:rPr>
              <a:t>はフルフィルメントセンターや自社配送網を整備することでラストマイル配送能力を強化してきた。（齊藤，</a:t>
            </a:r>
            <a:r>
              <a:rPr lang="en-US" altLang="ja-JP" sz="1600" b="1" dirty="0">
                <a:latin typeface="Yu Mincho" panose="02020400000000000000" pitchFamily="18" charset="-128"/>
                <a:ea typeface="Yu Mincho" panose="02020400000000000000" pitchFamily="18" charset="-128"/>
              </a:rPr>
              <a:t>2021</a:t>
            </a:r>
            <a:r>
              <a:rPr lang="ja-JP" altLang="en-US" sz="1600" b="1" dirty="0">
                <a:latin typeface="Yu Mincho" panose="02020400000000000000" pitchFamily="18" charset="-128"/>
                <a:ea typeface="Yu Mincho" panose="02020400000000000000" pitchFamily="18" charset="-128"/>
              </a:rPr>
              <a:t>）。</a:t>
            </a:r>
          </a:p>
          <a:p>
            <a:pPr marL="0" indent="0">
              <a:buNone/>
            </a:pPr>
            <a:endParaRPr lang="en-US" altLang="ja-JP" sz="1600" dirty="0"/>
          </a:p>
        </p:txBody>
      </p:sp>
      <p:sp>
        <p:nvSpPr>
          <p:cNvPr id="6" name="日期占位符 5">
            <a:extLst>
              <a:ext uri="{FF2B5EF4-FFF2-40B4-BE49-F238E27FC236}">
                <a16:creationId xmlns:a16="http://schemas.microsoft.com/office/drawing/2014/main" id="{2C910797-C99F-5E69-025C-9BA447243DEC}"/>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70D0F020-25A5-0A7E-18E8-950A29E41CEF}"/>
              </a:ext>
            </a:extLst>
          </p:cNvPr>
          <p:cNvSpPr>
            <a:spLocks noGrp="1"/>
          </p:cNvSpPr>
          <p:nvPr>
            <p:ph type="sldNum" sz="quarter" idx="12"/>
          </p:nvPr>
        </p:nvSpPr>
        <p:spPr/>
        <p:txBody>
          <a:bodyPr/>
          <a:lstStyle/>
          <a:p>
            <a:fld id="{4BAD8D06-E6E2-4C60-875F-3DB64B60E5CA}" type="slidenum">
              <a:rPr kumimoji="1" lang="ja-JP" altLang="en-US" smtClean="0"/>
              <a:t>3</a:t>
            </a:fld>
            <a:endParaRPr kumimoji="1" lang="ja-JP" altLang="en-US"/>
          </a:p>
        </p:txBody>
      </p:sp>
      <p:pic>
        <p:nvPicPr>
          <p:cNvPr id="10" name="图片 9">
            <a:extLst>
              <a:ext uri="{FF2B5EF4-FFF2-40B4-BE49-F238E27FC236}">
                <a16:creationId xmlns:a16="http://schemas.microsoft.com/office/drawing/2014/main" id="{9870009C-B4CB-C6F8-6B09-2F62495727D8}"/>
              </a:ext>
            </a:extLst>
          </p:cNvPr>
          <p:cNvPicPr>
            <a:picLocks noChangeAspect="1"/>
          </p:cNvPicPr>
          <p:nvPr/>
        </p:nvPicPr>
        <p:blipFill>
          <a:blip r:embed="rId2"/>
          <a:stretch>
            <a:fillRect/>
          </a:stretch>
        </p:blipFill>
        <p:spPr>
          <a:xfrm>
            <a:off x="1373522" y="1917218"/>
            <a:ext cx="5996473" cy="2877280"/>
          </a:xfrm>
          <a:prstGeom prst="rect">
            <a:avLst/>
          </a:prstGeom>
        </p:spPr>
      </p:pic>
      <p:pic>
        <p:nvPicPr>
          <p:cNvPr id="12" name="图片 11">
            <a:extLst>
              <a:ext uri="{FF2B5EF4-FFF2-40B4-BE49-F238E27FC236}">
                <a16:creationId xmlns:a16="http://schemas.microsoft.com/office/drawing/2014/main" id="{1139B41E-A3F1-BBC2-6304-CEF778A0D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2905" y="1902704"/>
            <a:ext cx="3325573" cy="2876539"/>
          </a:xfrm>
          <a:prstGeom prst="rect">
            <a:avLst/>
          </a:prstGeom>
        </p:spPr>
      </p:pic>
      <p:sp>
        <p:nvSpPr>
          <p:cNvPr id="7" name="椭圆 6">
            <a:extLst>
              <a:ext uri="{FF2B5EF4-FFF2-40B4-BE49-F238E27FC236}">
                <a16:creationId xmlns:a16="http://schemas.microsoft.com/office/drawing/2014/main" id="{FCA3EB2D-4210-999B-6DCD-E3667B9F4E11}"/>
              </a:ext>
            </a:extLst>
          </p:cNvPr>
          <p:cNvSpPr/>
          <p:nvPr/>
        </p:nvSpPr>
        <p:spPr>
          <a:xfrm>
            <a:off x="9405257" y="2606351"/>
            <a:ext cx="1156996" cy="15551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51799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barn(inVertical)">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randombar(horizontal)">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randombar(horizontal)">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32" dur="500" fill="hold"/>
                                        <p:tgtEl>
                                          <p:spTgt spid="7"/>
                                        </p:tgtEl>
                                        <p:attrNameLst>
                                          <p:attrName>ppt_x</p:attrName>
                                        </p:attrNameLst>
                                      </p:cBhvr>
                                      <p:tavLst>
                                        <p:tav tm="0">
                                          <p:val>
                                            <p:strVal val="#ppt_x"/>
                                          </p:val>
                                        </p:tav>
                                        <p:tav tm="100000">
                                          <p:val>
                                            <p:strVal val="#ppt_x"/>
                                          </p:val>
                                        </p:tav>
                                      </p:tavLst>
                                    </p:anim>
                                    <p:anim calcmode="lin" valueType="num">
                                      <p:cBhvr additive="base">
                                        <p:cTn id="3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8AEE4-0BE3-180F-A2F2-BBF91841D926}"/>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問題の背景</a:t>
            </a:r>
            <a:r>
              <a:rPr lang="en-US" altLang="ja-JP" dirty="0">
                <a:latin typeface="Yu Mincho" panose="02020400000000000000" pitchFamily="18" charset="-128"/>
                <a:ea typeface="Yu Mincho" panose="02020400000000000000" pitchFamily="18" charset="-128"/>
              </a:rPr>
              <a:t>)</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9EA383D9-99F3-92A1-CDBA-7B5C1B031B65}"/>
              </a:ext>
            </a:extLst>
          </p:cNvPr>
          <p:cNvSpPr>
            <a:spLocks noGrp="1"/>
          </p:cNvSpPr>
          <p:nvPr>
            <p:ph idx="1"/>
          </p:nvPr>
        </p:nvSpPr>
        <p:spPr>
          <a:xfrm>
            <a:off x="1345832" y="2602868"/>
            <a:ext cx="9603275" cy="3450613"/>
          </a:xfrm>
        </p:spPr>
        <p:txBody>
          <a:bodyPr>
            <a:normAutofit fontScale="77500" lnSpcReduction="20000"/>
          </a:bodyPr>
          <a:lstStyle/>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r>
              <a:rPr lang="ja-JP" altLang="en-US" sz="1500" b="1" dirty="0">
                <a:latin typeface="Yu Mincho" panose="02020400000000000000" pitchFamily="18" charset="-128"/>
                <a:ea typeface="Yu Mincho" panose="02020400000000000000" pitchFamily="18" charset="-128"/>
              </a:rPr>
              <a:t>・齊藤（</a:t>
            </a:r>
            <a:r>
              <a:rPr lang="en-US" altLang="ja-JP" sz="1500" b="1" dirty="0">
                <a:latin typeface="Yu Mincho" panose="02020400000000000000" pitchFamily="18" charset="-128"/>
                <a:ea typeface="Yu Mincho" panose="02020400000000000000" pitchFamily="18" charset="-128"/>
              </a:rPr>
              <a:t>2021</a:t>
            </a:r>
            <a:r>
              <a:rPr lang="ja-JP" altLang="en-US" sz="1500" b="1" dirty="0">
                <a:latin typeface="Yu Mincho" panose="02020400000000000000" pitchFamily="18" charset="-128"/>
                <a:ea typeface="Yu Mincho" panose="02020400000000000000" pitchFamily="18" charset="-128"/>
              </a:rPr>
              <a:t>）は、</a:t>
            </a:r>
            <a:r>
              <a:rPr lang="en-US" altLang="ja-JP" sz="1500" b="1" dirty="0">
                <a:latin typeface="Yu Mincho" panose="02020400000000000000" pitchFamily="18" charset="-128"/>
                <a:ea typeface="Yu Mincho" panose="02020400000000000000" pitchFamily="18" charset="-128"/>
              </a:rPr>
              <a:t>Amazon</a:t>
            </a:r>
            <a:r>
              <a:rPr lang="ja-JP" altLang="en-US" sz="1500" b="1" dirty="0">
                <a:latin typeface="Yu Mincho" panose="02020400000000000000" pitchFamily="18" charset="-128"/>
                <a:ea typeface="Yu Mincho" panose="02020400000000000000" pitchFamily="18" charset="-128"/>
              </a:rPr>
              <a:t>は従来</a:t>
            </a:r>
            <a:r>
              <a:rPr lang="en-US" altLang="ja-JP" sz="1500" b="1" dirty="0">
                <a:latin typeface="Yu Mincho" panose="02020400000000000000" pitchFamily="18" charset="-128"/>
                <a:ea typeface="Yu Mincho" panose="02020400000000000000" pitchFamily="18" charset="-128"/>
              </a:rPr>
              <a:t>UPS</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FedEx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USPS</a:t>
            </a:r>
            <a:r>
              <a:rPr lang="ja-JP" altLang="en-US" sz="1500" b="1" dirty="0">
                <a:latin typeface="Yu Mincho" panose="02020400000000000000" pitchFamily="18" charset="-128"/>
                <a:ea typeface="Yu Mincho" panose="02020400000000000000" pitchFamily="18" charset="-128"/>
              </a:rPr>
              <a:t>などの宅配便事業者にラストマイル配送を委託していたが、</a:t>
            </a:r>
            <a:r>
              <a:rPr lang="en-US" altLang="ja-JP" sz="1500" b="1" dirty="0">
                <a:latin typeface="Yu Mincho" panose="02020400000000000000" pitchFamily="18" charset="-128"/>
                <a:ea typeface="Yu Mincho" panose="02020400000000000000" pitchFamily="18" charset="-128"/>
              </a:rPr>
              <a:t>2013</a:t>
            </a:r>
            <a:r>
              <a:rPr lang="ja-JP" altLang="en-US" sz="1500" b="1" dirty="0">
                <a:latin typeface="Yu Mincho" panose="02020400000000000000" pitchFamily="18" charset="-128"/>
                <a:ea typeface="Yu Mincho" panose="02020400000000000000" pitchFamily="18" charset="-128"/>
              </a:rPr>
              <a:t>年の配送遅延問題を契機として、</a:t>
            </a:r>
            <a:r>
              <a:rPr lang="en-US" altLang="ja-JP" sz="1500" b="1" dirty="0">
                <a:latin typeface="Yu Mincho" panose="02020400000000000000" pitchFamily="18" charset="-128"/>
                <a:ea typeface="Yu Mincho" panose="02020400000000000000" pitchFamily="18" charset="-128"/>
              </a:rPr>
              <a:t>Amazon Flex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Delivery Service Partner</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DSP</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Amazon Air</a:t>
            </a:r>
            <a:r>
              <a:rPr lang="ja-JP" altLang="en-US" sz="1500" b="1" dirty="0">
                <a:latin typeface="Yu Mincho" panose="02020400000000000000" pitchFamily="18" charset="-128"/>
                <a:ea typeface="Yu Mincho" panose="02020400000000000000" pitchFamily="18" charset="-128"/>
              </a:rPr>
              <a:t>などを導入し、自らコントロール可能な配送体制の構築を進めたと指摘している。</a:t>
            </a:r>
            <a:endParaRPr lang="en-US" altLang="ja-JP" sz="1500" b="1" dirty="0">
              <a:latin typeface="Yu Mincho" panose="02020400000000000000" pitchFamily="18" charset="-128"/>
              <a:ea typeface="Yu Mincho" panose="02020400000000000000" pitchFamily="18" charset="-128"/>
            </a:endParaRPr>
          </a:p>
          <a:p>
            <a:pPr marL="0" indent="0">
              <a:buNone/>
            </a:pP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 Amazon </a:t>
            </a:r>
            <a:r>
              <a:rPr lang="ja-JP" altLang="en-US" sz="1500" b="1" dirty="0">
                <a:latin typeface="Yu Mincho" panose="02020400000000000000" pitchFamily="18" charset="-128"/>
                <a:ea typeface="Yu Mincho" panose="02020400000000000000" pitchFamily="18" charset="-128"/>
              </a:rPr>
              <a:t>（日本）は、大都市圏を中心に地域限定の配送事業者である</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デリバリープロバイダ</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を組織化し、自社配送体制を強化している。</a:t>
            </a:r>
            <a:r>
              <a:rPr lang="zh-CN" altLang="en-US" sz="1500" b="1" dirty="0">
                <a:latin typeface="Yu Mincho" panose="02020400000000000000" pitchFamily="18" charset="-128"/>
                <a:ea typeface="Yu Mincho" panose="02020400000000000000" pitchFamily="18" charset="-128"/>
              </a:rPr>
              <a:t>（林，</a:t>
            </a:r>
            <a:r>
              <a:rPr lang="en-US" altLang="zh-CN" sz="1500" b="1" dirty="0">
                <a:latin typeface="Yu Mincho" panose="02020400000000000000" pitchFamily="18" charset="-128"/>
                <a:ea typeface="Yu Mincho" panose="02020400000000000000" pitchFamily="18" charset="-128"/>
              </a:rPr>
              <a:t>2020</a:t>
            </a:r>
            <a:r>
              <a:rPr lang="zh-CN" altLang="en-US" sz="1500" b="1" dirty="0">
                <a:latin typeface="Yu Mincho" panose="02020400000000000000" pitchFamily="18" charset="-128"/>
                <a:ea typeface="Yu Mincho" panose="02020400000000000000" pitchFamily="18" charset="-128"/>
              </a:rPr>
              <a:t>）</a:t>
            </a:r>
          </a:p>
        </p:txBody>
      </p:sp>
      <p:sp>
        <p:nvSpPr>
          <p:cNvPr id="6" name="日期占位符 5">
            <a:extLst>
              <a:ext uri="{FF2B5EF4-FFF2-40B4-BE49-F238E27FC236}">
                <a16:creationId xmlns:a16="http://schemas.microsoft.com/office/drawing/2014/main" id="{4033FF2A-A708-63F6-B3D7-D45E8CD26458}"/>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520D81C0-7129-1BBC-8915-8FC737E90E9E}"/>
              </a:ext>
            </a:extLst>
          </p:cNvPr>
          <p:cNvSpPr>
            <a:spLocks noGrp="1"/>
          </p:cNvSpPr>
          <p:nvPr>
            <p:ph type="sldNum" sz="quarter" idx="12"/>
          </p:nvPr>
        </p:nvSpPr>
        <p:spPr/>
        <p:txBody>
          <a:bodyPr/>
          <a:lstStyle/>
          <a:p>
            <a:fld id="{4BAD8D06-E6E2-4C60-875F-3DB64B60E5CA}" type="slidenum">
              <a:rPr kumimoji="1" lang="ja-JP" altLang="en-US" smtClean="0"/>
              <a:t>4</a:t>
            </a:fld>
            <a:endParaRPr kumimoji="1" lang="ja-JP" altLang="en-US"/>
          </a:p>
        </p:txBody>
      </p:sp>
      <p:pic>
        <p:nvPicPr>
          <p:cNvPr id="5" name="图片 4">
            <a:extLst>
              <a:ext uri="{FF2B5EF4-FFF2-40B4-BE49-F238E27FC236}">
                <a16:creationId xmlns:a16="http://schemas.microsoft.com/office/drawing/2014/main" id="{9B127EE5-D73C-971D-349C-9E1549067D0B}"/>
              </a:ext>
            </a:extLst>
          </p:cNvPr>
          <p:cNvPicPr>
            <a:picLocks noChangeAspect="1"/>
          </p:cNvPicPr>
          <p:nvPr/>
        </p:nvPicPr>
        <p:blipFill>
          <a:blip r:embed="rId2"/>
          <a:stretch>
            <a:fillRect/>
          </a:stretch>
        </p:blipFill>
        <p:spPr>
          <a:xfrm>
            <a:off x="1779036" y="1953208"/>
            <a:ext cx="8770775" cy="2869451"/>
          </a:xfrm>
          <a:prstGeom prst="rect">
            <a:avLst/>
          </a:prstGeom>
        </p:spPr>
      </p:pic>
    </p:spTree>
    <p:extLst>
      <p:ext uri="{BB962C8B-B14F-4D97-AF65-F5344CB8AC3E}">
        <p14:creationId xmlns:p14="http://schemas.microsoft.com/office/powerpoint/2010/main" val="351971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barn(inVertical)">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randombar(horizontal)">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996C0D-00E6-ED40-E29E-F68EDA47C1BB}"/>
              </a:ext>
            </a:extLst>
          </p:cNvPr>
          <p:cNvSpPr>
            <a:spLocks noGrp="1"/>
          </p:cNvSpPr>
          <p:nvPr>
            <p:ph type="title"/>
          </p:nvPr>
        </p:nvSpPr>
        <p:spPr/>
        <p:txBody>
          <a:bodyPr/>
          <a:lstStyle/>
          <a:p>
            <a:br>
              <a:rPr kumimoji="1" lang="en-US" altLang="ja-JP" dirty="0"/>
            </a:br>
            <a:r>
              <a:rPr kumimoji="1" lang="ja-JP" altLang="en-US" dirty="0">
                <a:latin typeface="Yu Mincho" panose="02020400000000000000" pitchFamily="18" charset="-128"/>
                <a:ea typeface="Yu Mincho" panose="02020400000000000000" pitchFamily="18" charset="-128"/>
              </a:rPr>
              <a:t>アメリカ</a:t>
            </a:r>
            <a:r>
              <a:rPr lang="ja-JP" altLang="en-US" dirty="0">
                <a:latin typeface="Yu Mincho" panose="02020400000000000000" pitchFamily="18" charset="-128"/>
                <a:ea typeface="Yu Mincho" panose="02020400000000000000" pitchFamily="18" charset="-128"/>
              </a:rPr>
              <a:t>での自社配送体制を拡大する背景</a:t>
            </a:r>
            <a:endParaRPr kumimoji="1" lang="ja-JP" altLang="en-US" dirty="0"/>
          </a:p>
        </p:txBody>
      </p:sp>
      <p:sp>
        <p:nvSpPr>
          <p:cNvPr id="3" name="コンテンツ プレースホルダー 2">
            <a:extLst>
              <a:ext uri="{FF2B5EF4-FFF2-40B4-BE49-F238E27FC236}">
                <a16:creationId xmlns:a16="http://schemas.microsoft.com/office/drawing/2014/main" id="{8BB1D2C0-D64A-7E2C-FE6D-CFEF2FEFB5C1}"/>
              </a:ext>
            </a:extLst>
          </p:cNvPr>
          <p:cNvSpPr>
            <a:spLocks noGrp="1"/>
          </p:cNvSpPr>
          <p:nvPr>
            <p:ph idx="1"/>
          </p:nvPr>
        </p:nvSpPr>
        <p:spPr>
          <a:xfrm>
            <a:off x="895927" y="2015732"/>
            <a:ext cx="10158927" cy="3895541"/>
          </a:xfrm>
        </p:spPr>
        <p:txBody>
          <a:bodyPr>
            <a:normAutofit/>
          </a:bodyPr>
          <a:lstStyle/>
          <a:p>
            <a:pPr marL="0" indent="0">
              <a:buNone/>
            </a:pPr>
            <a:r>
              <a:rPr lang="ja-JP" altLang="en-US" dirty="0"/>
              <a:t>　　　　　　　　</a:t>
            </a:r>
            <a:r>
              <a:rPr lang="ja-JP" altLang="en-US" dirty="0">
                <a:solidFill>
                  <a:schemeClr val="accent2"/>
                </a:solidFill>
              </a:rPr>
              <a:t>①外部事業者への依存とコスト増　　　</a:t>
            </a:r>
            <a:endParaRPr lang="en-US" altLang="ja-JP" dirty="0">
              <a:solidFill>
                <a:schemeClr val="accent2"/>
              </a:solidFill>
            </a:endParaRPr>
          </a:p>
          <a:p>
            <a:pPr marL="0" indent="0">
              <a:buNone/>
            </a:pPr>
            <a:r>
              <a:rPr lang="ja-JP" altLang="en-US" dirty="0">
                <a:solidFill>
                  <a:schemeClr val="accent2"/>
                </a:solidFill>
              </a:rPr>
              <a:t>　売上高の占める輸送コストの割合：</a:t>
            </a:r>
            <a:r>
              <a:rPr lang="en-US" altLang="ja-JP" dirty="0">
                <a:solidFill>
                  <a:schemeClr val="accent2"/>
                </a:solidFill>
              </a:rPr>
              <a:t>2010</a:t>
            </a:r>
            <a:r>
              <a:rPr lang="ja-JP" altLang="en-US" dirty="0">
                <a:solidFill>
                  <a:schemeClr val="accent2"/>
                </a:solidFill>
              </a:rPr>
              <a:t>年代初め約８％　　</a:t>
            </a:r>
            <a:r>
              <a:rPr lang="en-US" altLang="ja-JP" dirty="0">
                <a:solidFill>
                  <a:schemeClr val="accent2"/>
                </a:solidFill>
              </a:rPr>
              <a:t>2017</a:t>
            </a:r>
            <a:r>
              <a:rPr lang="ja-JP" altLang="en-US" dirty="0">
                <a:solidFill>
                  <a:schemeClr val="accent2"/>
                </a:solidFill>
              </a:rPr>
              <a:t>年</a:t>
            </a:r>
            <a:r>
              <a:rPr lang="en-US" altLang="ja-JP" dirty="0">
                <a:solidFill>
                  <a:schemeClr val="accent2"/>
                </a:solidFill>
              </a:rPr>
              <a:t>12.2</a:t>
            </a:r>
            <a:r>
              <a:rPr lang="ja-JP" altLang="en-US" dirty="0">
                <a:solidFill>
                  <a:schemeClr val="accent2"/>
                </a:solidFill>
              </a:rPr>
              <a:t>％</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solidFill>
                  <a:schemeClr val="accent2"/>
                </a:solidFill>
              </a:rPr>
              <a:t>　　　　　　　　②</a:t>
            </a:r>
            <a:r>
              <a:rPr lang="en-US" altLang="ja-JP" dirty="0">
                <a:solidFill>
                  <a:schemeClr val="accent2"/>
                </a:solidFill>
              </a:rPr>
              <a:t>2013</a:t>
            </a:r>
            <a:r>
              <a:rPr lang="ja-JP" altLang="en-US" dirty="0">
                <a:solidFill>
                  <a:schemeClr val="accent2"/>
                </a:solidFill>
              </a:rPr>
              <a:t>年のクリスマス商戦における配送遅延</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t>　　</a:t>
            </a:r>
            <a:endParaRPr lang="en-US" altLang="ja-JP" dirty="0"/>
          </a:p>
          <a:p>
            <a:pPr marL="0" indent="0">
              <a:buNone/>
            </a:pPr>
            <a:r>
              <a:rPr kumimoji="1" lang="ja-JP" altLang="en-US" dirty="0"/>
              <a:t>　　</a:t>
            </a:r>
            <a:r>
              <a:rPr kumimoji="1" lang="ja-JP" altLang="en-US" b="1" dirty="0"/>
              <a:t>外部事業者への依存を見直し、自社で管理できる配送体制の構築を開始</a:t>
            </a:r>
            <a:endParaRPr kumimoji="1" lang="en-US" altLang="ja-JP" b="1" dirty="0"/>
          </a:p>
          <a:p>
            <a:pPr marL="0" indent="0">
              <a:buNone/>
            </a:pPr>
            <a:r>
              <a:rPr lang="ja-JP" altLang="en-US" sz="1200" dirty="0">
                <a:latin typeface="Yu Mincho" panose="02020400000000000000" pitchFamily="18" charset="-128"/>
                <a:ea typeface="Yu Mincho" panose="02020400000000000000" pitchFamily="18" charset="-128"/>
              </a:rPr>
              <a:t>出所：齊藤実（</a:t>
            </a:r>
            <a:r>
              <a:rPr lang="en-US" altLang="ja-JP" sz="1200" dirty="0">
                <a:latin typeface="Yu Mincho" panose="02020400000000000000" pitchFamily="18" charset="-128"/>
                <a:ea typeface="Yu Mincho" panose="02020400000000000000" pitchFamily="18" charset="-128"/>
              </a:rPr>
              <a:t>2021</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E </a:t>
            </a:r>
            <a:r>
              <a:rPr lang="ja-JP" altLang="en-US" sz="1200" dirty="0">
                <a:latin typeface="Yu Mincho" panose="02020400000000000000" pitchFamily="18" charset="-128"/>
                <a:ea typeface="Yu Mincho" panose="02020400000000000000" pitchFamily="18" charset="-128"/>
              </a:rPr>
              <a:t>コマース時代におけるアマゾンの物流戦略」</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経済貿易研究</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研究所年報</a:t>
            </a:r>
            <a:r>
              <a:rPr lang="en-US" altLang="ja-JP" sz="1200" dirty="0">
                <a:latin typeface="Yu Mincho" panose="02020400000000000000" pitchFamily="18" charset="-128"/>
                <a:ea typeface="Yu Mincho" panose="02020400000000000000" pitchFamily="18" charset="-128"/>
              </a:rPr>
              <a:t>』</a:t>
            </a:r>
            <a:r>
              <a:rPr lang="zh-CN" altLang="en-US" sz="1200" dirty="0">
                <a:latin typeface="Yu Mincho" panose="02020400000000000000" pitchFamily="18" charset="-128"/>
                <a:ea typeface="Yu Mincho" panose="02020400000000000000" pitchFamily="18" charset="-128"/>
              </a:rPr>
              <a:t>神奈川大学経済貿易研究所</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47</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pp.39-62</a:t>
            </a:r>
            <a:r>
              <a:rPr lang="ja-JP" altLang="en-US" sz="1200" dirty="0">
                <a:latin typeface="Yu Mincho" panose="02020400000000000000" pitchFamily="18" charset="-128"/>
                <a:ea typeface="Yu Mincho" panose="02020400000000000000" pitchFamily="18" charset="-128"/>
              </a:rPr>
              <a:t>。</a:t>
            </a:r>
            <a:endParaRPr lang="en-US" altLang="ja-JP" sz="1200" dirty="0">
              <a:latin typeface="Yu Mincho" panose="02020400000000000000" pitchFamily="18" charset="-128"/>
              <a:ea typeface="Yu Mincho" panose="02020400000000000000" pitchFamily="18" charset="-128"/>
            </a:endParaRPr>
          </a:p>
          <a:p>
            <a:pPr marL="0" indent="0">
              <a:buNone/>
            </a:pPr>
            <a:endParaRPr kumimoji="1" lang="en-US" altLang="ja-JP" dirty="0"/>
          </a:p>
        </p:txBody>
      </p:sp>
      <p:sp>
        <p:nvSpPr>
          <p:cNvPr id="4" name="日付プレースホルダー 3">
            <a:extLst>
              <a:ext uri="{FF2B5EF4-FFF2-40B4-BE49-F238E27FC236}">
                <a16:creationId xmlns:a16="http://schemas.microsoft.com/office/drawing/2014/main" id="{0B42CAF6-FBFA-4239-A3CA-CFADA4C2CD01}"/>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248DD2E8-05DA-A59D-414B-B2BE37443839}"/>
              </a:ext>
            </a:extLst>
          </p:cNvPr>
          <p:cNvSpPr>
            <a:spLocks noGrp="1"/>
          </p:cNvSpPr>
          <p:nvPr>
            <p:ph type="sldNum" sz="quarter" idx="12"/>
          </p:nvPr>
        </p:nvSpPr>
        <p:spPr/>
        <p:txBody>
          <a:bodyPr/>
          <a:lstStyle/>
          <a:p>
            <a:fld id="{4BAD8D06-E6E2-4C60-875F-3DB64B60E5CA}" type="slidenum">
              <a:rPr kumimoji="1" lang="ja-JP" altLang="en-US" smtClean="0"/>
              <a:t>5</a:t>
            </a:fld>
            <a:endParaRPr kumimoji="1" lang="ja-JP" altLang="en-US"/>
          </a:p>
        </p:txBody>
      </p:sp>
      <p:sp>
        <p:nvSpPr>
          <p:cNvPr id="8" name="矢印: 右 7">
            <a:extLst>
              <a:ext uri="{FF2B5EF4-FFF2-40B4-BE49-F238E27FC236}">
                <a16:creationId xmlns:a16="http://schemas.microsoft.com/office/drawing/2014/main" id="{F2F82EDB-10DC-FC36-3ADE-2F18337B86C2}"/>
              </a:ext>
            </a:extLst>
          </p:cNvPr>
          <p:cNvSpPr/>
          <p:nvPr/>
        </p:nvSpPr>
        <p:spPr>
          <a:xfrm>
            <a:off x="7712365" y="2706252"/>
            <a:ext cx="286328" cy="831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加算記号 8">
            <a:extLst>
              <a:ext uri="{FF2B5EF4-FFF2-40B4-BE49-F238E27FC236}">
                <a16:creationId xmlns:a16="http://schemas.microsoft.com/office/drawing/2014/main" id="{8C17DCA8-6A1C-CAD9-D808-E23DF60C3621}"/>
              </a:ext>
            </a:extLst>
          </p:cNvPr>
          <p:cNvSpPr/>
          <p:nvPr/>
        </p:nvSpPr>
        <p:spPr>
          <a:xfrm>
            <a:off x="5093854" y="3021328"/>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矢印: 下 9">
            <a:extLst>
              <a:ext uri="{FF2B5EF4-FFF2-40B4-BE49-F238E27FC236}">
                <a16:creationId xmlns:a16="http://schemas.microsoft.com/office/drawing/2014/main" id="{8E3E2C5D-3EAD-D18D-2285-DDF7C3DF8C70}"/>
              </a:ext>
            </a:extLst>
          </p:cNvPr>
          <p:cNvSpPr/>
          <p:nvPr/>
        </p:nvSpPr>
        <p:spPr>
          <a:xfrm>
            <a:off x="4802908" y="3977396"/>
            <a:ext cx="960582" cy="7666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02692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C0D897-34A6-0B0E-7680-1675CB54C4B4}"/>
              </a:ext>
            </a:extLst>
          </p:cNvPr>
          <p:cNvSpPr>
            <a:spLocks noGrp="1"/>
          </p:cNvSpPr>
          <p:nvPr>
            <p:ph type="title"/>
          </p:nvPr>
        </p:nvSpPr>
        <p:spPr/>
        <p:txBody>
          <a:bodyPr>
            <a:normAutofit fontScale="90000"/>
          </a:bodyPr>
          <a:lstStyle/>
          <a:p>
            <a:br>
              <a:rPr lang="en-US" altLang="zh-CN" b="1" dirty="0"/>
            </a:br>
            <a:r>
              <a:rPr lang="ja-JP" altLang="en-US" b="1" dirty="0"/>
              <a:t>アメリカにおけるラストマイル配送の拡充</a:t>
            </a:r>
            <a:br>
              <a:rPr lang="en-US" altLang="ja-JP" b="1" dirty="0"/>
            </a:br>
            <a:endParaRPr lang="zh-CN" altLang="en-US" b="1" dirty="0"/>
          </a:p>
        </p:txBody>
      </p:sp>
      <p:sp>
        <p:nvSpPr>
          <p:cNvPr id="4" name="日期占位符 3">
            <a:extLst>
              <a:ext uri="{FF2B5EF4-FFF2-40B4-BE49-F238E27FC236}">
                <a16:creationId xmlns:a16="http://schemas.microsoft.com/office/drawing/2014/main" id="{1093E9BF-7B21-4887-C09B-CDC62B94D5C8}"/>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F17B5A62-CB46-38F5-ED8B-E5301383DA31}"/>
              </a:ext>
            </a:extLst>
          </p:cNvPr>
          <p:cNvSpPr>
            <a:spLocks noGrp="1"/>
          </p:cNvSpPr>
          <p:nvPr>
            <p:ph type="sldNum" sz="quarter" idx="12"/>
          </p:nvPr>
        </p:nvSpPr>
        <p:spPr/>
        <p:txBody>
          <a:bodyPr/>
          <a:lstStyle/>
          <a:p>
            <a:fld id="{4BAD8D06-E6E2-4C60-875F-3DB64B60E5CA}" type="slidenum">
              <a:rPr kumimoji="1" lang="ja-JP" altLang="en-US" smtClean="0"/>
              <a:t>6</a:t>
            </a:fld>
            <a:endParaRPr kumimoji="1" lang="ja-JP" altLang="en-US"/>
          </a:p>
        </p:txBody>
      </p:sp>
      <p:sp>
        <p:nvSpPr>
          <p:cNvPr id="8" name="文本框 7">
            <a:extLst>
              <a:ext uri="{FF2B5EF4-FFF2-40B4-BE49-F238E27FC236}">
                <a16:creationId xmlns:a16="http://schemas.microsoft.com/office/drawing/2014/main" id="{DA847D03-6AEA-13E6-52C3-25ACE0329CAD}"/>
              </a:ext>
            </a:extLst>
          </p:cNvPr>
          <p:cNvSpPr txBox="1"/>
          <p:nvPr/>
        </p:nvSpPr>
        <p:spPr>
          <a:xfrm>
            <a:off x="1592424" y="4897565"/>
            <a:ext cx="8521960" cy="923330"/>
          </a:xfrm>
          <a:prstGeom prst="rect">
            <a:avLst/>
          </a:prstGeom>
          <a:noFill/>
        </p:spPr>
        <p:txBody>
          <a:bodyPr wrap="square" rtlCol="0">
            <a:spAutoFit/>
          </a:bodyPr>
          <a:lstStyle/>
          <a:p>
            <a:r>
              <a:rPr lang="ja-JP" altLang="en-US" dirty="0"/>
              <a:t>齊藤（2021）によると、米国アマゾンはDSPとAmazon Flexを活用して配送体制を拡大してきた。DSPはアマゾンの荷物を専門に配送する配送会社に、Amazon Flexは個人ドライバーに、それぞれ配送を委託する仕組みである。</a:t>
            </a:r>
            <a:endParaRPr lang="zh-CN" altLang="en-US" dirty="0"/>
          </a:p>
        </p:txBody>
      </p:sp>
      <p:pic>
        <p:nvPicPr>
          <p:cNvPr id="17" name="图片 16">
            <a:extLst>
              <a:ext uri="{FF2B5EF4-FFF2-40B4-BE49-F238E27FC236}">
                <a16:creationId xmlns:a16="http://schemas.microsoft.com/office/drawing/2014/main" id="{CF9F85A4-40E0-3B8A-A6CE-8F1E61546AB8}"/>
              </a:ext>
            </a:extLst>
          </p:cNvPr>
          <p:cNvPicPr>
            <a:picLocks noChangeAspect="1"/>
          </p:cNvPicPr>
          <p:nvPr/>
        </p:nvPicPr>
        <p:blipFill>
          <a:blip r:embed="rId2"/>
          <a:stretch>
            <a:fillRect/>
          </a:stretch>
        </p:blipFill>
        <p:spPr>
          <a:xfrm>
            <a:off x="2270837" y="1942633"/>
            <a:ext cx="7165133" cy="2866053"/>
          </a:xfrm>
          <a:prstGeom prst="rect">
            <a:avLst/>
          </a:prstGeom>
        </p:spPr>
      </p:pic>
    </p:spTree>
    <p:extLst>
      <p:ext uri="{BB962C8B-B14F-4D97-AF65-F5344CB8AC3E}">
        <p14:creationId xmlns:p14="http://schemas.microsoft.com/office/powerpoint/2010/main" val="2504472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9C1B7-BAF1-E47C-B1FD-0E689A1A9FE2}"/>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日本での自社配送体制を拡大する背景</a:t>
            </a:r>
            <a:endParaRPr lang="zh-CN" altLang="en-US" dirty="0"/>
          </a:p>
        </p:txBody>
      </p:sp>
      <p:sp>
        <p:nvSpPr>
          <p:cNvPr id="3" name="内容占位符 2">
            <a:extLst>
              <a:ext uri="{FF2B5EF4-FFF2-40B4-BE49-F238E27FC236}">
                <a16:creationId xmlns:a16="http://schemas.microsoft.com/office/drawing/2014/main" id="{7A3C66DA-8C8C-7147-AADD-8C925665DB20}"/>
              </a:ext>
            </a:extLst>
          </p:cNvPr>
          <p:cNvSpPr>
            <a:spLocks noGrp="1"/>
          </p:cNvSpPr>
          <p:nvPr>
            <p:ph idx="1"/>
          </p:nvPr>
        </p:nvSpPr>
        <p:spPr>
          <a:xfrm>
            <a:off x="1441361" y="2018702"/>
            <a:ext cx="9603275" cy="4034779"/>
          </a:xfrm>
        </p:spPr>
        <p:txBody>
          <a:bodyPr>
            <a:normAutofit/>
          </a:bodyPr>
          <a:lstStyle/>
          <a:p>
            <a:pPr marL="0" indent="0">
              <a:buNone/>
            </a:pPr>
            <a:r>
              <a:rPr lang="ja-JP" altLang="en-US" dirty="0"/>
              <a:t> 従来、大手宅配便事業者</a:t>
            </a:r>
            <a:r>
              <a:rPr lang="zh-CN" altLang="en-US" dirty="0"/>
              <a:t>（</a:t>
            </a:r>
            <a:r>
              <a:rPr lang="ja-JP" altLang="en-US" dirty="0"/>
              <a:t>ヤマト運輸・日本郵便・佐川急便</a:t>
            </a:r>
            <a:r>
              <a:rPr lang="zh-CN" altLang="en-US" dirty="0"/>
              <a:t>）</a:t>
            </a:r>
            <a:r>
              <a:rPr lang="ja-JP" altLang="en-US" dirty="0"/>
              <a:t>への依存していた </a:t>
            </a:r>
            <a:endParaRPr lang="en-US" altLang="ja-JP" dirty="0"/>
          </a:p>
          <a:p>
            <a:pPr marL="0" indent="0">
              <a:buNone/>
            </a:pPr>
            <a:endParaRPr lang="en-US" altLang="zh-CN" dirty="0"/>
          </a:p>
          <a:p>
            <a:pPr marL="0" indent="0">
              <a:buNone/>
            </a:pPr>
            <a:r>
              <a:rPr lang="en-US" altLang="ja-JP" dirty="0"/>
              <a:t>  </a:t>
            </a:r>
            <a:r>
              <a:rPr lang="en-US" altLang="ja-JP" sz="1800" dirty="0">
                <a:solidFill>
                  <a:schemeClr val="accent2"/>
                </a:solidFill>
              </a:rPr>
              <a:t>EC</a:t>
            </a:r>
            <a:r>
              <a:rPr lang="ja-JP" altLang="en-US" sz="1800" dirty="0">
                <a:solidFill>
                  <a:schemeClr val="accent2"/>
                </a:solidFill>
              </a:rPr>
              <a:t>貨物の増加とドライバー不足を背景に、配送総量の制限や一部サービスの停止が生じた</a:t>
            </a:r>
            <a:endParaRPr lang="en-US" altLang="ja-JP" sz="1800" dirty="0">
              <a:solidFill>
                <a:schemeClr val="accent2"/>
              </a:solidFill>
            </a:endParaRPr>
          </a:p>
          <a:p>
            <a:pPr marL="0" indent="0">
              <a:buNone/>
            </a:pPr>
            <a:r>
              <a:rPr lang="en-US" altLang="ja-JP" sz="1800" dirty="0">
                <a:solidFill>
                  <a:schemeClr val="accent2"/>
                </a:solidFill>
              </a:rPr>
              <a:t>                                                  </a:t>
            </a:r>
            <a:r>
              <a:rPr lang="zh-CN" altLang="en-US" sz="1800" dirty="0">
                <a:solidFill>
                  <a:schemeClr val="accent2"/>
                </a:solidFill>
              </a:rPr>
              <a:t>（</a:t>
            </a:r>
            <a:r>
              <a:rPr lang="en-US" altLang="ja-JP" sz="1800" dirty="0">
                <a:solidFill>
                  <a:schemeClr val="accent2"/>
                </a:solidFill>
              </a:rPr>
              <a:t>2017</a:t>
            </a:r>
            <a:r>
              <a:rPr lang="ja-JP" altLang="en-US" sz="1800" dirty="0">
                <a:solidFill>
                  <a:schemeClr val="accent2"/>
                </a:solidFill>
              </a:rPr>
              <a:t>年の宅配クライシス</a:t>
            </a:r>
            <a:r>
              <a:rPr lang="zh-CN" altLang="en-US" sz="1800" dirty="0">
                <a:solidFill>
                  <a:schemeClr val="accent2"/>
                </a:solidFill>
              </a:rPr>
              <a:t>）</a:t>
            </a:r>
            <a:endParaRPr lang="en-US" altLang="zh-CN" sz="1800" dirty="0">
              <a:solidFill>
                <a:schemeClr val="accent2"/>
              </a:solidFill>
            </a:endParaRPr>
          </a:p>
          <a:p>
            <a:pPr marL="0" indent="0">
              <a:buNone/>
            </a:pPr>
            <a:r>
              <a:rPr lang="en-US" altLang="ja-JP" sz="1800" dirty="0">
                <a:solidFill>
                  <a:schemeClr val="accent2"/>
                </a:solidFill>
              </a:rPr>
              <a:t>    </a:t>
            </a:r>
          </a:p>
          <a:p>
            <a:pPr marL="0" indent="0">
              <a:buNone/>
            </a:pPr>
            <a:r>
              <a:rPr lang="en-US" altLang="ja-JP" sz="1800" dirty="0">
                <a:solidFill>
                  <a:schemeClr val="accent2"/>
                </a:solidFill>
              </a:rPr>
              <a:t>          </a:t>
            </a:r>
            <a:r>
              <a:rPr lang="ja-JP" altLang="en-US" sz="1800" dirty="0">
                <a:solidFill>
                  <a:schemeClr val="accent2"/>
                </a:solidFill>
              </a:rPr>
              <a:t>宅配運賃の値上げにより、アマゾンの物流コストと収益への負担が増大した</a:t>
            </a:r>
            <a:endParaRPr lang="en-US" altLang="ja-JP" sz="1800" dirty="0">
              <a:solidFill>
                <a:schemeClr val="accent2"/>
              </a:solidFill>
            </a:endParaRPr>
          </a:p>
          <a:p>
            <a:pPr marL="0" indent="0">
              <a:buNone/>
            </a:pPr>
            <a:endParaRPr lang="en-US" altLang="ja-JP" sz="1800" dirty="0"/>
          </a:p>
          <a:p>
            <a:pPr marL="0" indent="0">
              <a:buNone/>
            </a:pPr>
            <a:r>
              <a:rPr lang="ja-JP" altLang="en-US" sz="1800" dirty="0"/>
              <a:t>                                        </a:t>
            </a:r>
            <a:r>
              <a:rPr lang="ja-JP" altLang="en-US" sz="1800" b="1" dirty="0"/>
              <a:t>自ら管理する配送体制の拡大を進めた</a:t>
            </a:r>
            <a:endParaRPr lang="en-US" altLang="ja-JP" sz="1800" b="1" dirty="0"/>
          </a:p>
          <a:p>
            <a:pPr marL="0" indent="0">
              <a:buNone/>
            </a:pPr>
            <a:endParaRPr lang="zh-CN" altLang="en-US" sz="1800" dirty="0"/>
          </a:p>
        </p:txBody>
      </p:sp>
      <p:sp>
        <p:nvSpPr>
          <p:cNvPr id="4" name="日期占位符 3">
            <a:extLst>
              <a:ext uri="{FF2B5EF4-FFF2-40B4-BE49-F238E27FC236}">
                <a16:creationId xmlns:a16="http://schemas.microsoft.com/office/drawing/2014/main" id="{3F457B75-6E2E-7816-8528-2416A6F9F3D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E0703B77-E8BA-A5F1-96E5-E7E18DDEF819}"/>
              </a:ext>
            </a:extLst>
          </p:cNvPr>
          <p:cNvSpPr>
            <a:spLocks noGrp="1"/>
          </p:cNvSpPr>
          <p:nvPr>
            <p:ph type="sldNum" sz="quarter" idx="12"/>
          </p:nvPr>
        </p:nvSpPr>
        <p:spPr/>
        <p:txBody>
          <a:bodyPr/>
          <a:lstStyle/>
          <a:p>
            <a:fld id="{4BAD8D06-E6E2-4C60-875F-3DB64B60E5CA}" type="slidenum">
              <a:rPr kumimoji="1" lang="ja-JP" altLang="en-US" smtClean="0"/>
              <a:t>7</a:t>
            </a:fld>
            <a:endParaRPr kumimoji="1" lang="ja-JP" altLang="en-US"/>
          </a:p>
        </p:txBody>
      </p:sp>
      <p:sp>
        <p:nvSpPr>
          <p:cNvPr id="7" name="加算記号 8">
            <a:extLst>
              <a:ext uri="{FF2B5EF4-FFF2-40B4-BE49-F238E27FC236}">
                <a16:creationId xmlns:a16="http://schemas.microsoft.com/office/drawing/2014/main" id="{F5DB9443-7452-D2F3-EB64-05323E279192}"/>
              </a:ext>
            </a:extLst>
          </p:cNvPr>
          <p:cNvSpPr/>
          <p:nvPr/>
        </p:nvSpPr>
        <p:spPr>
          <a:xfrm>
            <a:off x="5906654" y="3977413"/>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矢印: 下 9">
            <a:extLst>
              <a:ext uri="{FF2B5EF4-FFF2-40B4-BE49-F238E27FC236}">
                <a16:creationId xmlns:a16="http://schemas.microsoft.com/office/drawing/2014/main" id="{67FD6C61-71EF-0ED2-0409-10464B039DA5}"/>
              </a:ext>
            </a:extLst>
          </p:cNvPr>
          <p:cNvSpPr/>
          <p:nvPr/>
        </p:nvSpPr>
        <p:spPr>
          <a:xfrm>
            <a:off x="5761181" y="4842763"/>
            <a:ext cx="669637" cy="5005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0647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31F3BD-5D79-3797-FC2A-6FCF301FB65E}"/>
              </a:ext>
            </a:extLst>
          </p:cNvPr>
          <p:cNvSpPr>
            <a:spLocks noGrp="1"/>
          </p:cNvSpPr>
          <p:nvPr>
            <p:ph type="title"/>
          </p:nvPr>
        </p:nvSpPr>
        <p:spPr/>
        <p:txBody>
          <a:bodyPr>
            <a:normAutofit fontScale="90000"/>
          </a:bodyPr>
          <a:lstStyle/>
          <a:p>
            <a:br>
              <a:rPr kumimoji="1" lang="en-US" altLang="ja-JP" dirty="0"/>
            </a:br>
            <a:r>
              <a:rPr kumimoji="1" lang="ja-JP" altLang="en-US" dirty="0"/>
              <a:t>日本におけるラストマイル配送の拡充</a:t>
            </a:r>
            <a:br>
              <a:rPr kumimoji="1" lang="en-US" altLang="ja-JP" dirty="0"/>
            </a:br>
            <a:endParaRPr kumimoji="1" lang="ja-JP" altLang="en-US" dirty="0"/>
          </a:p>
        </p:txBody>
      </p:sp>
      <p:sp>
        <p:nvSpPr>
          <p:cNvPr id="4" name="日付プレースホルダー 3">
            <a:extLst>
              <a:ext uri="{FF2B5EF4-FFF2-40B4-BE49-F238E27FC236}">
                <a16:creationId xmlns:a16="http://schemas.microsoft.com/office/drawing/2014/main" id="{85451679-5C63-783A-EB43-23BEB3FC61DC}"/>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8D78ECC3-68FF-38E0-8706-5A04FD978D2A}"/>
              </a:ext>
            </a:extLst>
          </p:cNvPr>
          <p:cNvSpPr>
            <a:spLocks noGrp="1"/>
          </p:cNvSpPr>
          <p:nvPr>
            <p:ph type="sldNum" sz="quarter" idx="12"/>
          </p:nvPr>
        </p:nvSpPr>
        <p:spPr/>
        <p:txBody>
          <a:bodyPr/>
          <a:lstStyle/>
          <a:p>
            <a:fld id="{4BAD8D06-E6E2-4C60-875F-3DB64B60E5CA}" type="slidenum">
              <a:rPr kumimoji="1" lang="ja-JP" altLang="en-US" smtClean="0"/>
              <a:t>8</a:t>
            </a:fld>
            <a:endParaRPr kumimoji="1" lang="ja-JP" altLang="en-US"/>
          </a:p>
        </p:txBody>
      </p:sp>
      <p:sp>
        <p:nvSpPr>
          <p:cNvPr id="27" name="テキスト ボックス 26">
            <a:extLst>
              <a:ext uri="{FF2B5EF4-FFF2-40B4-BE49-F238E27FC236}">
                <a16:creationId xmlns:a16="http://schemas.microsoft.com/office/drawing/2014/main" id="{D6AAAB22-1AD9-7A07-D6E2-9A0A5C8963F6}"/>
              </a:ext>
            </a:extLst>
          </p:cNvPr>
          <p:cNvSpPr txBox="1"/>
          <p:nvPr/>
        </p:nvSpPr>
        <p:spPr>
          <a:xfrm>
            <a:off x="1145308" y="5004247"/>
            <a:ext cx="9522691" cy="923330"/>
          </a:xfrm>
          <a:prstGeom prst="rect">
            <a:avLst/>
          </a:prstGeom>
          <a:noFill/>
        </p:spPr>
        <p:txBody>
          <a:bodyPr wrap="square" rtlCol="0">
            <a:spAutoFit/>
          </a:bodyPr>
          <a:lstStyle>
            <a:defPPr>
              <a:defRPr lang="en-US"/>
            </a:defPPr>
            <a:lvl1pPr>
              <a:defRPr kumimoji="1"/>
            </a:lvl1pPr>
          </a:lstStyle>
          <a:p>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長谷川（</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2023</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）は、アマゾン・ジャパンが従来の宅配便に加え、</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AF</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AHDP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を通じてラストマイル配送体制を拡充してきたことを指摘した。</a:t>
            </a:r>
          </a:p>
          <a:p>
            <a:endParaRPr lang="ja-JP" altLang="en-US" dirty="0"/>
          </a:p>
        </p:txBody>
      </p:sp>
      <p:pic>
        <p:nvPicPr>
          <p:cNvPr id="10" name="内容占位符 9">
            <a:extLst>
              <a:ext uri="{FF2B5EF4-FFF2-40B4-BE49-F238E27FC236}">
                <a16:creationId xmlns:a16="http://schemas.microsoft.com/office/drawing/2014/main" id="{EA0C3D35-395B-DECD-8C64-0668F3A50455}"/>
              </a:ext>
            </a:extLst>
          </p:cNvPr>
          <p:cNvPicPr>
            <a:picLocks noGrp="1" noChangeAspect="1"/>
          </p:cNvPicPr>
          <p:nvPr>
            <p:ph idx="1"/>
          </p:nvPr>
        </p:nvPicPr>
        <p:blipFill>
          <a:blip r:embed="rId2"/>
          <a:stretch>
            <a:fillRect/>
          </a:stretch>
        </p:blipFill>
        <p:spPr>
          <a:xfrm>
            <a:off x="1293812" y="2018702"/>
            <a:ext cx="9604375" cy="2519875"/>
          </a:xfrm>
          <a:prstGeom prst="rect">
            <a:avLst/>
          </a:prstGeom>
        </p:spPr>
      </p:pic>
    </p:spTree>
    <p:extLst>
      <p:ext uri="{BB962C8B-B14F-4D97-AF65-F5344CB8AC3E}">
        <p14:creationId xmlns:p14="http://schemas.microsoft.com/office/powerpoint/2010/main" val="11272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D74305-455F-F586-16FA-634D5756F3DD}"/>
              </a:ext>
            </a:extLst>
          </p:cNvPr>
          <p:cNvSpPr>
            <a:spLocks noGrp="1"/>
          </p:cNvSpPr>
          <p:nvPr>
            <p:ph type="title"/>
          </p:nvPr>
        </p:nvSpPr>
        <p:spPr/>
        <p:txBody>
          <a:bodyPr>
            <a:normAutofit fontScale="90000"/>
          </a:bodyPr>
          <a:lstStyle/>
          <a:p>
            <a:br>
              <a:rPr lang="en-US" altLang="zh-CN" dirty="0"/>
            </a:br>
            <a:r>
              <a:rPr lang="ja-JP" altLang="en-US" dirty="0">
                <a:solidFill>
                  <a:srgbClr val="222222"/>
                </a:solidFill>
                <a:latin typeface="Yu Mincho"/>
                <a:ea typeface="Yu Mincho"/>
                <a:cs typeface="Yu Mincho"/>
              </a:rPr>
              <a:t>日米の配送方式の整理</a:t>
            </a:r>
            <a:br>
              <a:rPr lang="ja-JP" altLang="en-US" dirty="0">
                <a:solidFill>
                  <a:srgbClr val="222222"/>
                </a:solidFill>
                <a:latin typeface="Yu Mincho"/>
                <a:ea typeface="Yu Mincho"/>
                <a:cs typeface="Yu Mincho"/>
              </a:rPr>
            </a:br>
            <a:endParaRPr lang="zh-CN" altLang="en-US" dirty="0"/>
          </a:p>
        </p:txBody>
      </p:sp>
      <p:pic>
        <p:nvPicPr>
          <p:cNvPr id="7" name="内容占位符 6">
            <a:extLst>
              <a:ext uri="{FF2B5EF4-FFF2-40B4-BE49-F238E27FC236}">
                <a16:creationId xmlns:a16="http://schemas.microsoft.com/office/drawing/2014/main" id="{33CEE45C-E8F6-58E5-7DBF-EF2D31A45339}"/>
              </a:ext>
            </a:extLst>
          </p:cNvPr>
          <p:cNvPicPr>
            <a:picLocks noGrp="1" noChangeAspect="1"/>
          </p:cNvPicPr>
          <p:nvPr>
            <p:ph idx="1"/>
          </p:nvPr>
        </p:nvPicPr>
        <p:blipFill>
          <a:blip r:embed="rId2"/>
          <a:stretch>
            <a:fillRect/>
          </a:stretch>
        </p:blipFill>
        <p:spPr>
          <a:xfrm>
            <a:off x="1598214" y="1935260"/>
            <a:ext cx="9222813" cy="3449638"/>
          </a:xfrm>
          <a:prstGeom prst="rect">
            <a:avLst/>
          </a:prstGeom>
        </p:spPr>
      </p:pic>
      <p:sp>
        <p:nvSpPr>
          <p:cNvPr id="4" name="日期占位符 3">
            <a:extLst>
              <a:ext uri="{FF2B5EF4-FFF2-40B4-BE49-F238E27FC236}">
                <a16:creationId xmlns:a16="http://schemas.microsoft.com/office/drawing/2014/main" id="{9B37A2A3-5813-EA77-C414-963B480BF3A7}"/>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7F363A08-BB68-6274-862F-78D62D7489A6}"/>
              </a:ext>
            </a:extLst>
          </p:cNvPr>
          <p:cNvSpPr>
            <a:spLocks noGrp="1"/>
          </p:cNvSpPr>
          <p:nvPr>
            <p:ph type="sldNum" sz="quarter" idx="12"/>
          </p:nvPr>
        </p:nvSpPr>
        <p:spPr/>
        <p:txBody>
          <a:bodyPr/>
          <a:lstStyle/>
          <a:p>
            <a:fld id="{4BAD8D06-E6E2-4C60-875F-3DB64B60E5CA}" type="slidenum">
              <a:rPr kumimoji="1" lang="ja-JP" altLang="en-US" smtClean="0"/>
              <a:t>9</a:t>
            </a:fld>
            <a:endParaRPr kumimoji="1" lang="ja-JP" altLang="en-US"/>
          </a:p>
        </p:txBody>
      </p:sp>
    </p:spTree>
    <p:extLst>
      <p:ext uri="{BB962C8B-B14F-4D97-AF65-F5344CB8AC3E}">
        <p14:creationId xmlns:p14="http://schemas.microsoft.com/office/powerpoint/2010/main" val="3364964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2E31E4-DA43-AFD4-1ED2-4E659E736D9D}"/>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取引費用論の視点）</a:t>
            </a:r>
            <a:endParaRPr lang="zh-CN" altLang="en-US" dirty="0"/>
          </a:p>
        </p:txBody>
      </p:sp>
      <p:sp>
        <p:nvSpPr>
          <p:cNvPr id="3" name="内容占位符 2">
            <a:extLst>
              <a:ext uri="{FF2B5EF4-FFF2-40B4-BE49-F238E27FC236}">
                <a16:creationId xmlns:a16="http://schemas.microsoft.com/office/drawing/2014/main" id="{06A14FDD-6086-F1F9-667F-3634DF91B58E}"/>
              </a:ext>
            </a:extLst>
          </p:cNvPr>
          <p:cNvSpPr>
            <a:spLocks noGrp="1"/>
          </p:cNvSpPr>
          <p:nvPr>
            <p:ph idx="1"/>
          </p:nvPr>
        </p:nvSpPr>
        <p:spPr/>
        <p:txBody>
          <a:bodyPr/>
          <a:lstStyle/>
          <a:p>
            <a:pPr marL="0" indent="0">
              <a:buNone/>
            </a:pPr>
            <a:r>
              <a:rPr lang="ja-JP" altLang="en-US" dirty="0"/>
              <a:t>　　　　　　　　　　　　　　　</a:t>
            </a:r>
            <a:r>
              <a:rPr lang="ja-JP" altLang="en-US" b="1" dirty="0"/>
              <a:t>「企業の境界」</a:t>
            </a:r>
            <a:endParaRPr lang="en-US" altLang="ja-JP" b="1" dirty="0"/>
          </a:p>
          <a:p>
            <a:pPr marL="0" indent="0">
              <a:buNone/>
            </a:pPr>
            <a:r>
              <a:rPr lang="ja-JP" altLang="en-US" dirty="0"/>
              <a:t>市場で取引を行うには、情報の収集、契約の交渉、相手方の監視、トラブルの解決などの取引費用（トランザクション・コスト）が発生する（Coase, 1937；Williamson, 1975）。</a:t>
            </a:r>
            <a:endParaRPr lang="en-US" altLang="ja-JP" dirty="0"/>
          </a:p>
          <a:p>
            <a:pPr marL="0" indent="0">
              <a:buNone/>
            </a:pPr>
            <a:endParaRPr lang="en-US" altLang="zh-CN" dirty="0"/>
          </a:p>
          <a:p>
            <a:pPr marL="0" indent="0">
              <a:buNone/>
            </a:pPr>
            <a:r>
              <a:rPr lang="en-US" altLang="ja-JP" dirty="0"/>
              <a:t>• </a:t>
            </a:r>
            <a:r>
              <a:rPr lang="ja-JP" altLang="en-US" dirty="0"/>
              <a:t>取引費用 ＞ 内部管理費用 の場合：企業はプロセスを直営化（組織内への取り込み）する。</a:t>
            </a:r>
          </a:p>
          <a:p>
            <a:pPr marL="0" indent="0">
              <a:buNone/>
            </a:pPr>
            <a:r>
              <a:rPr lang="en-US" altLang="ja-JP" dirty="0"/>
              <a:t>• </a:t>
            </a:r>
            <a:r>
              <a:rPr lang="ja-JP" altLang="en-US" dirty="0"/>
              <a:t>取引費用 ＜ 内部管理費用 の場合：企業は市場での取引を選択する。</a:t>
            </a:r>
            <a:endParaRPr lang="zh-CN" altLang="en-US" dirty="0"/>
          </a:p>
          <a:p>
            <a:pPr marL="0" indent="0">
              <a:buNone/>
            </a:pPr>
            <a:r>
              <a:rPr lang="ja-JP" altLang="en-US" dirty="0" b="1"/>
              <a:t>→ ラストマイル配送を「外部委託（市場）」とするか「自社配送（組織）」とするかの説明に適用できる。</a:t>
            </a:r>
            <a:endParaRPr lang="en-US" altLang="ja-JP" dirty="0"/>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extLst>
      <p:ext uri="{BB962C8B-B14F-4D97-AF65-F5344CB8AC3E}">
        <p14:creationId xmlns:p14="http://schemas.microsoft.com/office/powerpoint/2010/main" val="297576494"/>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先行研究（標準化と現地適応の視点）</a:t>
            </a:r>
          </a:p>
        </p:txBody>
      </p:sp>
      <p:sp>
        <p:nvSpPr>
          <p:cNvPr id="3" name="Content Placeholder 2"/>
          <p:cNvSpPr>
            <a:spLocks noGrp="1"/>
          </p:cNvSpPr>
          <p:nvPr>
            <p:ph idx="1"/>
          </p:nvPr>
        </p:nvSpPr>
        <p:spPr/>
        <p:txBody>
          <a:bodyPr/>
          <a:lstStyle/>
          <a:p>
            <a:pPr marL="0" indent="0">
              <a:buNone/>
            </a:pPr>
            <a:r>
              <a:rPr b="0" sz="2000">
                <a:latin typeface="Yu Mincho"/>
              </a:rPr>
              <a:t>多国籍企業は「グローバル統合（標準化）」と「現地適応」の両圧力に直面する（Prahalad &amp; Doz, 1987；Bartlett &amp; Ghoshal, 1989）。</a:t>
            </a:r>
          </a:p>
          <a:p>
            <a:pPr marL="0" indent="0">
              <a:buNone/>
            </a:pPr>
            <a:r>
              <a:rPr b="0" sz="2000">
                <a:latin typeface="Yu Mincho"/>
              </a:rPr>
              <a:t/>
            </a:r>
          </a:p>
          <a:p>
            <a:pPr marL="0" indent="0">
              <a:buNone/>
            </a:pPr>
            <a:r>
              <a:rPr b="0" sz="2000">
                <a:latin typeface="Yu Mincho"/>
              </a:rPr>
              <a:t>Ghemawat（2007）：国境を越える戦略は 適応（Adaptation）・集約（Aggregation）・裁定（Arbitrage）の3つに整理できる。</a:t>
            </a:r>
          </a:p>
          <a:p>
            <a:pPr marL="0" indent="0">
              <a:buNone/>
            </a:pPr>
            <a:r>
              <a:rPr b="0" sz="2000">
                <a:latin typeface="Yu Mincho"/>
              </a:rPr>
              <a:t/>
            </a:r>
          </a:p>
          <a:p>
            <a:pPr marL="0" indent="0">
              <a:buNone/>
            </a:pPr>
            <a:r>
              <a:rPr b="1" sz="2000">
                <a:latin typeface="Yu Mincho"/>
              </a:rPr>
              <a:t>本研究への適用</a:t>
            </a:r>
          </a:p>
          <a:p>
            <a:pPr marL="0" indent="0">
              <a:buNone/>
            </a:pPr>
            <a:r>
              <a:rPr b="0" sz="2000">
                <a:latin typeface="Yu Mincho"/>
              </a:rPr>
              <a:t>• 共通化：物流拠点・IT・配送管理の仕組みなど、Amazonが日米で共通に持つ部分</a:t>
            </a:r>
          </a:p>
          <a:p>
            <a:pPr marL="0" indent="0">
              <a:buNone/>
            </a:pPr>
            <a:r>
              <a:rPr b="0" sz="2000">
                <a:latin typeface="Yu Mincho"/>
              </a:rPr>
              <a:t>• 現地適応：配送主体・外部事業者との連携度合いなど、国ごとに異なる部分</a:t>
            </a:r>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02DCBC-77F7-517B-026C-85C8FE97EEB0}"/>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ja-JP" altLang="en-US" dirty="0"/>
              <a:t>アマゾン日米の比較）</a:t>
            </a:r>
            <a:endParaRPr lang="zh-CN" altLang="en-US" dirty="0"/>
          </a:p>
        </p:txBody>
      </p:sp>
      <p:pic>
        <p:nvPicPr>
          <p:cNvPr id="7" name="内容占位符 6">
            <a:extLst>
              <a:ext uri="{FF2B5EF4-FFF2-40B4-BE49-F238E27FC236}">
                <a16:creationId xmlns:a16="http://schemas.microsoft.com/office/drawing/2014/main" id="{C020E858-C6AB-55D4-BF6F-961DE98BB54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506184"/>
            <a:ext cx="3490774" cy="1845632"/>
          </a:xfrm>
        </p:spPr>
      </p:pic>
      <p:sp>
        <p:nvSpPr>
          <p:cNvPr id="4" name="日期占位符 3">
            <a:extLst>
              <a:ext uri="{FF2B5EF4-FFF2-40B4-BE49-F238E27FC236}">
                <a16:creationId xmlns:a16="http://schemas.microsoft.com/office/drawing/2014/main" id="{281A217F-80CA-85B6-DF80-22233C9C681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5C6ADD75-1771-F604-3F95-4C15B719A704}"/>
              </a:ext>
            </a:extLst>
          </p:cNvPr>
          <p:cNvSpPr>
            <a:spLocks noGrp="1"/>
          </p:cNvSpPr>
          <p:nvPr>
            <p:ph type="sldNum" sz="quarter" idx="12"/>
          </p:nvPr>
        </p:nvSpPr>
        <p:spPr/>
        <p:txBody>
          <a:bodyPr/>
          <a:lstStyle/>
          <a:p>
            <a:fld id="{4BAD8D06-E6E2-4C60-875F-3DB64B60E5CA}" type="slidenum">
              <a:rPr kumimoji="1" lang="ja-JP" altLang="en-US" smtClean="0"/>
              <a:t>11</a:t>
            </a:fld>
            <a:endParaRPr kumimoji="1" lang="ja-JP" altLang="en-US"/>
          </a:p>
        </p:txBody>
      </p:sp>
      <p:pic>
        <p:nvPicPr>
          <p:cNvPr id="9" name="图片 8">
            <a:extLst>
              <a:ext uri="{FF2B5EF4-FFF2-40B4-BE49-F238E27FC236}">
                <a16:creationId xmlns:a16="http://schemas.microsoft.com/office/drawing/2014/main" id="{8071B790-3F3B-B09A-5118-9C401BEB5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5041" y="2339794"/>
            <a:ext cx="3024185" cy="2178412"/>
          </a:xfrm>
          <a:prstGeom prst="rect">
            <a:avLst/>
          </a:prstGeom>
        </p:spPr>
      </p:pic>
      <p:cxnSp>
        <p:nvCxnSpPr>
          <p:cNvPr id="11" name="直接箭头连接符 10">
            <a:extLst>
              <a:ext uri="{FF2B5EF4-FFF2-40B4-BE49-F238E27FC236}">
                <a16:creationId xmlns:a16="http://schemas.microsoft.com/office/drawing/2014/main" id="{992EB770-80F0-0F0E-B72C-AA11D8F5B59C}"/>
              </a:ext>
            </a:extLst>
          </p:cNvPr>
          <p:cNvCxnSpPr/>
          <p:nvPr/>
        </p:nvCxnSpPr>
        <p:spPr>
          <a:xfrm flipH="1">
            <a:off x="9586774" y="3429000"/>
            <a:ext cx="261257" cy="180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9BD6685D-347C-D8C1-8BBF-969EDBFE307E}"/>
              </a:ext>
            </a:extLst>
          </p:cNvPr>
          <p:cNvSpPr txBox="1"/>
          <p:nvPr/>
        </p:nvSpPr>
        <p:spPr>
          <a:xfrm>
            <a:off x="9848031" y="3290500"/>
            <a:ext cx="1667070" cy="276999"/>
          </a:xfrm>
          <a:prstGeom prst="rect">
            <a:avLst/>
          </a:prstGeom>
          <a:noFill/>
        </p:spPr>
        <p:txBody>
          <a:bodyPr wrap="square" rtlCol="0">
            <a:spAutoFit/>
          </a:bodyPr>
          <a:lstStyle/>
          <a:p>
            <a:r>
              <a:rPr lang="ja-JP" altLang="en-US" sz="1200" dirty="0">
                <a:solidFill>
                  <a:srgbClr val="FF0000"/>
                </a:solidFill>
              </a:rPr>
              <a:t>コントロールできる</a:t>
            </a:r>
            <a:endParaRPr lang="zh-CN" altLang="en-US" sz="1200" dirty="0">
              <a:solidFill>
                <a:srgbClr val="FF0000"/>
              </a:solidFill>
            </a:endParaRPr>
          </a:p>
        </p:txBody>
      </p:sp>
    </p:spTree>
    <p:extLst>
      <p:ext uri="{BB962C8B-B14F-4D97-AF65-F5344CB8AC3E}">
        <p14:creationId xmlns:p14="http://schemas.microsoft.com/office/powerpoint/2010/main" val="3844513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7476-5C56-1EDB-A716-1779B800A09B}"/>
              </a:ext>
            </a:extLst>
          </p:cNvPr>
          <p:cNvSpPr>
            <a:spLocks noGrp="1"/>
          </p:cNvSpPr>
          <p:nvPr>
            <p:ph type="title"/>
          </p:nvPr>
        </p:nvSpPr>
        <p:spPr/>
        <p:txBody>
          <a:bodyPr/>
          <a:lstStyle/>
          <a:p>
            <a:br>
              <a:rPr lang="en-US" altLang="zh-CN" dirty="0"/>
            </a:br>
            <a:endParaRPr lang="zh-CN" altLang="en-US" dirty="0"/>
          </a:p>
        </p:txBody>
      </p:sp>
      <p:sp>
        <p:nvSpPr>
          <p:cNvPr id="4" name="日期占位符 3">
            <a:extLst>
              <a:ext uri="{FF2B5EF4-FFF2-40B4-BE49-F238E27FC236}">
                <a16:creationId xmlns:a16="http://schemas.microsoft.com/office/drawing/2014/main" id="{FC0A7422-A82D-30CB-D274-6E4C827923FF}"/>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55A80CB-47AA-AE36-4017-4F17CC2681F0}"/>
              </a:ext>
            </a:extLst>
          </p:cNvPr>
          <p:cNvSpPr>
            <a:spLocks noGrp="1"/>
          </p:cNvSpPr>
          <p:nvPr>
            <p:ph type="sldNum" sz="quarter" idx="12"/>
          </p:nvPr>
        </p:nvSpPr>
        <p:spPr/>
        <p:txBody>
          <a:bodyPr/>
          <a:lstStyle/>
          <a:p>
            <a:fld id="{4BAD8D06-E6E2-4C60-875F-3DB64B60E5CA}" type="slidenum">
              <a:rPr kumimoji="1" lang="ja-JP" altLang="en-US" smtClean="0"/>
              <a:t>12</a:t>
            </a:fld>
            <a:endParaRPr kumimoji="1" lang="ja-JP" altLang="en-US"/>
          </a:p>
        </p:txBody>
      </p:sp>
      <p:sp>
        <p:nvSpPr>
          <p:cNvPr id="6" name="文本框 5">
            <a:extLst>
              <a:ext uri="{FF2B5EF4-FFF2-40B4-BE49-F238E27FC236}">
                <a16:creationId xmlns:a16="http://schemas.microsoft.com/office/drawing/2014/main" id="{2218765B-E3B3-3B53-9CDE-78F6BE64A7B9}"/>
              </a:ext>
            </a:extLst>
          </p:cNvPr>
          <p:cNvSpPr txBox="1"/>
          <p:nvPr/>
        </p:nvSpPr>
        <p:spPr>
          <a:xfrm>
            <a:off x="1536441" y="939282"/>
            <a:ext cx="9678913" cy="861774"/>
          </a:xfrm>
          <a:prstGeom prst="rect">
            <a:avLst/>
          </a:prstGeom>
          <a:noFill/>
        </p:spPr>
        <p:txBody>
          <a:bodyPr wrap="square" rtlCol="0">
            <a:spAutoFit/>
          </a:bodyPr>
          <a:lstStyle/>
          <a:p>
            <a:endParaRPr lang="en-US" altLang="zh-CN" dirty="0"/>
          </a:p>
          <a:p>
            <a:r>
              <a:rPr lang="ja-JP" altLang="en-US" sz="3200" dirty="0">
                <a:latin typeface="Yu Mincho" panose="02020400000000000000" pitchFamily="18" charset="-128"/>
                <a:ea typeface="Yu Mincho" panose="02020400000000000000" pitchFamily="18" charset="-128"/>
              </a:rPr>
              <a:t>先行研究（</a:t>
            </a:r>
            <a:r>
              <a:rPr lang="ja-JP" altLang="en-US" sz="3200" dirty="0"/>
              <a:t>アマゾン日米の比較）</a:t>
            </a:r>
            <a:endParaRPr lang="zh-CN" altLang="en-US" sz="3200" dirty="0"/>
          </a:p>
        </p:txBody>
      </p:sp>
      <p:cxnSp>
        <p:nvCxnSpPr>
          <p:cNvPr id="10" name="直接箭头连接符 9">
            <a:extLst>
              <a:ext uri="{FF2B5EF4-FFF2-40B4-BE49-F238E27FC236}">
                <a16:creationId xmlns:a16="http://schemas.microsoft.com/office/drawing/2014/main" id="{67013EEE-3DD7-346F-22EC-A109F09EC5A9}"/>
              </a:ext>
            </a:extLst>
          </p:cNvPr>
          <p:cNvCxnSpPr/>
          <p:nvPr/>
        </p:nvCxnSpPr>
        <p:spPr>
          <a:xfrm flipH="1">
            <a:off x="8568591" y="3541985"/>
            <a:ext cx="503853" cy="199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74E2A38B-E946-2CFB-3C5F-B6645D7AB1DB}"/>
              </a:ext>
            </a:extLst>
          </p:cNvPr>
          <p:cNvSpPr txBox="1"/>
          <p:nvPr/>
        </p:nvSpPr>
        <p:spPr>
          <a:xfrm>
            <a:off x="9119118" y="3381957"/>
            <a:ext cx="2096236" cy="307777"/>
          </a:xfrm>
          <a:prstGeom prst="rect">
            <a:avLst/>
          </a:prstGeom>
          <a:noFill/>
        </p:spPr>
        <p:txBody>
          <a:bodyPr wrap="square" rtlCol="0">
            <a:spAutoFit/>
          </a:bodyPr>
          <a:lstStyle/>
          <a:p>
            <a:r>
              <a:rPr lang="ja-JP" altLang="en-US" sz="1400" dirty="0">
                <a:solidFill>
                  <a:srgbClr val="FF0000"/>
                </a:solidFill>
              </a:rPr>
              <a:t>コントロールできない</a:t>
            </a:r>
            <a:endParaRPr lang="zh-CN" altLang="en-US" sz="1400" dirty="0">
              <a:solidFill>
                <a:srgbClr val="FF0000"/>
              </a:solidFill>
            </a:endParaRPr>
          </a:p>
        </p:txBody>
      </p:sp>
      <p:pic>
        <p:nvPicPr>
          <p:cNvPr id="16" name="图片 15">
            <a:extLst>
              <a:ext uri="{FF2B5EF4-FFF2-40B4-BE49-F238E27FC236}">
                <a16:creationId xmlns:a16="http://schemas.microsoft.com/office/drawing/2014/main" id="{AA75941D-D1D9-180C-1745-DAD8E5327208}"/>
              </a:ext>
            </a:extLst>
          </p:cNvPr>
          <p:cNvPicPr>
            <a:picLocks noChangeAspect="1"/>
          </p:cNvPicPr>
          <p:nvPr/>
        </p:nvPicPr>
        <p:blipFill>
          <a:blip r:embed="rId2"/>
          <a:stretch>
            <a:fillRect/>
          </a:stretch>
        </p:blipFill>
        <p:spPr>
          <a:xfrm>
            <a:off x="3268761" y="2153465"/>
            <a:ext cx="5253156" cy="2722826"/>
          </a:xfrm>
          <a:prstGeom prst="rect">
            <a:avLst/>
          </a:prstGeom>
        </p:spPr>
      </p:pic>
    </p:spTree>
    <p:extLst>
      <p:ext uri="{BB962C8B-B14F-4D97-AF65-F5344CB8AC3E}">
        <p14:creationId xmlns:p14="http://schemas.microsoft.com/office/powerpoint/2010/main" val="1537869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713B9B-692A-4FFD-A9E6-8D739115B7CA}"/>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問題意識</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461FD1E8-330A-D4BE-5BC4-144746527E7E}"/>
              </a:ext>
            </a:extLst>
          </p:cNvPr>
          <p:cNvSpPr>
            <a:spLocks noGrp="1"/>
          </p:cNvSpPr>
          <p:nvPr>
            <p:ph idx="1"/>
          </p:nvPr>
        </p:nvSpPr>
        <p:spPr>
          <a:xfrm>
            <a:off x="1423587" y="1341649"/>
            <a:ext cx="9659257" cy="3197217"/>
          </a:xfrm>
        </p:spPr>
        <p:txBody>
          <a:bodyPr>
            <a:normAutofit lnSpcReduction="10000"/>
          </a:bodyPr>
          <a:lstStyle/>
          <a:p>
            <a:pPr marL="0" indent="0">
              <a:buNone/>
            </a:pPr>
            <a:endParaRPr lang="en-US" altLang="ja-JP" dirty="0"/>
          </a:p>
          <a:p>
            <a:pPr marL="0" indent="0">
              <a:buNone/>
            </a:pPr>
            <a:endParaRPr lang="en-US" altLang="ja-JP" sz="2800"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Amazon</a:t>
            </a:r>
            <a:r>
              <a:rPr lang="ja-JP" altLang="en-US" sz="2800" dirty="0">
                <a:latin typeface="Yu Mincho" panose="02020400000000000000" pitchFamily="18" charset="-128"/>
                <a:ea typeface="Yu Mincho" panose="02020400000000000000" pitchFamily="18" charset="-128"/>
              </a:rPr>
              <a:t>はなぜ，</a:t>
            </a:r>
            <a:r>
              <a:rPr lang="ja-JP" altLang="en-US" sz="2800" dirty="0">
                <a:solidFill>
                  <a:srgbClr val="00B050"/>
                </a:solidFill>
                <a:latin typeface="Yu Mincho" panose="02020400000000000000" pitchFamily="18" charset="-128"/>
                <a:ea typeface="Yu Mincho" panose="02020400000000000000" pitchFamily="18" charset="-128"/>
              </a:rPr>
              <a:t>アメリカでは自社配送を中心</a:t>
            </a:r>
            <a:r>
              <a:rPr lang="ja-JP" altLang="en-US" sz="2800" dirty="0">
                <a:latin typeface="Yu Mincho" panose="02020400000000000000" pitchFamily="18" charset="-128"/>
                <a:ea typeface="Yu Mincho" panose="02020400000000000000" pitchFamily="18" charset="-128"/>
              </a:rPr>
              <a:t>としたラストマイル配送体制を構築している一方で，</a:t>
            </a:r>
            <a:r>
              <a:rPr lang="ja-JP" altLang="en-US" sz="2800" dirty="0">
                <a:solidFill>
                  <a:srgbClr val="00B0F0"/>
                </a:solidFill>
                <a:latin typeface="Yu Mincho" panose="02020400000000000000" pitchFamily="18" charset="-128"/>
                <a:ea typeface="Yu Mincho" panose="02020400000000000000" pitchFamily="18" charset="-128"/>
              </a:rPr>
              <a:t>日本では外部配送事業者との連携</a:t>
            </a:r>
            <a:r>
              <a:rPr lang="ja-JP" altLang="en-US" sz="2800" dirty="0">
                <a:latin typeface="Yu Mincho" panose="02020400000000000000" pitchFamily="18" charset="-128"/>
                <a:ea typeface="Yu Mincho" panose="02020400000000000000" pitchFamily="18" charset="-128"/>
              </a:rPr>
              <a:t>を維持しながら，自社配送体制が拡大しているのか</a:t>
            </a:r>
            <a:r>
              <a:rPr lang="ja-JP" altLang="en-US" sz="2800" b="1" dirty="0"/>
              <a:t>。</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200" dirty="0">
                <a:latin typeface="Yu Mincho" panose="02020400000000000000" pitchFamily="18" charset="-128"/>
                <a:ea typeface="Yu Mincho" panose="02020400000000000000" pitchFamily="18" charset="-128"/>
              </a:rPr>
              <a:t>→ 取引費用論（外部委託か自社か）と標準化・現地適応論（共通化か現地対応か）の2つの視点から検討する。</a:t>
            </a:r>
            <a:endParaRPr lang="zh-CN" altLang="en-US" sz="2800" b="1" dirty="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515D0F17-706A-0C1A-6CB3-8B12186894AB}"/>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1A198CAD-FD62-0E84-5C57-63E52A8EB949}"/>
              </a:ext>
            </a:extLst>
          </p:cNvPr>
          <p:cNvSpPr>
            <a:spLocks noGrp="1"/>
          </p:cNvSpPr>
          <p:nvPr>
            <p:ph type="sldNum" sz="quarter" idx="12"/>
          </p:nvPr>
        </p:nvSpPr>
        <p:spPr/>
        <p:txBody>
          <a:bodyPr/>
          <a:lstStyle/>
          <a:p>
            <a:fld id="{4BAD8D06-E6E2-4C60-875F-3DB64B60E5CA}" type="slidenum">
              <a:rPr kumimoji="1" lang="ja-JP" altLang="en-US" smtClean="0"/>
              <a:t>13</a:t>
            </a:fld>
            <a:endParaRPr kumimoji="1" lang="ja-JP" altLang="en-US"/>
          </a:p>
        </p:txBody>
      </p:sp>
    </p:spTree>
    <p:extLst>
      <p:ext uri="{BB962C8B-B14F-4D97-AF65-F5344CB8AC3E}">
        <p14:creationId xmlns:p14="http://schemas.microsoft.com/office/powerpoint/2010/main" val="640666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F7E65-7596-5214-EB06-AA6BB953CB40}"/>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研究方法</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2566695C-9EF7-4DB4-2195-5B7EFB5331BC}"/>
              </a:ext>
            </a:extLst>
          </p:cNvPr>
          <p:cNvSpPr>
            <a:spLocks noGrp="1"/>
          </p:cNvSpPr>
          <p:nvPr>
            <p:ph idx="1"/>
          </p:nvPr>
        </p:nvSpPr>
        <p:spPr/>
        <p:txBody>
          <a:bodyPr>
            <a:normAutofit fontScale="92500" lnSpcReduction="20000"/>
          </a:bodyPr>
          <a:lstStyle/>
          <a:p>
            <a:pPr marL="0" indent="0">
              <a:buNone/>
            </a:pPr>
            <a:r>
              <a:rPr lang="ja-JP" altLang="en-US">
                <a:latin typeface="Yu Mincho" panose="02020400000000000000" pitchFamily="18" charset="-128"/>
                <a:ea typeface="Yu Mincho" panose="02020400000000000000" pitchFamily="18" charset="-128"/>
              </a:rPr>
              <a:t>                                                                </a:t>
            </a:r>
            <a:r>
              <a:rPr lang="ja-JP" altLang="en-US" b="1">
                <a:latin typeface="Yu Mincho" panose="02020400000000000000" pitchFamily="18" charset="-128"/>
                <a:ea typeface="Yu Mincho" panose="02020400000000000000" pitchFamily="18" charset="-128"/>
              </a:rPr>
              <a:t>定性研究</a:t>
            </a:r>
            <a:endParaRPr lang="en-US" altLang="ja-JP" b="1">
              <a:latin typeface="Yu Mincho" panose="02020400000000000000" pitchFamily="18" charset="-128"/>
              <a:ea typeface="Yu Mincho" panose="02020400000000000000" pitchFamily="18" charset="-128"/>
            </a:endParaRPr>
          </a:p>
          <a:p>
            <a:pPr marL="0" indent="0">
              <a:buNone/>
            </a:pPr>
            <a:r>
              <a:rPr lang="ja-JP" altLang="en-US">
                <a:latin typeface="Yu Mincho" panose="02020400000000000000" pitchFamily="18" charset="-128"/>
                <a:ea typeface="Yu Mincho" panose="02020400000000000000" pitchFamily="18" charset="-128"/>
              </a:rPr>
              <a:t>                                            文献研究法＋比較ケーススタディ</a:t>
            </a:r>
            <a:endParaRPr lang="en-US" altLang="ja-JP">
              <a:latin typeface="Yu Mincho" panose="02020400000000000000" pitchFamily="18" charset="-128"/>
              <a:ea typeface="Yu Mincho" panose="02020400000000000000" pitchFamily="18" charset="-128"/>
            </a:endParaRPr>
          </a:p>
          <a:p>
            <a:pPr marL="0" indent="0">
              <a:buNone/>
            </a:pPr>
            <a:endParaRPr lang="en-US" altLang="ja-JP">
              <a:latin typeface="Yu Mincho" panose="02020400000000000000" pitchFamily="18" charset="-128"/>
              <a:ea typeface="Yu Mincho" panose="02020400000000000000" pitchFamily="18" charset="-128"/>
            </a:endParaRPr>
          </a:p>
          <a:p>
            <a:pPr marL="0" indent="0">
              <a:buNone/>
            </a:pPr>
            <a:r>
              <a:rPr lang="en-US" altLang="ja-JP" sz="1400">
                <a:latin typeface="Yu Mincho" panose="02020400000000000000" pitchFamily="18" charset="-128"/>
                <a:ea typeface="Yu Mincho" panose="02020400000000000000" pitchFamily="18" charset="-128"/>
              </a:rPr>
              <a:t>                                               </a:t>
            </a:r>
            <a:r>
              <a:rPr lang="ja-JP" altLang="en-US" sz="1400">
                <a:latin typeface="Yu Mincho" panose="02020400000000000000" pitchFamily="18" charset="-128"/>
                <a:ea typeface="Yu Mincho" panose="02020400000000000000" pitchFamily="18" charset="-128"/>
              </a:rPr>
              <a:t>　　　　　　　　　</a:t>
            </a:r>
            <a:r>
              <a:rPr lang="en-US" altLang="ja-JP" sz="1400">
                <a:latin typeface="Yu Mincho" panose="02020400000000000000" pitchFamily="18" charset="-128"/>
                <a:ea typeface="Yu Mincho" panose="02020400000000000000" pitchFamily="18" charset="-128"/>
              </a:rPr>
              <a:t>( </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日本と</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アメリカとの比較）</a:t>
            </a:r>
            <a:endParaRPr lang="en-US" altLang="ja-JP" sz="1400">
              <a:latin typeface="Yu Mincho" panose="02020400000000000000" pitchFamily="18" charset="-128"/>
              <a:ea typeface="Yu Mincho" panose="02020400000000000000" pitchFamily="18" charset="-128"/>
            </a:endParaRPr>
          </a:p>
          <a:p>
            <a:pPr marL="0" indent="0">
              <a:buNone/>
            </a:pPr>
            <a:endParaRPr lang="en-US" altLang="ja-JP" sz="1400">
              <a:latin typeface="Yu Mincho" panose="02020400000000000000" pitchFamily="18" charset="-128"/>
              <a:ea typeface="Yu Mincho" panose="02020400000000000000" pitchFamily="18" charset="-128"/>
            </a:endParaRPr>
          </a:p>
          <a:p>
            <a:pPr marL="0" indent="0">
              <a:buNone/>
            </a:pPr>
            <a:r>
              <a:rPr lang="ja-JP" altLang="en-US" sz="1600">
                <a:latin typeface="Yu Mincho" panose="02020400000000000000" pitchFamily="18" charset="-128"/>
                <a:ea typeface="Yu Mincho" panose="02020400000000000000" pitchFamily="18" charset="-128"/>
              </a:rPr>
              <a:t>先行研究や</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の公開資料、業界レポートなどをもとに、</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の日米におけるラストマイル配送戦略を整理する。</a:t>
            </a:r>
            <a:endParaRPr lang="en-US" altLang="ja-JP" sz="1600">
              <a:latin typeface="Yu Mincho" panose="02020400000000000000" pitchFamily="18" charset="-128"/>
              <a:ea typeface="Yu Mincho" panose="02020400000000000000" pitchFamily="18" charset="-128"/>
            </a:endParaRPr>
          </a:p>
          <a:p>
            <a:pPr marL="0" indent="0">
              <a:buNone/>
            </a:pPr>
            <a:endParaRPr lang="ja-JP"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のアメリカと日本を比較対象とし，配送主体，配送ネットワーク，外部配送事業者との連携などの観点から比較分析を行い，両国の共通点と相違点，さらにその要因を明らかにする。</a:t>
            </a:r>
            <a:endParaRPr lang="zh-CN"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分析の視点：①配送主体（自社／外部）②配送ネットワーク ③外部事業者との連携 ④物流環境（インフラ・労働・国土）</a:t>
            </a:r>
            <a:endParaRPr lang="zh-CN" altLang="en-US" sz="160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AF914612-1642-7F60-E575-35BFC3970B39}"/>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69786983-7C4A-6938-981F-C1971B8E6F66}"/>
              </a:ext>
            </a:extLst>
          </p:cNvPr>
          <p:cNvSpPr>
            <a:spLocks noGrp="1"/>
          </p:cNvSpPr>
          <p:nvPr>
            <p:ph type="sldNum" sz="quarter" idx="12"/>
          </p:nvPr>
        </p:nvSpPr>
        <p:spPr/>
        <p:txBody>
          <a:bodyPr/>
          <a:lstStyle/>
          <a:p>
            <a:fld id="{4BAD8D06-E6E2-4C60-875F-3DB64B60E5CA}" type="slidenum">
              <a:rPr kumimoji="1" lang="ja-JP" altLang="en-US" smtClean="0"/>
              <a:t>14</a:t>
            </a:fld>
            <a:endParaRPr kumimoji="1" lang="ja-JP" altLang="en-US"/>
          </a:p>
        </p:txBody>
      </p:sp>
      <p:sp>
        <p:nvSpPr>
          <p:cNvPr id="4" name="箭头: 下 3">
            <a:extLst>
              <a:ext uri="{FF2B5EF4-FFF2-40B4-BE49-F238E27FC236}">
                <a16:creationId xmlns:a16="http://schemas.microsoft.com/office/drawing/2014/main" id="{C6908F64-2F36-6CE0-959C-369D07563D64}"/>
              </a:ext>
            </a:extLst>
          </p:cNvPr>
          <p:cNvSpPr/>
          <p:nvPr/>
        </p:nvSpPr>
        <p:spPr>
          <a:xfrm>
            <a:off x="6817567" y="2817845"/>
            <a:ext cx="429208" cy="404327"/>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59848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arn(inVertic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barn(inVertical)">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 calcmode="lin" valueType="num">
                                      <p:cBhvr>
                                        <p:cTn id="26" dur="500" fill="hold"/>
                                        <p:tgtEl>
                                          <p:spTgt spid="3">
                                            <p:txEl>
                                              <p:pRg st="5" end="5"/>
                                            </p:txEl>
                                          </p:spTgt>
                                        </p:tgtEl>
                                        <p:attrNameLst>
                                          <p:attrName>ppt_w</p:attrName>
                                        </p:attrNameLst>
                                      </p:cBhvr>
                                      <p:tavLst>
                                        <p:tav tm="0">
                                          <p:val>
                                            <p:fltVal val="0"/>
                                          </p:val>
                                        </p:tav>
                                        <p:tav tm="100000">
                                          <p:val>
                                            <p:strVal val="#ppt_w"/>
                                          </p:val>
                                        </p:tav>
                                      </p:tavLst>
                                    </p:anim>
                                    <p:anim calcmode="lin" valueType="num">
                                      <p:cBhvr>
                                        <p:cTn id="27" dur="500" fill="hold"/>
                                        <p:tgtEl>
                                          <p:spTgt spid="3">
                                            <p:txEl>
                                              <p:pRg st="5" end="5"/>
                                            </p:txEl>
                                          </p:spTgt>
                                        </p:tgtEl>
                                        <p:attrNameLst>
                                          <p:attrName>ppt_h</p:attrName>
                                        </p:attrNameLst>
                                      </p:cBhvr>
                                      <p:tavLst>
                                        <p:tav tm="0">
                                          <p:val>
                                            <p:fltVal val="0"/>
                                          </p:val>
                                        </p:tav>
                                        <p:tav tm="100000">
                                          <p:val>
                                            <p:strVal val="#ppt_h"/>
                                          </p:val>
                                        </p:tav>
                                      </p:tavLst>
                                    </p:anim>
                                    <p:animEffect transition="in" filter="fade">
                                      <p:cBhvr>
                                        <p:cTn id="28" dur="500"/>
                                        <p:tgtEl>
                                          <p:spTgt spid="3">
                                            <p:txEl>
                                              <p:pRg st="5" end="5"/>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p:cTn id="31" dur="500" fill="hold"/>
                                        <p:tgtEl>
                                          <p:spTgt spid="3">
                                            <p:txEl>
                                              <p:pRg st="7" end="7"/>
                                            </p:txEl>
                                          </p:spTgt>
                                        </p:tgtEl>
                                        <p:attrNameLst>
                                          <p:attrName>ppt_w</p:attrName>
                                        </p:attrNameLst>
                                      </p:cBhvr>
                                      <p:tavLst>
                                        <p:tav tm="0">
                                          <p:val>
                                            <p:fltVal val="0"/>
                                          </p:val>
                                        </p:tav>
                                        <p:tav tm="100000">
                                          <p:val>
                                            <p:strVal val="#ppt_w"/>
                                          </p:val>
                                        </p:tav>
                                      </p:tavLst>
                                    </p:anim>
                                    <p:anim calcmode="lin" valueType="num">
                                      <p:cBhvr>
                                        <p:cTn id="32" dur="500" fill="hold"/>
                                        <p:tgtEl>
                                          <p:spTgt spid="3">
                                            <p:txEl>
                                              <p:pRg st="7" end="7"/>
                                            </p:txEl>
                                          </p:spTgt>
                                        </p:tgtEl>
                                        <p:attrNameLst>
                                          <p:attrName>ppt_h</p:attrName>
                                        </p:attrNameLst>
                                      </p:cBhvr>
                                      <p:tavLst>
                                        <p:tav tm="0">
                                          <p:val>
                                            <p:fltVal val="0"/>
                                          </p:val>
                                        </p:tav>
                                        <p:tav tm="100000">
                                          <p:val>
                                            <p:strVal val="#ppt_h"/>
                                          </p:val>
                                        </p:tav>
                                      </p:tavLst>
                                    </p:anim>
                                    <p:animEffect transition="in" filter="fade">
                                      <p:cBhvr>
                                        <p:cTn id="3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D28CF-C681-C4E8-201F-EAD9CDE71109}"/>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結論の方向性</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3A1F0B4-389D-38E1-E3F8-D5AA94A98488}"/>
              </a:ext>
            </a:extLst>
          </p:cNvPr>
          <p:cNvSpPr>
            <a:spLocks noGrp="1"/>
          </p:cNvSpPr>
          <p:nvPr>
            <p:ph idx="1"/>
          </p:nvPr>
        </p:nvSpPr>
        <p:spPr/>
        <p:txBody>
          <a:bodyPr/>
          <a:lstStyle/>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p:txBody>
      </p:sp>
      <p:sp>
        <p:nvSpPr>
          <p:cNvPr id="6" name="日期占位符 5">
            <a:extLst>
              <a:ext uri="{FF2B5EF4-FFF2-40B4-BE49-F238E27FC236}">
                <a16:creationId xmlns:a16="http://schemas.microsoft.com/office/drawing/2014/main" id="{7B172073-A9CE-0936-D159-1EF51C15375A}"/>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2E8128BA-8FD0-89AF-404D-B8EA6A3992AF}"/>
              </a:ext>
            </a:extLst>
          </p:cNvPr>
          <p:cNvSpPr>
            <a:spLocks noGrp="1"/>
          </p:cNvSpPr>
          <p:nvPr>
            <p:ph type="sldNum" sz="quarter" idx="12"/>
          </p:nvPr>
        </p:nvSpPr>
        <p:spPr/>
        <p:txBody>
          <a:bodyPr/>
          <a:lstStyle/>
          <a:p>
            <a:fld id="{4BAD8D06-E6E2-4C60-875F-3DB64B60E5CA}" type="slidenum">
              <a:rPr kumimoji="1" lang="ja-JP" altLang="en-US" smtClean="0"/>
              <a:t>15</a:t>
            </a:fld>
            <a:endParaRPr kumimoji="1" lang="ja-JP" altLang="en-US"/>
          </a:p>
        </p:txBody>
      </p:sp>
      <p:pic>
        <p:nvPicPr>
          <p:cNvPr id="5" name="图片 4">
            <a:extLst>
              <a:ext uri="{FF2B5EF4-FFF2-40B4-BE49-F238E27FC236}">
                <a16:creationId xmlns:a16="http://schemas.microsoft.com/office/drawing/2014/main" id="{0219B5BE-6794-F6D2-51D7-F2124EC82DD2}"/>
              </a:ext>
            </a:extLst>
          </p:cNvPr>
          <p:cNvPicPr>
            <a:picLocks noChangeAspect="1"/>
          </p:cNvPicPr>
          <p:nvPr/>
        </p:nvPicPr>
        <p:blipFill>
          <a:blip r:embed="rId2"/>
          <a:stretch>
            <a:fillRect/>
          </a:stretch>
        </p:blipFill>
        <p:spPr>
          <a:xfrm>
            <a:off x="1451579" y="2015732"/>
            <a:ext cx="5853174" cy="2177834"/>
          </a:xfrm>
          <a:prstGeom prst="rect">
            <a:avLst/>
          </a:prstGeom>
        </p:spPr>
      </p:pic>
      <p:sp>
        <p:nvSpPr>
          <p:cNvPr id="4" name="文本框 3">
            <a:extLst>
              <a:ext uri="{FF2B5EF4-FFF2-40B4-BE49-F238E27FC236}">
                <a16:creationId xmlns:a16="http://schemas.microsoft.com/office/drawing/2014/main" id="{BCA4FE09-4095-A261-7279-CE2BA9A7FFEB}"/>
              </a:ext>
            </a:extLst>
          </p:cNvPr>
          <p:cNvSpPr txBox="1"/>
          <p:nvPr/>
        </p:nvSpPr>
        <p:spPr>
          <a:xfrm>
            <a:off x="7763069" y="2088986"/>
            <a:ext cx="3682481" cy="2031325"/>
          </a:xfrm>
          <a:prstGeom prst="rect">
            <a:avLst/>
          </a:prstGeom>
          <a:noFill/>
        </p:spPr>
        <p:txBody>
          <a:bodyPr wrap="square" rtlCol="0">
            <a:spAutoFit/>
          </a:bodyPr>
          <a:lstStyle/>
          <a:p>
            <a:r>
              <a:rPr lang="ja-JP" altLang="en-US" dirty="0">
                <a:solidFill>
                  <a:srgbClr val="FF0000"/>
                </a:solidFill>
                <a:latin typeface="Yu Mincho" panose="02020400000000000000" pitchFamily="18" charset="-128"/>
                <a:ea typeface="Yu Mincho" panose="02020400000000000000" pitchFamily="18" charset="-128"/>
              </a:rPr>
              <a:t>物流環境の違い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外部依頼程度の違い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ラストマイル配送戦略の違い</a:t>
            </a:r>
          </a:p>
        </p:txBody>
      </p:sp>
      <p:sp>
        <p:nvSpPr>
          <p:cNvPr id="7" name="文本框 6">
            <a:extLst>
              <a:ext uri="{FF2B5EF4-FFF2-40B4-BE49-F238E27FC236}">
                <a16:creationId xmlns:a16="http://schemas.microsoft.com/office/drawing/2014/main" id="{140FC1C5-788D-4E7C-9C83-A09887D38F13}"/>
              </a:ext>
            </a:extLst>
          </p:cNvPr>
          <p:cNvSpPr txBox="1"/>
          <p:nvPr/>
        </p:nvSpPr>
        <p:spPr>
          <a:xfrm>
            <a:off x="871564" y="5004247"/>
            <a:ext cx="10183289" cy="646331"/>
          </a:xfrm>
          <a:prstGeom prst="rect">
            <a:avLst/>
          </a:prstGeom>
          <a:noFill/>
        </p:spPr>
        <p:txBody>
          <a:bodyPr wrap="square" rtlCol="0">
            <a:spAutoFit/>
          </a:bodyPr>
          <a:lstStyle/>
          <a:p>
            <a:r>
              <a:rPr lang="ja-JP" altLang="en-US" dirty="0">
                <a:latin typeface="Yu Mincho" panose="02020400000000000000" pitchFamily="18" charset="-128"/>
                <a:ea typeface="Yu Mincho" panose="02020400000000000000" pitchFamily="18" charset="-128"/>
              </a:rPr>
              <a:t>【仮説】日本とアメリカでは物流環境が異なるため、Amazonは配送の仕組みを共通化しつつ、ラストマイル配送では国ごとに異なる現地適応型の戦略を採用していると考えられる。</a:t>
            </a:r>
            <a:endParaRPr lang="zh-CN" altLang="en-US" dirty="0">
              <a:latin typeface="Yu Mincho" panose="02020400000000000000" pitchFamily="18" charset="-128"/>
              <a:ea typeface="Yu Mincho" panose="02020400000000000000" pitchFamily="18" charset="-128"/>
            </a:endParaRPr>
          </a:p>
        </p:txBody>
      </p:sp>
    </p:spTree>
    <p:extLst>
      <p:ext uri="{BB962C8B-B14F-4D97-AF65-F5344CB8AC3E}">
        <p14:creationId xmlns:p14="http://schemas.microsoft.com/office/powerpoint/2010/main" val="1256162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down)">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F37ADF-3C78-51FD-1577-2CED46E6CBBE}"/>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研究意義</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FBD8B19-9EB9-651C-B6DB-FAF05F96CA8A}"/>
              </a:ext>
            </a:extLst>
          </p:cNvPr>
          <p:cNvSpPr>
            <a:spLocks noGrp="1"/>
          </p:cNvSpPr>
          <p:nvPr>
            <p:ph idx="1"/>
          </p:nvPr>
        </p:nvSpPr>
        <p:spPr>
          <a:xfrm>
            <a:off x="1451579" y="2015732"/>
            <a:ext cx="10740421" cy="4403729"/>
          </a:xfrm>
        </p:spPr>
        <p:txBody>
          <a:bodyPr>
            <a:normAutofit/>
          </a:bodyPr>
          <a:lstStyle/>
          <a:p>
            <a:r>
              <a:rPr lang="ja-JP" altLang="en-US" b="1" dirty="0">
                <a:latin typeface="Yu Mincho" panose="02020400000000000000" pitchFamily="18" charset="-128"/>
                <a:ea typeface="Yu Mincho" panose="02020400000000000000" pitchFamily="18" charset="-128"/>
              </a:rPr>
              <a:t>学術的意義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日米配送戦略の比較研究を補完する。</a:t>
            </a:r>
            <a:endParaRPr lang="en-US" altLang="ja-JP"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物流環境がラストマイル戦略に与える影響を明らかにする 。</a:t>
            </a:r>
            <a:endParaRPr lang="en-US" altLang="ja-JP" dirty="0">
              <a:latin typeface="Yu Mincho" panose="02020400000000000000" pitchFamily="18" charset="-128"/>
              <a:ea typeface="Yu Mincho" panose="02020400000000000000" pitchFamily="18" charset="-128"/>
            </a:endParaRPr>
          </a:p>
          <a:p>
            <a:pPr marL="0" indent="0">
              <a:buNone/>
            </a:pP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実務的意義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a:t>
            </a:r>
            <a:r>
              <a:rPr lang="en-US" altLang="ja-JP" dirty="0">
                <a:latin typeface="Yu Mincho" panose="02020400000000000000" pitchFamily="18" charset="-128"/>
                <a:ea typeface="Yu Mincho" panose="02020400000000000000" pitchFamily="18" charset="-128"/>
              </a:rPr>
              <a:t>EC</a:t>
            </a:r>
            <a:r>
              <a:rPr lang="ja-JP" altLang="en-US" dirty="0">
                <a:latin typeface="Yu Mincho" panose="02020400000000000000" pitchFamily="18" charset="-128"/>
                <a:ea typeface="Yu Mincho" panose="02020400000000000000" pitchFamily="18" charset="-128"/>
              </a:rPr>
              <a:t>企業の海外物流戦略に示唆を提供する 。</a:t>
            </a:r>
          </a:p>
          <a:p>
            <a:pPr marL="0" indent="0">
              <a:buNone/>
            </a:pPr>
            <a:r>
              <a:rPr lang="ja-JP" altLang="en-US" dirty="0">
                <a:latin typeface="Yu Mincho" panose="02020400000000000000" pitchFamily="18" charset="-128"/>
                <a:ea typeface="Yu Mincho" panose="02020400000000000000" pitchFamily="18" charset="-128"/>
              </a:rPr>
              <a:t>　各国の物流環境に応じた配送体制の構築に貢献する。</a:t>
            </a:r>
            <a:endParaRPr lang="en-US" altLang="ja-JP" dirty="0">
              <a:latin typeface="Yu Mincho" panose="02020400000000000000" pitchFamily="18" charset="-128"/>
              <a:ea typeface="Yu Mincho" panose="02020400000000000000" pitchFamily="18" charset="-128"/>
            </a:endParaRPr>
          </a:p>
          <a:p>
            <a:endParaRPr lang="ja-JP" altLang="en-US" b="1" dirty="0">
              <a:latin typeface="Yu Mincho" panose="02020400000000000000" pitchFamily="18" charset="-128"/>
              <a:ea typeface="Yu Mincho" panose="02020400000000000000" pitchFamily="18" charset="-128"/>
            </a:endParaRPr>
          </a:p>
          <a:p>
            <a:endParaRPr lang="ja-JP" altLang="en-US" dirty="0">
              <a:latin typeface="Yu Mincho" panose="02020400000000000000" pitchFamily="18" charset="-128"/>
              <a:ea typeface="Yu Mincho" panose="02020400000000000000" pitchFamily="18" charset="-128"/>
            </a:endParaRPr>
          </a:p>
          <a:p>
            <a:pPr marL="0" indent="0">
              <a:buNone/>
            </a:pPr>
            <a:endParaRPr lang="en-US" altLang="ja-JP" dirty="0"/>
          </a:p>
        </p:txBody>
      </p:sp>
      <p:sp>
        <p:nvSpPr>
          <p:cNvPr id="6" name="日期占位符 5">
            <a:extLst>
              <a:ext uri="{FF2B5EF4-FFF2-40B4-BE49-F238E27FC236}">
                <a16:creationId xmlns:a16="http://schemas.microsoft.com/office/drawing/2014/main" id="{405B9197-CD3E-1412-9550-07116BD09F65}"/>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95960A0B-B70C-C5BF-6C51-E2B6C7B6A9F7}"/>
              </a:ext>
            </a:extLst>
          </p:cNvPr>
          <p:cNvSpPr>
            <a:spLocks noGrp="1"/>
          </p:cNvSpPr>
          <p:nvPr>
            <p:ph type="sldNum" sz="quarter" idx="12"/>
          </p:nvPr>
        </p:nvSpPr>
        <p:spPr/>
        <p:txBody>
          <a:bodyPr/>
          <a:lstStyle/>
          <a:p>
            <a:fld id="{4BAD8D06-E6E2-4C60-875F-3DB64B60E5CA}" type="slidenum">
              <a:rPr kumimoji="1" lang="ja-JP" altLang="en-US" smtClean="0"/>
              <a:t>16</a:t>
            </a:fld>
            <a:endParaRPr kumimoji="1" lang="ja-JP" altLang="en-US"/>
          </a:p>
        </p:txBody>
      </p:sp>
    </p:spTree>
    <p:extLst>
      <p:ext uri="{BB962C8B-B14F-4D97-AF65-F5344CB8AC3E}">
        <p14:creationId xmlns:p14="http://schemas.microsoft.com/office/powerpoint/2010/main" val="266138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6" dur="500"/>
                                        <p:tgtEl>
                                          <p:spTgt spid="3">
                                            <p:txEl>
                                              <p:pRg st="4" end="4"/>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randombar(horizontal)">
                                      <p:cBhvr>
                                        <p:cTn id="19" dur="500"/>
                                        <p:tgtEl>
                                          <p:spTgt spid="3">
                                            <p:txEl>
                                              <p:pRg st="5" end="5"/>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22F057-DD81-C416-F934-43274A8165E1}"/>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論文の目次（仮）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CD15AADC-83E7-A7E6-C3EB-6F2738DE4F37}"/>
              </a:ext>
            </a:extLst>
          </p:cNvPr>
          <p:cNvSpPr>
            <a:spLocks noGrp="1"/>
          </p:cNvSpPr>
          <p:nvPr>
            <p:ph idx="1"/>
          </p:nvPr>
        </p:nvSpPr>
        <p:spPr/>
        <p:txBody>
          <a:bodyPr/>
          <a:lstStyle/>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1</a:t>
            </a:r>
            <a:r>
              <a:rPr lang="ja-JP" altLang="en-US" b="1" dirty="0">
                <a:latin typeface="Yu Mincho" panose="02020400000000000000" pitchFamily="18" charset="-128"/>
                <a:ea typeface="Yu Mincho" panose="02020400000000000000" pitchFamily="18" charset="-128"/>
              </a:rPr>
              <a:t>章　序論</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2</a:t>
            </a:r>
            <a:r>
              <a:rPr lang="ja-JP" altLang="en-US" b="1" dirty="0">
                <a:latin typeface="Yu Mincho" panose="02020400000000000000" pitchFamily="18" charset="-128"/>
                <a:ea typeface="Yu Mincho" panose="02020400000000000000" pitchFamily="18" charset="-128"/>
              </a:rPr>
              <a:t>章　先行研究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3</a:t>
            </a:r>
            <a:r>
              <a:rPr lang="ja-JP" altLang="en-US" b="1" dirty="0">
                <a:latin typeface="Yu Mincho" panose="02020400000000000000" pitchFamily="18" charset="-128"/>
                <a:ea typeface="Yu Mincho" panose="02020400000000000000" pitchFamily="18" charset="-128"/>
              </a:rPr>
              <a:t>章　</a:t>
            </a:r>
            <a:r>
              <a:rPr lang="en-US" altLang="ja-JP" b="1" dirty="0">
                <a:latin typeface="Yu Mincho" panose="02020400000000000000" pitchFamily="18" charset="-128"/>
                <a:ea typeface="Yu Mincho" panose="02020400000000000000" pitchFamily="18" charset="-128"/>
              </a:rPr>
              <a:t>Amazon</a:t>
            </a:r>
            <a:r>
              <a:rPr lang="ja-JP" altLang="en-US" b="1" dirty="0">
                <a:latin typeface="Yu Mincho" panose="02020400000000000000" pitchFamily="18" charset="-128"/>
                <a:ea typeface="Yu Mincho" panose="02020400000000000000" pitchFamily="18" charset="-128"/>
              </a:rPr>
              <a:t>の日米におけるラストマイル配送の現状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4</a:t>
            </a:r>
            <a:r>
              <a:rPr lang="ja-JP" altLang="en-US" b="1" dirty="0">
                <a:latin typeface="Yu Mincho" panose="02020400000000000000" pitchFamily="18" charset="-128"/>
                <a:ea typeface="Yu Mincho" panose="02020400000000000000" pitchFamily="18" charset="-128"/>
              </a:rPr>
              <a:t>章　日米ラストマイル配送戦略の比較分析</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5</a:t>
            </a:r>
            <a:r>
              <a:rPr lang="ja-JP" altLang="en-US" b="1" dirty="0">
                <a:latin typeface="Yu Mincho" panose="02020400000000000000" pitchFamily="18" charset="-128"/>
                <a:ea typeface="Yu Mincho" panose="02020400000000000000" pitchFamily="18" charset="-128"/>
              </a:rPr>
              <a:t>章　フルフィルメント戦略の視点からの考察</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6</a:t>
            </a:r>
            <a:r>
              <a:rPr lang="ja-JP" altLang="en-US" b="1" dirty="0">
                <a:latin typeface="Yu Mincho" panose="02020400000000000000" pitchFamily="18" charset="-128"/>
                <a:ea typeface="Yu Mincho" panose="02020400000000000000" pitchFamily="18" charset="-128"/>
              </a:rPr>
              <a:t>章　結論</a:t>
            </a:r>
            <a:endParaRPr lang="ja-JP" altLang="en-US" dirty="0">
              <a:latin typeface="Yu Mincho" panose="02020400000000000000" pitchFamily="18" charset="-128"/>
              <a:ea typeface="Yu Mincho" panose="02020400000000000000" pitchFamily="18" charset="-128"/>
            </a:endParaRPr>
          </a:p>
          <a:p>
            <a:endParaRPr lang="zh-CN" altLang="en-US" dirty="0"/>
          </a:p>
        </p:txBody>
      </p:sp>
      <p:sp>
        <p:nvSpPr>
          <p:cNvPr id="4" name="日期占位符 3">
            <a:extLst>
              <a:ext uri="{FF2B5EF4-FFF2-40B4-BE49-F238E27FC236}">
                <a16:creationId xmlns:a16="http://schemas.microsoft.com/office/drawing/2014/main" id="{1953755F-4F4F-839D-980D-671D84F6CF02}"/>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C98F9A46-394C-40A8-C08F-8F4E1D627888}"/>
              </a:ext>
            </a:extLst>
          </p:cNvPr>
          <p:cNvSpPr>
            <a:spLocks noGrp="1"/>
          </p:cNvSpPr>
          <p:nvPr>
            <p:ph type="sldNum" sz="quarter" idx="12"/>
          </p:nvPr>
        </p:nvSpPr>
        <p:spPr/>
        <p:txBody>
          <a:bodyPr/>
          <a:lstStyle/>
          <a:p>
            <a:fld id="{4BAD8D06-E6E2-4C60-875F-3DB64B60E5CA}" type="slidenum">
              <a:rPr kumimoji="1" lang="ja-JP" altLang="en-US" smtClean="0"/>
              <a:t>17</a:t>
            </a:fld>
            <a:endParaRPr kumimoji="1" lang="ja-JP" altLang="en-US"/>
          </a:p>
        </p:txBody>
      </p:sp>
    </p:spTree>
    <p:extLst>
      <p:ext uri="{BB962C8B-B14F-4D97-AF65-F5344CB8AC3E}">
        <p14:creationId xmlns:p14="http://schemas.microsoft.com/office/powerpoint/2010/main" val="36913499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4ACDECC-22BB-8323-5BAF-2B5348316E34}"/>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参考文献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AD5F41-C38E-3028-A298-7C13611C1B46}"/>
              </a:ext>
            </a:extLst>
          </p:cNvPr>
          <p:cNvSpPr>
            <a:spLocks noGrp="1"/>
          </p:cNvSpPr>
          <p:nvPr>
            <p:ph idx="1"/>
          </p:nvPr>
        </p:nvSpPr>
        <p:spPr>
          <a:xfrm>
            <a:off x="1451579" y="2015732"/>
            <a:ext cx="9603275" cy="4037749"/>
          </a:xfrm>
        </p:spPr>
        <p:txBody>
          <a:bodyPr>
            <a:normAutofit/>
          </a:bodyPr>
          <a:lstStyle/>
          <a:p>
            <a:pPr marL="0" indent="0">
              <a:buNone/>
            </a:pPr>
            <a:r>
              <a:rPr lang="ja-JP" altLang="en-US" sz="1100" dirty="0">
                <a:latin typeface="Yu Mincho" panose="02020400000000000000" pitchFamily="18" charset="-128"/>
                <a:ea typeface="Yu Mincho" panose="02020400000000000000" pitchFamily="18" charset="-128"/>
              </a:rPr>
              <a:t>齊藤実（</a:t>
            </a:r>
            <a:r>
              <a:rPr lang="en-US" altLang="ja-JP" sz="1100" dirty="0">
                <a:latin typeface="Yu Mincho" panose="02020400000000000000" pitchFamily="18" charset="-128"/>
                <a:ea typeface="Yu Mincho" panose="02020400000000000000" pitchFamily="18" charset="-128"/>
              </a:rPr>
              <a:t>2021</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E </a:t>
            </a:r>
            <a:r>
              <a:rPr lang="ja-JP" altLang="en-US" sz="1100" dirty="0">
                <a:latin typeface="Yu Mincho" panose="02020400000000000000" pitchFamily="18" charset="-128"/>
                <a:ea typeface="Yu Mincho" panose="02020400000000000000" pitchFamily="18" charset="-128"/>
              </a:rPr>
              <a:t>コマース時代におけるアマゾンの物流戦略」</a:t>
            </a:r>
            <a:r>
              <a:rPr lang="en-US" altLang="ja-JP" sz="1100" dirty="0">
                <a:latin typeface="Yu Mincho" panose="02020400000000000000" pitchFamily="18" charset="-128"/>
                <a:ea typeface="Yu Mincho" panose="02020400000000000000" pitchFamily="18" charset="-128"/>
              </a:rPr>
              <a:t> 『</a:t>
            </a:r>
            <a:r>
              <a:rPr lang="ja-JP" altLang="en-US" sz="1100" dirty="0">
                <a:latin typeface="Yu Mincho" panose="02020400000000000000" pitchFamily="18" charset="-128"/>
                <a:ea typeface="Yu Mincho" panose="02020400000000000000" pitchFamily="18" charset="-128"/>
              </a:rPr>
              <a:t>経済貿易研究</a:t>
            </a:r>
            <a:r>
              <a:rPr lang="en-US" altLang="ja-JP" sz="1100" dirty="0">
                <a:latin typeface="Yu Mincho" panose="02020400000000000000" pitchFamily="18" charset="-128"/>
                <a:ea typeface="Yu Mincho" panose="02020400000000000000" pitchFamily="18" charset="-128"/>
              </a:rPr>
              <a:t>: </a:t>
            </a:r>
            <a:r>
              <a:rPr lang="ja-JP" altLang="en-US" sz="1100" dirty="0">
                <a:latin typeface="Yu Mincho" panose="02020400000000000000" pitchFamily="18" charset="-128"/>
                <a:ea typeface="Yu Mincho" panose="02020400000000000000" pitchFamily="18" charset="-128"/>
              </a:rPr>
              <a:t>研究所年報</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神奈川大学経済貿易研究所</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47</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pp.39-62</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丁明（</a:t>
            </a:r>
            <a:r>
              <a:rPr lang="en-US" altLang="ja-JP" sz="1100" dirty="0">
                <a:latin typeface="Yu Mincho" panose="02020400000000000000" pitchFamily="18" charset="-128"/>
                <a:ea typeface="Yu Mincho" panose="02020400000000000000" pitchFamily="18" charset="-128"/>
              </a:rPr>
              <a:t>2022</a:t>
            </a:r>
            <a:r>
              <a:rPr lang="ja-JP" altLang="en-US" sz="1100" dirty="0">
                <a:latin typeface="Yu Mincho" panose="02020400000000000000" pitchFamily="18" charset="-128"/>
                <a:ea typeface="Yu Mincho" panose="02020400000000000000" pitchFamily="18" charset="-128"/>
              </a:rPr>
              <a:t>）「電子商取引における顧客満足要因 </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店舗型小売業における顧客満足要因との比較</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経営学研究論集</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明治大学大学院</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56</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pp.21-38</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丁明（</a:t>
            </a:r>
            <a:r>
              <a:rPr lang="en-US" altLang="ja-JP" sz="1100" dirty="0">
                <a:latin typeface="Yu Mincho" panose="02020400000000000000" pitchFamily="18" charset="-128"/>
                <a:ea typeface="Yu Mincho" panose="02020400000000000000" pitchFamily="18" charset="-128"/>
              </a:rPr>
              <a:t>2023</a:t>
            </a:r>
            <a:r>
              <a:rPr lang="ja-JP" altLang="en-US" sz="1100" dirty="0">
                <a:latin typeface="Yu Mincho" panose="02020400000000000000" pitchFamily="18" charset="-128"/>
                <a:ea typeface="Yu Mincho" panose="02020400000000000000" pitchFamily="18" charset="-128"/>
              </a:rPr>
              <a:t>）「電子商取引におけるフルフィルメントが顧客満足に与える影響</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文献レビュー</a:t>
            </a:r>
            <a:r>
              <a:rPr lang="en-US" altLang="ja-JP" sz="1100" dirty="0">
                <a:latin typeface="Yu Mincho" panose="02020400000000000000" pitchFamily="18" charset="-128"/>
                <a:ea typeface="Yu Mincho" panose="02020400000000000000" pitchFamily="18" charset="-128"/>
              </a:rPr>
              <a:t>- </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経営学研究論集</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明治大学大学院</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59</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pp.1-16</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丁明（</a:t>
            </a:r>
            <a:r>
              <a:rPr lang="en-US" altLang="ja-JP" sz="1100" dirty="0">
                <a:latin typeface="Yu Mincho" panose="02020400000000000000" pitchFamily="18" charset="-128"/>
                <a:ea typeface="Yu Mincho" panose="02020400000000000000" pitchFamily="18" charset="-128"/>
              </a:rPr>
              <a:t>2026</a:t>
            </a:r>
            <a:r>
              <a:rPr lang="ja-JP" altLang="en-US" sz="1100" dirty="0">
                <a:latin typeface="Yu Mincho" panose="02020400000000000000" pitchFamily="18" charset="-128"/>
                <a:ea typeface="Yu Mincho" panose="02020400000000000000" pitchFamily="18" charset="-128"/>
              </a:rPr>
              <a:t>）「ラストマイル配送における情報品質が顧客満足と再利用意向に与える影響」</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流通研究</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日本商業学会</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29 (1)</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pp.39-52</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zh-CN" altLang="en-US" sz="1100" dirty="0">
                <a:latin typeface="Yu Mincho" panose="02020400000000000000" pitchFamily="18" charset="-128"/>
                <a:ea typeface="Yu Mincho" panose="02020400000000000000" pitchFamily="18" charset="-128"/>
              </a:rPr>
              <a:t>小嵜秀信</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2025</a:t>
            </a:r>
            <a:r>
              <a:rPr lang="ja-JP" altLang="en-US" sz="1100" dirty="0">
                <a:latin typeface="Yu Mincho" panose="02020400000000000000" pitchFamily="18" charset="-128"/>
                <a:ea typeface="Yu Mincho" panose="02020400000000000000" pitchFamily="18" charset="-128"/>
              </a:rPr>
              <a:t>）「日本政府が目指すフィジカルインターネットでラストマイル配送が変わる」</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流通ネットワーキング</a:t>
            </a:r>
            <a:r>
              <a:rPr lang="en-US" altLang="ja-JP" sz="1100" dirty="0">
                <a:latin typeface="Yu Mincho" panose="02020400000000000000" pitchFamily="18" charset="-128"/>
                <a:ea typeface="Yu Mincho" panose="02020400000000000000" pitchFamily="18" charset="-128"/>
              </a:rPr>
              <a:t>』</a:t>
            </a:r>
            <a:r>
              <a:rPr lang="zh-TW" altLang="en-US" sz="1100" dirty="0">
                <a:latin typeface="Yu Mincho" panose="02020400000000000000" pitchFamily="18" charset="-128"/>
                <a:ea typeface="Yu Mincho" panose="02020400000000000000" pitchFamily="18" charset="-128"/>
              </a:rPr>
              <a:t>東京 </a:t>
            </a:r>
            <a:r>
              <a:rPr lang="en-US" altLang="zh-TW" sz="1100" dirty="0">
                <a:latin typeface="Yu Mincho" panose="02020400000000000000" pitchFamily="18" charset="-128"/>
                <a:ea typeface="Yu Mincho" panose="02020400000000000000" pitchFamily="18" charset="-128"/>
              </a:rPr>
              <a:t>: </a:t>
            </a:r>
            <a:r>
              <a:rPr lang="zh-TW" altLang="en-US" sz="1100" dirty="0">
                <a:latin typeface="Yu Mincho" panose="02020400000000000000" pitchFamily="18" charset="-128"/>
                <a:ea typeface="Yu Mincho" panose="02020400000000000000" pitchFamily="18" charset="-128"/>
              </a:rPr>
              <a:t>日本工業出版</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349</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 pp.45-49</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林克彦（</a:t>
            </a:r>
            <a:r>
              <a:rPr lang="en-US" altLang="ja-JP" sz="1100" dirty="0">
                <a:latin typeface="Yu Mincho" panose="02020400000000000000" pitchFamily="18" charset="-128"/>
                <a:ea typeface="Yu Mincho" panose="02020400000000000000" pitchFamily="18" charset="-128"/>
              </a:rPr>
              <a:t>2020</a:t>
            </a:r>
            <a:r>
              <a:rPr lang="ja-JP" altLang="en-US" sz="1100" dirty="0">
                <a:latin typeface="Yu Mincho" panose="02020400000000000000" pitchFamily="18" charset="-128"/>
                <a:ea typeface="Yu Mincho" panose="02020400000000000000" pitchFamily="18" charset="-128"/>
              </a:rPr>
              <a:t>）「宅配危機からネット通販物流革新へ」</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計画行政</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一般財団法人日本計画行政学会、</a:t>
            </a:r>
            <a:r>
              <a:rPr lang="en-US" altLang="ja-JP" sz="1100" dirty="0">
                <a:latin typeface="Yu Mincho" panose="02020400000000000000" pitchFamily="18" charset="-128"/>
                <a:ea typeface="Yu Mincho" panose="02020400000000000000" pitchFamily="18" charset="-128"/>
              </a:rPr>
              <a:t>43</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pp.9-14</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zh-CN" altLang="en-US" sz="1100" dirty="0">
                <a:latin typeface="Yu Mincho" panose="02020400000000000000" pitchFamily="18" charset="-128"/>
                <a:ea typeface="Yu Mincho" panose="02020400000000000000" pitchFamily="18" charset="-128"/>
              </a:rPr>
              <a:t>林部健二</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2017</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なぜアマゾンは「今日中」にモノが届くのか </a:t>
            </a:r>
            <a:r>
              <a:rPr lang="en-US" altLang="ja-JP" sz="1100" dirty="0">
                <a:latin typeface="Yu Mincho" panose="02020400000000000000" pitchFamily="18" charset="-128"/>
                <a:ea typeface="Yu Mincho" panose="02020400000000000000" pitchFamily="18" charset="-128"/>
              </a:rPr>
              <a:t>: </a:t>
            </a:r>
            <a:r>
              <a:rPr lang="ja-JP" altLang="en-US" sz="1100" dirty="0">
                <a:latin typeface="Yu Mincho" panose="02020400000000000000" pitchFamily="18" charset="-128"/>
                <a:ea typeface="Yu Mincho" panose="02020400000000000000" pitchFamily="18" charset="-128"/>
              </a:rPr>
              <a:t>続々と新サービスを打ち出すアマゾンの本当の強さの秘密とは</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プチ・レトル</a:t>
            </a:r>
            <a:r>
              <a:rPr lang="zh-CN" altLang="en-US" sz="1100" dirty="0">
                <a:latin typeface="Yu Mincho" panose="02020400000000000000" pitchFamily="18" charset="-128"/>
                <a:ea typeface="Yu Mincho" panose="02020400000000000000" pitchFamily="18" charset="-128"/>
              </a:rPr>
              <a:t>株式会社</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楠田康之（</a:t>
            </a:r>
            <a:r>
              <a:rPr lang="en-US" altLang="ja-JP" sz="1100" dirty="0">
                <a:latin typeface="Yu Mincho" panose="02020400000000000000" pitchFamily="18" charset="-128"/>
                <a:ea typeface="Yu Mincho" panose="02020400000000000000" pitchFamily="18" charset="-128"/>
              </a:rPr>
              <a:t>2021</a:t>
            </a:r>
            <a:r>
              <a:rPr lang="ja-JP" altLang="en-US" sz="1100" dirty="0">
                <a:latin typeface="Yu Mincho" panose="02020400000000000000" pitchFamily="18" charset="-128"/>
                <a:ea typeface="Yu Mincho" panose="02020400000000000000" pitchFamily="18" charset="-128"/>
              </a:rPr>
              <a:t>）「オムニチャネル</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フルフィルメントおよびダイナミック・プライシングに関する一考察」</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日本福祉大学経済論集</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日本福祉大学経済学会</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62</a:t>
            </a:r>
            <a:r>
              <a:rPr lang="ja-JP" altLang="en-US" sz="1100" dirty="0">
                <a:latin typeface="Yu Mincho" panose="02020400000000000000" pitchFamily="18" charset="-128"/>
                <a:ea typeface="Yu Mincho" panose="02020400000000000000" pitchFamily="18" charset="-128"/>
              </a:rPr>
              <a:t> 、</a:t>
            </a:r>
            <a:r>
              <a:rPr lang="en-US" altLang="ja-JP" sz="1100" dirty="0">
                <a:latin typeface="Yu Mincho" panose="02020400000000000000" pitchFamily="18" charset="-128"/>
                <a:ea typeface="Yu Mincho" panose="02020400000000000000" pitchFamily="18" charset="-128"/>
              </a:rPr>
              <a:t>pp.267-291</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zh-CN" altLang="en-US" sz="1100" dirty="0">
                <a:latin typeface="Yu Mincho" panose="02020400000000000000" pitchFamily="18" charset="-128"/>
                <a:ea typeface="Yu Mincho" panose="02020400000000000000" pitchFamily="18" charset="-128"/>
              </a:rPr>
              <a:t>宮武宏輔</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2022</a:t>
            </a:r>
            <a:r>
              <a:rPr lang="ja-JP" altLang="en-US" sz="1100" dirty="0">
                <a:latin typeface="Yu Mincho" panose="02020400000000000000" pitchFamily="18" charset="-128"/>
                <a:ea typeface="Yu Mincho" panose="02020400000000000000" pitchFamily="18" charset="-128"/>
              </a:rPr>
              <a:t>）「日中間の越境 </a:t>
            </a:r>
            <a:r>
              <a:rPr lang="en-US" altLang="ja-JP" sz="1100" dirty="0">
                <a:latin typeface="Yu Mincho" panose="02020400000000000000" pitchFamily="18" charset="-128"/>
                <a:ea typeface="Yu Mincho" panose="02020400000000000000" pitchFamily="18" charset="-128"/>
              </a:rPr>
              <a:t>EC </a:t>
            </a:r>
            <a:r>
              <a:rPr lang="ja-JP" altLang="en-US" sz="1100" dirty="0">
                <a:latin typeface="Yu Mincho" panose="02020400000000000000" pitchFamily="18" charset="-128"/>
                <a:ea typeface="Yu Mincho" panose="02020400000000000000" pitchFamily="18" charset="-128"/>
              </a:rPr>
              <a:t>に関する現状と展望」 </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流通経済大学流通情報学部紀要</a:t>
            </a:r>
            <a:r>
              <a:rPr lang="en-US" altLang="ja-JP" sz="1100" dirty="0">
                <a:latin typeface="Yu Mincho" panose="02020400000000000000" pitchFamily="18" charset="-128"/>
                <a:ea typeface="Yu Mincho" panose="02020400000000000000" pitchFamily="18" charset="-128"/>
              </a:rPr>
              <a:t>』</a:t>
            </a:r>
            <a:r>
              <a:rPr lang="ja-JP" altLang="en-US" sz="1100" dirty="0">
                <a:latin typeface="Yu Mincho" panose="02020400000000000000" pitchFamily="18" charset="-128"/>
                <a:ea typeface="Yu Mincho" panose="02020400000000000000" pitchFamily="18" charset="-128"/>
              </a:rPr>
              <a:t>流通経済大学、</a:t>
            </a:r>
            <a:r>
              <a:rPr lang="en-US" altLang="ja-JP" sz="1100" dirty="0">
                <a:latin typeface="Yu Mincho" panose="02020400000000000000" pitchFamily="18" charset="-128"/>
                <a:ea typeface="Yu Mincho" panose="02020400000000000000" pitchFamily="18" charset="-128"/>
              </a:rPr>
              <a:t>26 (2)</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pp.275-285</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r>
              <a:rPr lang="zh-CN" altLang="en-US" sz="1100" dirty="0">
                <a:latin typeface="Yu Mincho" panose="02020400000000000000" pitchFamily="18" charset="-128"/>
                <a:ea typeface="Yu Mincho" panose="02020400000000000000" pitchFamily="18" charset="-128"/>
              </a:rPr>
              <a:t>劉亜氷</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2024</a:t>
            </a:r>
            <a:r>
              <a:rPr lang="ja-JP" altLang="en-US" sz="1100" dirty="0">
                <a:latin typeface="Yu Mincho" panose="02020400000000000000" pitchFamily="18" charset="-128"/>
                <a:ea typeface="Yu Mincho" panose="02020400000000000000" pitchFamily="18" charset="-128"/>
              </a:rPr>
              <a:t>）「ネット通販のラストマイル配送における置き配拡大の可能性」</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日本物流学会誌</a:t>
            </a:r>
            <a:r>
              <a:rPr lang="en-US" altLang="ja-JP" sz="1100" dirty="0">
                <a:latin typeface="Yu Mincho" panose="02020400000000000000" pitchFamily="18" charset="-128"/>
                <a:ea typeface="Yu Mincho" panose="02020400000000000000" pitchFamily="18" charset="-128"/>
              </a:rPr>
              <a:t>』</a:t>
            </a:r>
            <a:r>
              <a:rPr lang="zh-CN" altLang="en-US" sz="1100" dirty="0">
                <a:latin typeface="Yu Mincho" panose="02020400000000000000" pitchFamily="18" charset="-128"/>
                <a:ea typeface="Yu Mincho" panose="02020400000000000000" pitchFamily="18" charset="-128"/>
              </a:rPr>
              <a:t>東京 </a:t>
            </a:r>
            <a:r>
              <a:rPr lang="en-US" altLang="zh-CN" sz="1100" dirty="0">
                <a:latin typeface="Yu Mincho" panose="02020400000000000000" pitchFamily="18" charset="-128"/>
                <a:ea typeface="Yu Mincho" panose="02020400000000000000" pitchFamily="18" charset="-128"/>
              </a:rPr>
              <a:t>: </a:t>
            </a:r>
            <a:r>
              <a:rPr lang="zh-CN" altLang="en-US" sz="1100" dirty="0">
                <a:latin typeface="Yu Mincho" panose="02020400000000000000" pitchFamily="18" charset="-128"/>
                <a:ea typeface="Yu Mincho" panose="02020400000000000000" pitchFamily="18" charset="-128"/>
              </a:rPr>
              <a:t>日本物流学会</a:t>
            </a:r>
            <a:r>
              <a:rPr lang="ja-JP" altLang="en-US" sz="1100" dirty="0">
                <a:latin typeface="Yu Mincho" panose="02020400000000000000" pitchFamily="18" charset="-128"/>
                <a:ea typeface="Yu Mincho" panose="02020400000000000000" pitchFamily="18" charset="-128"/>
              </a:rPr>
              <a:t>、 </a:t>
            </a:r>
            <a:r>
              <a:rPr lang="en-US" altLang="ja-JP" sz="1100" dirty="0">
                <a:latin typeface="Yu Mincho" panose="02020400000000000000" pitchFamily="18" charset="-128"/>
                <a:ea typeface="Yu Mincho" panose="02020400000000000000" pitchFamily="18" charset="-128"/>
              </a:rPr>
              <a:t>32</a:t>
            </a:r>
            <a:r>
              <a:rPr lang="ja-JP" altLang="en-US" sz="1100" dirty="0">
                <a:latin typeface="Yu Mincho" panose="02020400000000000000" pitchFamily="18" charset="-128"/>
                <a:ea typeface="Yu Mincho" panose="02020400000000000000" pitchFamily="18" charset="-128"/>
              </a:rPr>
              <a:t>、</a:t>
            </a:r>
            <a:r>
              <a:rPr lang="en-US" altLang="ja-JP" sz="1100" dirty="0">
                <a:latin typeface="Yu Mincho" panose="02020400000000000000" pitchFamily="18" charset="-128"/>
                <a:ea typeface="Yu Mincho" panose="02020400000000000000" pitchFamily="18" charset="-128"/>
              </a:rPr>
              <a:t> pp.71-78 </a:t>
            </a:r>
            <a:r>
              <a:rPr lang="ja-JP" altLang="en-US" sz="1100" dirty="0">
                <a:latin typeface="Yu Mincho" panose="02020400000000000000" pitchFamily="18" charset="-128"/>
                <a:ea typeface="Yu Mincho" panose="02020400000000000000" pitchFamily="18" charset="-128"/>
              </a:rPr>
              <a:t>。</a:t>
            </a:r>
            <a:endParaRPr lang="en-US" altLang="ja-JP" sz="1100" dirty="0">
              <a:latin typeface="Yu Mincho" panose="02020400000000000000" pitchFamily="18" charset="-128"/>
              <a:ea typeface="Yu Mincho" panose="02020400000000000000" pitchFamily="18" charset="-128"/>
            </a:endParaRPr>
          </a:p>
          <a:p>
            <a:pPr marL="0" indent="0">
              <a:buNone/>
            </a:pPr>
            <a:endParaRPr lang="en-US" altLang="ja-JP" sz="1100" dirty="0">
              <a:latin typeface="Yu Mincho" panose="02020400000000000000" pitchFamily="18" charset="-128"/>
              <a:ea typeface="Yu Mincho" panose="02020400000000000000" pitchFamily="18" charset="-128"/>
            </a:endParaRPr>
          </a:p>
          <a:p>
            <a:pPr marL="0" indent="0">
              <a:buNone/>
            </a:pPr>
            <a:endParaRPr lang="en-US" altLang="ja-JP" sz="1100" dirty="0">
              <a:latin typeface="Yu Mincho" panose="02020400000000000000" pitchFamily="18" charset="-128"/>
              <a:ea typeface="Yu Mincho" panose="02020400000000000000" pitchFamily="18" charset="-128"/>
            </a:endParaRPr>
          </a:p>
          <a:p>
            <a:pPr marL="0" indent="0">
              <a:buNone/>
            </a:pPr>
            <a:endParaRPr lang="zh-CN" altLang="en-US" dirty="0"/>
          </a:p>
          <a:p>
            <a:pPr marL="0" indent="0">
              <a:buNone/>
            </a:pPr>
            <a:r>
              <a:rPr lang="ja-JP" altLang="en-US" sz="1100" dirty="0">
                <a:latin typeface="Yu Mincho" panose="02020400000000000000" pitchFamily="18" charset="-128"/>
                <a:ea typeface="Yu Mincho" panose="02020400000000000000" pitchFamily="18" charset="-128"/>
              </a:rPr>
              <a:t>Bartlett, C. A. &amp; Ghoshal, S. (1989) Managing Across Borders: The Transnational Solution,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Coase, R. H. (1937) “The Nature of the Firm,” Economica, 4(16), pp.386-405.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Ghemawat, P. (2007) Redefining Global Strategy: Crossing Borders in a World Where Differences Still Matter,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Prahalad, C. K. &amp; Doz, Y. L. (1987) The Multinational Mission: Balancing Local Demands and Global Vision, Free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1100" dirty="0">
                <a:latin typeface="Yu Mincho" panose="02020400000000000000" pitchFamily="18" charset="-128"/>
                <a:ea typeface="Yu Mincho" panose="02020400000000000000" pitchFamily="18" charset="-128"/>
              </a:rPr>
              <a:t>Williamson, O. E. (1975) Markets and Hierarchies: Analysis and Antitrust Implications, Free Press.</a:t>
            </a:r>
            <a:endParaRPr lang="en-US" altLang="ja-JP" sz="1100"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601C4725-AB25-4E65-E932-662FC222882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2FB676B0-9EE4-A757-1EFC-049A17B56A6C}"/>
              </a:ext>
            </a:extLst>
          </p:cNvPr>
          <p:cNvSpPr>
            <a:spLocks noGrp="1"/>
          </p:cNvSpPr>
          <p:nvPr>
            <p:ph type="sldNum" sz="quarter" idx="12"/>
          </p:nvPr>
        </p:nvSpPr>
        <p:spPr/>
        <p:txBody>
          <a:bodyPr/>
          <a:lstStyle/>
          <a:p>
            <a:fld id="{4BAD8D06-E6E2-4C60-875F-3DB64B60E5CA}" type="slidenum">
              <a:rPr kumimoji="1" lang="ja-JP" altLang="en-US" smtClean="0"/>
              <a:t>18</a:t>
            </a:fld>
            <a:endParaRPr kumimoji="1" lang="ja-JP" altLang="en-US"/>
          </a:p>
        </p:txBody>
      </p:sp>
    </p:spTree>
    <p:extLst>
      <p:ext uri="{BB962C8B-B14F-4D97-AF65-F5344CB8AC3E}">
        <p14:creationId xmlns:p14="http://schemas.microsoft.com/office/powerpoint/2010/main" val="245398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期占位符 3">
            <a:extLst>
              <a:ext uri="{FF2B5EF4-FFF2-40B4-BE49-F238E27FC236}">
                <a16:creationId xmlns:a16="http://schemas.microsoft.com/office/drawing/2014/main" id="{AC9E8D8F-467B-1CCF-FA36-B42B8AD8DE2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853FD80-BFD2-98FB-2F00-24A11B2E0ECB}"/>
              </a:ext>
            </a:extLst>
          </p:cNvPr>
          <p:cNvSpPr>
            <a:spLocks noGrp="1"/>
          </p:cNvSpPr>
          <p:nvPr>
            <p:ph type="sldNum" sz="quarter" idx="12"/>
          </p:nvPr>
        </p:nvSpPr>
        <p:spPr/>
        <p:txBody>
          <a:bodyPr/>
          <a:lstStyle/>
          <a:p>
            <a:fld id="{4BAD8D06-E6E2-4C60-875F-3DB64B60E5CA}" type="slidenum">
              <a:rPr kumimoji="1" lang="ja-JP" altLang="en-US" smtClean="0"/>
              <a:t>19</a:t>
            </a:fld>
            <a:endParaRPr kumimoji="1" lang="ja-JP" altLang="en-US"/>
          </a:p>
        </p:txBody>
      </p:sp>
      <p:sp>
        <p:nvSpPr>
          <p:cNvPr id="6" name="文本框 5">
            <a:extLst>
              <a:ext uri="{FF2B5EF4-FFF2-40B4-BE49-F238E27FC236}">
                <a16:creationId xmlns:a16="http://schemas.microsoft.com/office/drawing/2014/main" id="{46CE964D-F147-2089-285F-D6CD49CDB779}"/>
              </a:ext>
            </a:extLst>
          </p:cNvPr>
          <p:cNvSpPr txBox="1"/>
          <p:nvPr/>
        </p:nvSpPr>
        <p:spPr>
          <a:xfrm>
            <a:off x="2021632" y="2659559"/>
            <a:ext cx="9511004" cy="769441"/>
          </a:xfrm>
          <a:prstGeom prst="rect">
            <a:avLst/>
          </a:prstGeom>
          <a:noFill/>
        </p:spPr>
        <p:txBody>
          <a:bodyPr wrap="square" rtlCol="0">
            <a:spAutoFit/>
          </a:bodyPr>
          <a:lstStyle/>
          <a:p>
            <a:r>
              <a:rPr lang="ja-JP" altLang="en-US" sz="4400">
                <a:latin typeface="Yu Mincho" panose="02020400000000000000" pitchFamily="18" charset="-128"/>
                <a:ea typeface="Yu Mincho" panose="02020400000000000000" pitchFamily="18" charset="-128"/>
              </a:rPr>
              <a:t>ご清聴ありがとうございました</a:t>
            </a:r>
            <a:endParaRPr lang="zh-CN" altLang="en-US" sz="4400">
              <a:latin typeface="Yu Mincho" panose="02020400000000000000" pitchFamily="18" charset="-128"/>
              <a:ea typeface="Yu Mincho" panose="02020400000000000000" pitchFamily="18" charset="-128"/>
            </a:endParaRPr>
          </a:p>
        </p:txBody>
      </p:sp>
    </p:spTree>
    <p:extLst>
      <p:ext uri="{BB962C8B-B14F-4D97-AF65-F5344CB8AC3E}">
        <p14:creationId xmlns:p14="http://schemas.microsoft.com/office/powerpoint/2010/main" val="1706389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p:cTn id="7" dur="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6">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ギャラリー">
  <a:themeElements>
    <a:clrScheme name="ギャラリー">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ギャラリー">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ギャラリー">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89F2CD8B0006744AB89755F4D39DF490" ma:contentTypeVersion="8" ma:contentTypeDescription="新しいドキュメントを作成します。" ma:contentTypeScope="" ma:versionID="72fe3cd77c277de52b12e371e34a57bc">
  <xsd:schema xmlns:xsd="http://www.w3.org/2001/XMLSchema" xmlns:xs="http://www.w3.org/2001/XMLSchema" xmlns:p="http://schemas.microsoft.com/office/2006/metadata/properties" xmlns:ns2="053a100f-2901-41e0-8272-8cd5768c0754" targetNamespace="http://schemas.microsoft.com/office/2006/metadata/properties" ma:root="true" ma:fieldsID="6ab692b00275724fc7c24b4c7e03f837" ns2:_="">
    <xsd:import namespace="053a100f-2901-41e0-8272-8cd5768c075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3a100f-2901-41e0-8272-8cd5768c07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SearchProperties" ma:index="1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E09E02-8F07-487B-B06C-75DD96F1E3D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E61CC07-0052-4C2E-A1EE-C93A6F52F4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53a100f-2901-41e0-8272-8cd5768c075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E523D3F-EC51-4CCE-8648-9C2A5D4616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TM10001114[[fn=ギャラリー]]</Template>
  <TotalTime>951</TotalTime>
  <Words>1768</Words>
  <Application>Microsoft Office PowerPoint</Application>
  <PresentationFormat>宽屏</PresentationFormat>
  <Paragraphs>162</Paragraphs>
  <Slides>19</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19</vt:i4>
      </vt:variant>
    </vt:vector>
  </HeadingPairs>
  <TitlesOfParts>
    <vt:vector size="25" baseType="lpstr">
      <vt:lpstr>游明朝</vt:lpstr>
      <vt:lpstr>游明朝</vt:lpstr>
      <vt:lpstr>等线</vt:lpstr>
      <vt:lpstr>Arial</vt:lpstr>
      <vt:lpstr>Gill Sans MT</vt:lpstr>
      <vt:lpstr>ギャラリー</vt:lpstr>
      <vt:lpstr>  アマゾンのラストマイル配送における共通化と現地適応                                </vt:lpstr>
      <vt:lpstr> 先行研究(物流とECにおけるフルフィルメントの関係)</vt:lpstr>
      <vt:lpstr> 先行研究(問題の背景)</vt:lpstr>
      <vt:lpstr> 先行研究(問題の背景)</vt:lpstr>
      <vt:lpstr> アメリカでの自社配送体制を拡大する背景</vt:lpstr>
      <vt:lpstr> アメリカにおけるラストマイル配送の拡充 </vt:lpstr>
      <vt:lpstr> 日本での自社配送体制を拡大する背景</vt:lpstr>
      <vt:lpstr> 日本におけるラストマイル配送の拡充 </vt:lpstr>
      <vt:lpstr> 日米の配送方式の整理 </vt:lpstr>
      <vt:lpstr> 先行研究(取引費用論の視点）</vt:lpstr>
      <vt:lpstr> 先行研究（アマゾン日米の比較）</vt:lpstr>
      <vt:lpstr> </vt:lpstr>
      <vt:lpstr> 問題意識</vt:lpstr>
      <vt:lpstr> 研究方法</vt:lpstr>
      <vt:lpstr> 結論の方向性</vt:lpstr>
      <vt:lpstr> 研究意義</vt:lpstr>
      <vt:lpstr> 論文の目次（仮）</vt:lpstr>
      <vt:lpstr> 参考文献</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admin4</dc:creator>
  <cp:lastModifiedBy>baiqing xin</cp:lastModifiedBy>
  <cp:revision>11</cp:revision>
  <dcterms:created xsi:type="dcterms:W3CDTF">2026-07-04T02:27:39Z</dcterms:created>
  <dcterms:modified xsi:type="dcterms:W3CDTF">2026-09-29T11:13:27Z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0x01010089F2CD8B0006744AB89755F4D39DF490</vt:lpwstr>
  </property>
</Properties>
</file>