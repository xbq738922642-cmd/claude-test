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4"/>
  </p:notesMasterIdLst>
  <p:sldIdLst>
    <p:sldId id="256" r:id="rId5"/>
    <p:sldId id="269" r:id="rId6"/>
    <p:sldId id="257" r:id="rId7"/>
    <p:sldId id="258" r:id="rId8"/>
    <p:sldId id="266" r:id="rId9"/>
    <p:sldId id="271" r:id="rId10"/>
    <p:sldId id="272" r:id="rId11"/>
    <p:sldId id="267" r:id="rId12"/>
    <p:sldId id="273" r:id="rId13"/>
    <p:sldId id="270" r:id="rId14"/>
    <p:sldId id="276" r:id="rId31"/>
    <p:sldId id="274" r:id="rId15"/>
    <p:sldId id="275" r:id="rId16"/>
    <p:sldId id="260" r:id="rId17"/>
    <p:sldId id="261" r:id="rId18"/>
    <p:sldId id="262" r:id="rId19"/>
    <p:sldId id="259" r:id="rId20"/>
    <p:sldId id="263" r:id="rId21"/>
    <p:sldId id="264" r:id="rId22"/>
    <p:sldId id="26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6A8631-F634-8A1B-4431-D73782B86DA7}" v="1" dt="2026-07-11T01:07:08.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8" autoAdjust="0"/>
    <p:restoredTop sz="94660"/>
  </p:normalViewPr>
  <p:slideViewPr>
    <p:cSldViewPr snapToGrid="0">
      <p:cViewPr varScale="1">
        <p:scale>
          <a:sx n="154" d="100"/>
          <a:sy n="154" d="100"/>
        </p:scale>
        <p:origin x="48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仁平　晶文" userId="S::anihira@takushoku-u.ac.jp::4364d165-30fd-4de8-95d5-0a3f95a26d87" providerId="AD" clId="Web-{6A6A8631-F634-8A1B-4431-D73782B86DA7}"/>
    <pc:docChg chg="modSld">
      <pc:chgData name="仁平　晶文" userId="S::anihira@takushoku-u.ac.jp::4364d165-30fd-4de8-95d5-0a3f95a26d87" providerId="AD" clId="Web-{6A6A8631-F634-8A1B-4431-D73782B86DA7}" dt="2026-07-11T01:07:08.024" v="0" actId="1076"/>
      <pc:docMkLst>
        <pc:docMk/>
      </pc:docMkLst>
      <pc:sldChg chg="modSp">
        <pc:chgData name="仁平　晶文" userId="S::anihira@takushoku-u.ac.jp::4364d165-30fd-4de8-95d5-0a3f95a26d87" providerId="AD" clId="Web-{6A6A8631-F634-8A1B-4431-D73782B86DA7}" dt="2026-07-11T01:07:08.024" v="0" actId="1076"/>
        <pc:sldMkLst>
          <pc:docMk/>
          <pc:sldMk cId="1551799571" sldId="257"/>
        </pc:sldMkLst>
        <pc:picChg chg="mod">
          <ac:chgData name="仁平　晶文" userId="S::anihira@takushoku-u.ac.jp::4364d165-30fd-4de8-95d5-0a3f95a26d87" providerId="AD" clId="Web-{6A6A8631-F634-8A1B-4431-D73782B86DA7}" dt="2026-07-11T01:07:08.024" v="0" actId="1076"/>
          <ac:picMkLst>
            <pc:docMk/>
            <pc:sldMk cId="1551799571" sldId="257"/>
            <ac:picMk id="10" creationId="{9870009C-B4CB-C6F8-6B09-2F62495727D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88FF6E-D459-490D-B8EB-16A78B62EEFD}" type="datetimeFigureOut">
              <a:rPr lang="zh-CN" altLang="en-US" smtClean="0"/>
              <a:t>2026/9/29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95E56-20BD-437C-8EF0-5998B60596DE}" type="slidenum">
              <a:rPr lang="zh-CN" altLang="en-US" smtClean="0"/>
              <a:t>‹#›</a:t>
            </a:fld>
            <a:endParaRPr lang="zh-CN" altLang="en-US"/>
          </a:p>
        </p:txBody>
      </p:sp>
    </p:spTree>
    <p:extLst>
      <p:ext uri="{BB962C8B-B14F-4D97-AF65-F5344CB8AC3E}">
        <p14:creationId xmlns:p14="http://schemas.microsoft.com/office/powerpoint/2010/main" val="32747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【約30秒】それでは、「アマゾンのラストマイル配送における共通化と現地適応――日米比較を通じて」というテーマで、修士論文の中間発表を始めます。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【約40秒】まず用語の整理です。物流は保管・包装・輸送などを総合的に管理する活動、ECのフルフィルメントは注文を完了するまでの一連の業務を指します。両者は重なりますが、見る視点が異なります。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【約40秒】ECの拡大により、配送、特にラストマイルがEC企業の競争力を左右するようになりました。アマゾンはフルフィルメントセンターと自社配送網を整備して、この能力を強化してきました。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【約50秒】アメリカでは、外部事業者への依存によるコスト増と、2013年のクリスマス商戦の配送遅延が重なり、自社で管理できる配送体制の構築に舵を切りました。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【約40秒】その具体策がDSPとAmazon Flexです。DSPは専属の配送会社、Flexは個人ドライバーです。（補足）自社配送化の影響については、Wang et al.（2023）の分析があります。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【約50秒】日本では2017年の宅配クライシスが転機でした。ドライバー不足と運賃値上げで、大手宅配便への依存が難しくなり、自社で管理する配送体制を広げました。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【約40秒】日本では、従来の宅配便に加え、デリバリープロバイダ、Amazon Flex、地域配送企業などを組み合わせて拡充しています。（補足）2024年にはアマゾンジャパンが250億円以上の追加投資を発表しています。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【約30秒】ここで日米の方式を整理します。アメリカは自社配送中心、日本は外部との連携を維持しつつ自社配送を拡大している点が特徴です。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【約50秒】この違いを説明する理論の一つが取引費用論です。取引費用が内部管理費用を上回れば内製化、下回れば市場取引が選ばれます。配送を外部に頼むか自社で持つかの判断に当てはまります。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【約50秒】もう一つは標準化と現地適応の視点です。多国籍企業は、全世界で共通化する圧力と現地に合わせる圧力の両方を受けます。本研究のタイトルはこの視点に基づいています。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アメリカでは宅配大手のシェアが低下し、アマゾン自社が約21%まで伸びています。自社でコントロールできる範囲が大きい状況です。（2枚目：日本ではコントロールできない部分が残ります。）（補足）Pitney Bowesの調査でも、2020年のシェアは約21%とされています。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【約40秒】以上から、問題意識はこちらです。なぜアメリカでは自社配送中心なのに、日本では外部連携を維持しつつ自社配送を拡大しているのか。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【約40秒】研究方法は定性研究で、文献研究と日米の比較ケーススタディを行います。配送主体、ネットワーク、外部連携などの観点で比較します。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【約40秒】現時点の仮説です。物流環境の違いが外部依存の程度の違いを生み、それがラストマイル戦略の違いになると考えています。（補足）物流網の密度については、Houde et al.（2023）の研究があります。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【約30秒】学術的には日米比較研究を補完し、実務的にはEC企業の海外物流戦略に示唆を与えると考えます。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【約20秒】論文は全6章構成を予定しています。今後は第3章以降の分析を進めます。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（質疑用）</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【約30秒】一方、日本では外部の宅配事業者や地域配送企業に頼る部分が残り、自社でコントロールできない領域があります。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以上です。ご質問・ご助言をお願いいたします。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【約50秒】齊藤（2021）によれば、アマゾンはかつてUPS、FedEx、USPSに配送を委託していましたが、2013年の配送遅延を機に、Flex、DSP、Amazon Airなどで自社の配送体制を築きました。日本でも、地域配送事業者「デリバリープロバイダ」を組織化して自社配送体制を強化しています（林，2020）。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2254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82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41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r>
              <a:rPr kumimoji="1" lang="en-US" altLang="zh-CN"/>
              <a:t>2026/7/11</a:t>
            </a:r>
            <a:endParaRPr kumimoji="1" lang="ja-JP" altLang="en-US"/>
          </a:p>
        </p:txBody>
      </p:sp>
      <p:sp>
        <p:nvSpPr>
          <p:cNvPr id="6" name="Footer Placeholder 5"/>
          <p:cNvSpPr>
            <a:spLocks noGrp="1"/>
          </p:cNvSpPr>
          <p:nvPr>
            <p:ph type="ftr" sz="quarter" idx="11"/>
          </p:nvPr>
        </p:nvSpPr>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27920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r>
              <a:rPr kumimoji="1" lang="en-US" altLang="zh-CN"/>
              <a:t>2026/7/11</a:t>
            </a:r>
            <a:endParaRPr kumimoji="1" lang="ja-JP" altLang="en-US"/>
          </a:p>
        </p:txBody>
      </p:sp>
      <p:sp>
        <p:nvSpPr>
          <p:cNvPr id="8" name="Footer Placeholder 7"/>
          <p:cNvSpPr>
            <a:spLocks noGrp="1"/>
          </p:cNvSpPr>
          <p:nvPr>
            <p:ph type="ftr" sz="quarter" idx="11"/>
          </p:nvPr>
        </p:nvSpPr>
        <p:spPr/>
        <p:txBody>
          <a:bodyPr/>
          <a:lstStyle/>
          <a:p>
            <a:r>
              <a:rPr kumimoji="1" lang="en-US" altLang="ja-JP"/>
              <a:t>123</a:t>
            </a:r>
            <a:endParaRPr kumimoji="1" lang="ja-JP" altLang="en-US"/>
          </a:p>
        </p:txBody>
      </p:sp>
      <p:sp>
        <p:nvSpPr>
          <p:cNvPr id="9" name="Slide Number Placeholder 8"/>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937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kumimoji="1" lang="en-US" altLang="zh-CN"/>
              <a:t>2026/7/11</a:t>
            </a:r>
            <a:endParaRPr kumimoji="1" lang="ja-JP" altLang="en-US"/>
          </a:p>
        </p:txBody>
      </p:sp>
      <p:sp>
        <p:nvSpPr>
          <p:cNvPr id="4" name="Footer Placeholder 3"/>
          <p:cNvSpPr>
            <a:spLocks noGrp="1"/>
          </p:cNvSpPr>
          <p:nvPr>
            <p:ph type="ftr" sz="quarter" idx="11"/>
          </p:nvPr>
        </p:nvSpPr>
        <p:spPr/>
        <p:txBody>
          <a:bodyPr/>
          <a:lstStyle/>
          <a:p>
            <a:r>
              <a:rPr kumimoji="1" lang="en-US" altLang="ja-JP"/>
              <a:t>123</a:t>
            </a:r>
            <a:endParaRPr kumimoji="1" lang="ja-JP" altLang="en-US"/>
          </a:p>
        </p:txBody>
      </p:sp>
      <p:sp>
        <p:nvSpPr>
          <p:cNvPr id="5" name="Slide Number Placeholder 4"/>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707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kumimoji="1" lang="en-US" altLang="zh-CN"/>
              <a:t>2026/7/11</a:t>
            </a:r>
            <a:endParaRPr kumimoji="1" lang="ja-JP" altLang="en-US"/>
          </a:p>
        </p:txBody>
      </p:sp>
      <p:sp>
        <p:nvSpPr>
          <p:cNvPr id="3" name="Footer Placeholder 2"/>
          <p:cNvSpPr>
            <a:spLocks noGrp="1"/>
          </p:cNvSpPr>
          <p:nvPr>
            <p:ph type="ftr" sz="quarter" idx="11"/>
          </p:nvPr>
        </p:nvSpPr>
        <p:spPr/>
        <p:txBody>
          <a:bodyPr/>
          <a:lstStyle/>
          <a:p>
            <a:r>
              <a:rPr kumimoji="1" lang="en-US" altLang="ja-JP"/>
              <a:t>123</a:t>
            </a:r>
            <a:endParaRPr kumimoji="1" lang="ja-JP" altLang="en-US"/>
          </a:p>
        </p:txBody>
      </p:sp>
      <p:sp>
        <p:nvSpPr>
          <p:cNvPr id="4" name="Slide Number Placeholder 3"/>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spTree>
    <p:extLst>
      <p:ext uri="{BB962C8B-B14F-4D97-AF65-F5344CB8AC3E}">
        <p14:creationId xmlns:p14="http://schemas.microsoft.com/office/powerpoint/2010/main" val="2065169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r>
              <a:rPr kumimoji="1" lang="en-US" altLang="zh-CN"/>
              <a:t>2026/7/11</a:t>
            </a:r>
            <a:endParaRPr kumimoji="1" lang="ja-JP" altLang="en-US"/>
          </a:p>
        </p:txBody>
      </p:sp>
      <p:sp>
        <p:nvSpPr>
          <p:cNvPr id="6" name="Footer Placeholder 5"/>
          <p:cNvSpPr>
            <a:spLocks noGrp="1"/>
          </p:cNvSpPr>
          <p:nvPr>
            <p:ph type="ftr" sz="quarter" idx="11"/>
          </p:nvPr>
        </p:nvSpPr>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077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kumimoji="1" lang="en-US" altLang="zh-CN"/>
              <a:t>2026/7/11</a:t>
            </a:r>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481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548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93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kumimoji="1" lang="en-US" altLang="zh-CN"/>
              <a:t>2026/7/11</a:t>
            </a:r>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kumimoji="1" lang="en-US" altLang="ja-JP"/>
              <a:t>123</a:t>
            </a:r>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AD8D06-E6E2-4C60-875F-3DB64B60E5CA}"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8113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A9709-67C0-127C-AE2A-DA8D019CE163}"/>
              </a:ext>
            </a:extLst>
          </p:cNvPr>
          <p:cNvSpPr>
            <a:spLocks noGrp="1"/>
          </p:cNvSpPr>
          <p:nvPr>
            <p:ph type="ctrTitle"/>
          </p:nvPr>
        </p:nvSpPr>
        <p:spPr>
          <a:xfrm>
            <a:off x="2102499" y="1676871"/>
            <a:ext cx="9782784" cy="2447990"/>
          </a:xfrm>
        </p:spPr>
        <p:txBody>
          <a:bodyPr>
            <a:normAutofit fontScale="90000"/>
          </a:bodyPr>
          <a:lstStyle/>
          <a:p>
            <a:br>
              <a:rPr lang="en-US" altLang="ja-JP" sz="3200" cap="none" dirty="0"/>
            </a:br>
            <a:br>
              <a:rPr lang="en-US" altLang="ja-JP" sz="3200" cap="none" dirty="0"/>
            </a:br>
            <a:r>
              <a:rPr lang="ja-JP" altLang="en-US" sz="3200" dirty="0"/>
              <a:t>アマゾンのラストマイル配送における共通化と現地適応</a:t>
            </a:r>
            <a:br>
              <a:rPr lang="en-US" altLang="ja-JP" sz="3200" dirty="0">
                <a:latin typeface="Yu Mincho" panose="02020400000000000000" pitchFamily="18" charset="-128"/>
                <a:ea typeface="Yu Mincho" panose="02020400000000000000" pitchFamily="18" charset="-128"/>
              </a:rPr>
            </a:br>
            <a:r>
              <a:rPr lang="en-US" altLang="ja-JP" sz="3200" dirty="0">
                <a:latin typeface="Yu Mincho" panose="02020400000000000000" pitchFamily="18" charset="-128"/>
                <a:ea typeface="Yu Mincho" panose="02020400000000000000" pitchFamily="18" charset="-128"/>
              </a:rPr>
              <a:t>                              </a:t>
            </a:r>
            <a:br>
              <a:rPr lang="en-US" altLang="ja-JP" sz="3200" dirty="0">
                <a:latin typeface="Yu Mincho" panose="02020400000000000000" pitchFamily="18" charset="-128"/>
                <a:ea typeface="Yu Mincho" panose="02020400000000000000" pitchFamily="18" charset="-128"/>
              </a:rPr>
            </a:br>
            <a:endParaRPr kumimoji="1" lang="ja-JP" altLang="en-US" sz="3200" dirty="0">
              <a:latin typeface="Yu Mincho" panose="02020400000000000000" pitchFamily="18" charset="-128"/>
              <a:ea typeface="Yu Mincho" panose="02020400000000000000" pitchFamily="18" charset="-128"/>
            </a:endParaRPr>
          </a:p>
        </p:txBody>
      </p:sp>
      <p:sp>
        <p:nvSpPr>
          <p:cNvPr id="3" name="字幕 2">
            <a:extLst>
              <a:ext uri="{FF2B5EF4-FFF2-40B4-BE49-F238E27FC236}">
                <a16:creationId xmlns:a16="http://schemas.microsoft.com/office/drawing/2014/main" id="{38DACF7E-8999-4222-5FB3-741ED2949EA8}"/>
              </a:ext>
            </a:extLst>
          </p:cNvPr>
          <p:cNvSpPr>
            <a:spLocks noGrp="1"/>
          </p:cNvSpPr>
          <p:nvPr>
            <p:ph type="subTitle" idx="1"/>
          </p:nvPr>
        </p:nvSpPr>
        <p:spPr>
          <a:xfrm>
            <a:off x="2417779" y="3804902"/>
            <a:ext cx="8637072" cy="1930314"/>
          </a:xfrm>
        </p:spPr>
        <p:txBody>
          <a:bodyPr>
            <a:normAutofit fontScale="92500"/>
          </a:bodyPr>
          <a:lstStyle/>
          <a:p>
            <a:r>
              <a:rPr lang="en-US" altLang="ja-JP" dirty="0">
                <a:latin typeface="Yu Mincho" panose="02020400000000000000" pitchFamily="18" charset="-128"/>
                <a:ea typeface="Yu Mincho" panose="02020400000000000000" pitchFamily="18" charset="-128"/>
              </a:rPr>
              <a:t>                                                      </a:t>
            </a:r>
            <a:r>
              <a:rPr lang="en-US" altLang="ja-JP" dirty="0"/>
              <a:t>― </a:t>
            </a:r>
            <a:r>
              <a:rPr lang="ja-JP" altLang="en-US" dirty="0"/>
              <a:t>日米比較を通じて </a:t>
            </a:r>
            <a:r>
              <a:rPr lang="en-US" altLang="ja-JP" dirty="0"/>
              <a:t>―</a:t>
            </a:r>
            <a:endParaRPr kumimoji="1" lang="en-US" altLang="ja-JP" dirty="0"/>
          </a:p>
          <a:p>
            <a:r>
              <a:rPr lang="ja-JP" altLang="en-US" dirty="0"/>
              <a:t>                                                                              　　　　　　</a:t>
            </a:r>
            <a:r>
              <a:rPr lang="ja-JP" altLang="en-US" dirty="0">
                <a:latin typeface="Yu Mincho" panose="02020400000000000000" pitchFamily="18" charset="-128"/>
                <a:ea typeface="Yu Mincho" panose="02020400000000000000" pitchFamily="18" charset="-128"/>
              </a:rPr>
              <a:t>氏名：シン　ハクケイ</a:t>
            </a:r>
          </a:p>
          <a:p>
            <a:r>
              <a:rPr lang="ja-JP" altLang="en-US" dirty="0">
                <a:latin typeface="Yu Mincho" panose="02020400000000000000" pitchFamily="18" charset="-128"/>
                <a:ea typeface="Yu Mincho" panose="02020400000000000000" pitchFamily="18" charset="-128"/>
              </a:rPr>
              <a:t>　　　　　　　　　　　　　　　　　　　　　　　　　　学籍番号：</a:t>
            </a:r>
            <a:r>
              <a:rPr lang="en-US" altLang="ja-JP" dirty="0">
                <a:latin typeface="Yu Mincho" panose="02020400000000000000" pitchFamily="18" charset="-128"/>
                <a:ea typeface="Yu Mincho" panose="02020400000000000000" pitchFamily="18" charset="-128"/>
              </a:rPr>
              <a:t>G5M0020205</a:t>
            </a:r>
          </a:p>
        </p:txBody>
      </p:sp>
      <p:sp>
        <p:nvSpPr>
          <p:cNvPr id="6" name="日期占位符 5">
            <a:extLst>
              <a:ext uri="{FF2B5EF4-FFF2-40B4-BE49-F238E27FC236}">
                <a16:creationId xmlns:a16="http://schemas.microsoft.com/office/drawing/2014/main" id="{ABA4853C-D669-3037-9CD2-3F9B9F9E6FC6}"/>
              </a:ext>
            </a:extLst>
          </p:cNvPr>
          <p:cNvSpPr>
            <a:spLocks noGrp="1"/>
          </p:cNvSpPr>
          <p:nvPr>
            <p:ph type="dt" sz="half" idx="10"/>
          </p:nvPr>
        </p:nvSpPr>
        <p:spPr>
          <a:xfrm>
            <a:off x="7554138" y="330370"/>
            <a:ext cx="3617715" cy="309201"/>
          </a:xfrm>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83749CA5-7531-0CD0-2D02-1A4986B7DCC1}"/>
              </a:ext>
            </a:extLst>
          </p:cNvPr>
          <p:cNvSpPr>
            <a:spLocks noGrp="1"/>
          </p:cNvSpPr>
          <p:nvPr>
            <p:ph type="sldNum" sz="quarter" idx="12"/>
          </p:nvPr>
        </p:nvSpPr>
        <p:spPr/>
        <p:txBody>
          <a:bodyPr/>
          <a:lstStyle/>
          <a:p>
            <a:fld id="{4BAD8D06-E6E2-4C60-875F-3DB64B60E5CA}" type="slidenum">
              <a:rPr kumimoji="1" lang="ja-JP" altLang="en-US" smtClean="0"/>
              <a:t>1</a:t>
            </a:fld>
            <a:endParaRPr kumimoji="1" lang="ja-JP" altLang="en-US"/>
          </a:p>
        </p:txBody>
      </p:sp>
    </p:spTree>
    <p:extLst>
      <p:ext uri="{BB962C8B-B14F-4D97-AF65-F5344CB8AC3E}">
        <p14:creationId xmlns:p14="http://schemas.microsoft.com/office/powerpoint/2010/main" val="167130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70F4F-BF31-9FB9-07C2-4DA609EDCCF2}"/>
              </a:ext>
            </a:extLst>
          </p:cNvPr>
          <p:cNvSpPr>
            <a:spLocks noGrp="1"/>
          </p:cNvSpPr>
          <p:nvPr>
            <p:ph type="title"/>
          </p:nvPr>
        </p:nvSpPr>
        <p:spPr/>
        <p:txBody>
          <a:bodyPr>
            <a:normAutofit/>
          </a:bodyPr>
          <a:lstStyle/>
          <a:p>
            <a:br>
              <a:rPr lang="en-US" altLang="ja-JP" dirty="0"/>
            </a:br>
            <a:r>
              <a:rPr lang="ja-JP" altLang="en-US" dirty="0">
                <a:latin typeface="Yu Mincho" panose="02020400000000000000" pitchFamily="18" charset="-128"/>
                <a:ea typeface="Yu Mincho" panose="02020400000000000000" pitchFamily="18" charset="-128"/>
              </a:rPr>
              <a:t>先行研究</a:t>
            </a:r>
            <a:r>
              <a:rPr lang="en-US" altLang="ja-JP" sz="2700" dirty="0">
                <a:latin typeface="Yu Mincho" panose="02020400000000000000" pitchFamily="18" charset="-128"/>
                <a:ea typeface="Yu Mincho" panose="02020400000000000000" pitchFamily="18" charset="-128"/>
              </a:rPr>
              <a:t>(</a:t>
            </a:r>
            <a:r>
              <a:rPr lang="ja-JP" altLang="en-US" sz="2700" dirty="0">
                <a:latin typeface="Yu Mincho" panose="02020400000000000000" pitchFamily="18" charset="-128"/>
                <a:ea typeface="Yu Mincho" panose="02020400000000000000" pitchFamily="18" charset="-128"/>
              </a:rPr>
              <a:t>物流と</a:t>
            </a:r>
            <a:r>
              <a:rPr lang="en-US" altLang="ja-JP" sz="2700" b="1" dirty="0">
                <a:latin typeface="Yu Mincho" panose="02020400000000000000" pitchFamily="18" charset="-128"/>
                <a:ea typeface="Yu Mincho" panose="02020400000000000000" pitchFamily="18" charset="-128"/>
              </a:rPr>
              <a:t>EC</a:t>
            </a:r>
            <a:r>
              <a:rPr lang="ja-JP" altLang="en-US" sz="2700" dirty="0">
                <a:latin typeface="Yu Mincho" panose="02020400000000000000" pitchFamily="18" charset="-128"/>
                <a:ea typeface="Yu Mincho" panose="02020400000000000000" pitchFamily="18" charset="-128"/>
              </a:rPr>
              <a:t>におけるフルフィルメントの関係</a:t>
            </a:r>
            <a:r>
              <a:rPr lang="en-US" altLang="ja-JP" sz="2700" dirty="0">
                <a:latin typeface="Yu Mincho" panose="02020400000000000000" pitchFamily="18" charset="-128"/>
                <a:ea typeface="Yu Mincho" panose="02020400000000000000" pitchFamily="18" charset="-128"/>
              </a:rPr>
              <a:t>)</a:t>
            </a:r>
            <a:endParaRPr lang="zh-CN" altLang="en-US" sz="2700"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F12B1C15-1508-E680-F6BF-A5AD9D00087B}"/>
              </a:ext>
            </a:extLst>
          </p:cNvPr>
          <p:cNvSpPr>
            <a:spLocks noGrp="1"/>
          </p:cNvSpPr>
          <p:nvPr>
            <p:ph idx="1"/>
          </p:nvPr>
        </p:nvSpPr>
        <p:spPr>
          <a:xfrm>
            <a:off x="6500000" y="2000000"/>
            <a:ext cx="5150000" cy="4600000"/>
          </a:xfrm>
        </p:spPr>
        <p:txBody>
          <a:bodyPr>
            <a:normAutofit fontScale="85000" lnSpcReduction="10000"/>
          </a:bodyPr>
          <a:lstStyle/>
          <a:p>
            <a:pPr marL="0" indent="0">
              <a:buNone/>
            </a:pPr>
            <a:r>
              <a:rPr lang="zh-TW" altLang="en-US" sz="1600" b="1" dirty="0">
                <a:latin typeface="Yu Mincho" panose="02020400000000000000" pitchFamily="18" charset="-128"/>
                <a:ea typeface="Yu Mincho" panose="02020400000000000000" pitchFamily="18" charset="-128"/>
              </a:rPr>
              <a:t>日本工業規格</a:t>
            </a:r>
            <a:r>
              <a:rPr lang="en-US" altLang="zh-TW" sz="1600" b="1" dirty="0">
                <a:latin typeface="Yu Mincho" panose="02020400000000000000" pitchFamily="18" charset="-128"/>
                <a:ea typeface="Yu Mincho" panose="02020400000000000000" pitchFamily="18" charset="-128"/>
              </a:rPr>
              <a:t>(2006)</a:t>
            </a:r>
            <a:r>
              <a:rPr lang="ja-JP" altLang="en-US" sz="1600" b="1" dirty="0">
                <a:latin typeface="Yu Mincho" panose="02020400000000000000" pitchFamily="18" charset="-128"/>
                <a:ea typeface="Yu Mincho" panose="02020400000000000000" pitchFamily="18" charset="-128"/>
              </a:rPr>
              <a:t>は物流は物資を供給者から需要者へ、時間的及び空間的に移動する過程の活動。一般的には、包装、輸送、保管、荷役、流通加工及びそれらに関連する情報の諸機能を総合的に管理する活動と説明した。</a:t>
            </a:r>
            <a:endParaRPr lang="en-US" altLang="ja-JP" sz="1300" b="1" dirty="0">
              <a:latin typeface="Yu Mincho" panose="02020400000000000000" pitchFamily="18" charset="-128"/>
              <a:ea typeface="Yu Mincho" panose="02020400000000000000" pitchFamily="18" charset="-128"/>
            </a:endParaRPr>
          </a:p>
          <a:p>
            <a:pPr marL="0" indent="0">
              <a:buNone/>
            </a:pPr>
            <a:r>
              <a:rPr lang="en-US" altLang="ja-JP" sz="1600" b="1" dirty="0">
                <a:latin typeface="Yu Mincho" panose="02020400000000000000" pitchFamily="18" charset="-128"/>
                <a:ea typeface="Yu Mincho" panose="02020400000000000000" pitchFamily="18" charset="-128"/>
              </a:rPr>
              <a:t>EC </a:t>
            </a:r>
            <a:r>
              <a:rPr lang="ja-JP" altLang="en-US" sz="1600" b="1" dirty="0">
                <a:latin typeface="Yu Mincho" panose="02020400000000000000" pitchFamily="18" charset="-128"/>
                <a:ea typeface="Yu Mincho" panose="02020400000000000000" pitchFamily="18" charset="-128"/>
              </a:rPr>
              <a:t>におけるフルフィルメントサービスの業務範囲は、「検品，在庫管理，商品保管」などといった </a:t>
            </a:r>
            <a:r>
              <a:rPr lang="en-US" altLang="ja-JP" sz="1600" b="1" dirty="0">
                <a:latin typeface="Yu Mincho" panose="02020400000000000000" pitchFamily="18" charset="-128"/>
                <a:ea typeface="Yu Mincho" panose="02020400000000000000" pitchFamily="18" charset="-128"/>
              </a:rPr>
              <a:t>inbound operations</a:t>
            </a:r>
            <a:r>
              <a:rPr lang="ja-JP" altLang="en-US" sz="1600" b="1" dirty="0">
                <a:latin typeface="Yu Mincho" panose="02020400000000000000" pitchFamily="18" charset="-128"/>
                <a:ea typeface="Yu Mincho" panose="02020400000000000000" pitchFamily="18" charset="-128"/>
              </a:rPr>
              <a:t>、および，「商品のピッキング、梱包、発送、配達」などといった </a:t>
            </a:r>
            <a:r>
              <a:rPr lang="en-US" altLang="ja-JP" sz="1600" b="1" dirty="0">
                <a:latin typeface="Yu Mincho" panose="02020400000000000000" pitchFamily="18" charset="-128"/>
                <a:ea typeface="Yu Mincho" panose="02020400000000000000" pitchFamily="18" charset="-128"/>
              </a:rPr>
              <a:t>outbound operations </a:t>
            </a:r>
            <a:r>
              <a:rPr lang="ja-JP" altLang="en-US" sz="1600" b="1" dirty="0">
                <a:latin typeface="Yu Mincho" panose="02020400000000000000" pitchFamily="18" charset="-128"/>
                <a:ea typeface="Yu Mincho" panose="02020400000000000000" pitchFamily="18" charset="-128"/>
              </a:rPr>
              <a:t>の </a:t>
            </a:r>
            <a:r>
              <a:rPr lang="en-US" altLang="ja-JP" sz="1600" b="1" dirty="0">
                <a:latin typeface="Yu Mincho" panose="02020400000000000000" pitchFamily="18" charset="-128"/>
                <a:ea typeface="Yu Mincho" panose="02020400000000000000" pitchFamily="18" charset="-128"/>
              </a:rPr>
              <a:t>2 </a:t>
            </a:r>
            <a:r>
              <a:rPr lang="ja-JP" altLang="en-US" sz="1600" b="1" dirty="0">
                <a:latin typeface="Yu Mincho" panose="02020400000000000000" pitchFamily="18" charset="-128"/>
                <a:ea typeface="Yu Mincho" panose="02020400000000000000" pitchFamily="18" charset="-128"/>
              </a:rPr>
              <a:t>種類の業務を対象としたサービスであることを示した。（丁，</a:t>
            </a:r>
            <a:r>
              <a:rPr lang="en-US" altLang="ja-JP" sz="1600" b="1" dirty="0">
                <a:latin typeface="Yu Mincho" panose="02020400000000000000" pitchFamily="18" charset="-128"/>
                <a:ea typeface="Yu Mincho" panose="02020400000000000000" pitchFamily="18" charset="-128"/>
              </a:rPr>
              <a:t>2025</a:t>
            </a:r>
            <a:r>
              <a:rPr lang="ja-JP" altLang="en-US" sz="1600" b="1" dirty="0">
                <a:latin typeface="Yu Mincho" panose="02020400000000000000" pitchFamily="18" charset="-128"/>
                <a:ea typeface="Yu Mincho" panose="02020400000000000000" pitchFamily="18" charset="-128"/>
              </a:rPr>
              <a:t>）。</a:t>
            </a:r>
            <a:endParaRPr lang="en-US" altLang="ja-JP" sz="1300" b="1" dirty="0">
              <a:latin typeface="Yu Mincho" panose="02020400000000000000" pitchFamily="18" charset="-128"/>
              <a:ea typeface="Yu Mincho" panose="02020400000000000000" pitchFamily="18" charset="-128"/>
            </a:endParaRPr>
          </a:p>
          <a:p>
            <a:pPr marL="0" indent="0">
              <a:buNone/>
            </a:pPr>
            <a:r>
              <a:rPr lang="ja-JP" altLang="en-US" sz="1600" dirty="0">
                <a:latin typeface="Yu Mincho" panose="02020400000000000000" pitchFamily="18" charset="-128"/>
                <a:ea typeface="Yu Mincho" panose="02020400000000000000" pitchFamily="18" charset="-128"/>
              </a:rPr>
              <a:t>物流と</a:t>
            </a:r>
            <a:r>
              <a:rPr lang="en-US" altLang="ja-JP" sz="1600" dirty="0">
                <a:latin typeface="Yu Mincho" panose="02020400000000000000" pitchFamily="18" charset="-128"/>
                <a:ea typeface="Yu Mincho" panose="02020400000000000000" pitchFamily="18" charset="-128"/>
              </a:rPr>
              <a:t>EC</a:t>
            </a:r>
            <a:r>
              <a:rPr lang="ja-JP" altLang="en-US" sz="1600" dirty="0">
                <a:latin typeface="Yu Mincho" panose="02020400000000000000" pitchFamily="18" charset="-128"/>
                <a:ea typeface="Yu Mincho" panose="02020400000000000000" pitchFamily="18" charset="-128"/>
              </a:rPr>
              <a:t>におけるフルフィルメントは、保管・包装・配送などの活動で重なる。一方、物流は物資の流れを中心に捉え、フルフィルメントは顧客の注文を完了するまでの業務を中心に捉える。</a:t>
            </a:r>
            <a:endParaRPr lang="en-US" altLang="ja-JP" sz="1300" b="1" dirty="0">
              <a:latin typeface="Yu Mincho" panose="02020400000000000000" pitchFamily="18" charset="-128"/>
              <a:ea typeface="Yu Mincho" panose="02020400000000000000" pitchFamily="18" charset="-128"/>
            </a:endParaRPr>
          </a:p>
        </p:txBody>
      </p:sp>
      <p:sp>
        <p:nvSpPr>
          <p:cNvPr id="4" name="日期占位符 3">
            <a:extLst>
              <a:ext uri="{FF2B5EF4-FFF2-40B4-BE49-F238E27FC236}">
                <a16:creationId xmlns:a16="http://schemas.microsoft.com/office/drawing/2014/main" id="{E8AB3E88-1DF5-DDD2-CD90-ECA75B241D65}"/>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6D559547-D835-72C2-FF30-5280F1505867}"/>
              </a:ext>
            </a:extLst>
          </p:cNvPr>
          <p:cNvSpPr>
            <a:spLocks noGrp="1"/>
          </p:cNvSpPr>
          <p:nvPr>
            <p:ph type="sldNum" sz="quarter" idx="12"/>
          </p:nvPr>
        </p:nvSpPr>
        <p:spPr/>
        <p:txBody>
          <a:bodyPr/>
          <a:lstStyle/>
          <a:p>
            <a:fld id="{4BAD8D06-E6E2-4C60-875F-3DB64B60E5CA}" type="slidenum">
              <a:rPr kumimoji="1" lang="ja-JP" altLang="en-US" smtClean="0"/>
              <a:t>2</a:t>
            </a:fld>
            <a:endParaRPr kumimoji="1" lang="ja-JP" altLang="en-US"/>
          </a:p>
        </p:txBody>
      </p:sp>
      <p:sp>
        <p:nvSpPr>
          <p:cNvPr id="6" name="Venn 物流"/>
          <p:cNvSpPr/>
          <p:nvPr/>
        </p:nvSpPr>
        <p:spPr>
          <a:xfrm>
            <a:off x="1200000" y="2250000"/>
            <a:ext cx="3400000" cy="3400000"/>
          </a:xfrm>
          <a:prstGeom prst="ellipse">
            <a:avLst/>
          </a:prstGeom>
          <a:solidFill>
            <a:srgbClr val="4F9DA6">
              <a:alpha val="40000"/>
            </a:srgbClr>
          </a:solidFill>
          <a:ln w="19050">
            <a:solidFill>
              <a:srgbClr val="4F9D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enn ECフルフィルメント"/>
          <p:cNvSpPr/>
          <p:nvPr/>
        </p:nvSpPr>
        <p:spPr>
          <a:xfrm>
            <a:off x="2800000" y="2250000"/>
            <a:ext cx="3400000" cy="3400000"/>
          </a:xfrm>
          <a:prstGeom prst="ellipse">
            <a:avLst/>
          </a:prstGeom>
          <a:solidFill>
            <a:srgbClr val="E0954A">
              <a:alpha val="40000"/>
            </a:srgbClr>
          </a:solidFill>
          <a:ln w="19050">
            <a:solidFill>
              <a:srgbClr val="E09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enn文字 物流"/>
          <p:cNvSpPr txBox="1"/>
          <p:nvPr/>
        </p:nvSpPr>
        <p:spPr>
          <a:xfrm>
            <a:off x="1250000" y="2650000"/>
            <a:ext cx="1500000" cy="2600000"/>
          </a:xfrm>
          <a:prstGeom prst="rect">
            <a:avLst/>
          </a:prstGeom>
          <a:noFill/>
        </p:spPr>
        <p:txBody>
          <a:bodyPr wrap="square" anchor="ctr" lIns="0" rIns="0">
            <a:spAutoFit/>
          </a:bodyPr>
          <a:lstStyle/>
          <a:p>
            <a:pPr algn="ctr">
              <a:spcAft>
                <a:spcPts val="400"/>
              </a:spcAft>
            </a:pPr>
            <a:r>
              <a:rPr sz="1800" b="1">
                <a:solidFill>
                  <a:srgbClr val="262626"/>
                </a:solidFill>
                <a:latin typeface="Yu Mincho"/>
              </a:rPr>
              <a:t>物流</a:t>
            </a:r>
          </a:p>
          <a:p>
            <a:pPr algn="ctr">
              <a:spcAft>
                <a:spcPts val="400"/>
              </a:spcAft>
            </a:pPr>
            <a:r>
              <a:rPr sz="1300" b="0">
                <a:solidFill>
                  <a:srgbClr val="262626"/>
                </a:solidFill>
                <a:latin typeface="Yu Mincho"/>
              </a:rPr>
              <a:t>調達物流</a:t>
            </a:r>
          </a:p>
          <a:p>
            <a:pPr algn="ctr">
              <a:spcAft>
                <a:spcPts val="400"/>
              </a:spcAft>
            </a:pPr>
            <a:r>
              <a:rPr sz="1300" b="0">
                <a:solidFill>
                  <a:srgbClr val="262626"/>
                </a:solidFill>
                <a:latin typeface="Yu Mincho"/>
              </a:rPr>
              <a:t>生産物流</a:t>
            </a:r>
          </a:p>
        </p:txBody>
      </p:sp>
      <p:sp>
        <p:nvSpPr>
          <p:cNvPr id="9" name="Venn文字 共通"/>
          <p:cNvSpPr txBox="1"/>
          <p:nvPr/>
        </p:nvSpPr>
        <p:spPr>
          <a:xfrm>
            <a:off x="2800000" y="2650000"/>
            <a:ext cx="1800000" cy="2600000"/>
          </a:xfrm>
          <a:prstGeom prst="rect">
            <a:avLst/>
          </a:prstGeom>
          <a:noFill/>
        </p:spPr>
        <p:txBody>
          <a:bodyPr wrap="square" anchor="ctr" lIns="0" rIns="0">
            <a:spAutoFit/>
          </a:bodyPr>
          <a:lstStyle/>
          <a:p>
            <a:pPr algn="ctr">
              <a:spcAft>
                <a:spcPts val="400"/>
              </a:spcAft>
            </a:pPr>
            <a:r>
              <a:rPr sz="1500" b="1">
                <a:solidFill>
                  <a:srgbClr val="262626"/>
                </a:solidFill>
                <a:latin typeface="Yu Mincho"/>
              </a:rPr>
              <a:t>共通する業務</a:t>
            </a:r>
          </a:p>
          <a:p>
            <a:pPr algn="ctr">
              <a:spcAft>
                <a:spcPts val="400"/>
              </a:spcAft>
            </a:pPr>
            <a:r>
              <a:rPr sz="1300" b="0">
                <a:solidFill>
                  <a:srgbClr val="262626"/>
                </a:solidFill>
                <a:latin typeface="Yu Mincho"/>
              </a:rPr>
              <a:t>保管・在庫管理</a:t>
            </a:r>
          </a:p>
          <a:p>
            <a:pPr algn="ctr">
              <a:spcAft>
                <a:spcPts val="400"/>
              </a:spcAft>
            </a:pPr>
            <a:r>
              <a:rPr sz="1300" b="0">
                <a:solidFill>
                  <a:srgbClr val="262626"/>
                </a:solidFill>
                <a:latin typeface="Yu Mincho"/>
              </a:rPr>
              <a:t>ピッキング・梱包</a:t>
            </a:r>
          </a:p>
          <a:p>
            <a:pPr algn="ctr">
              <a:spcAft>
                <a:spcPts val="400"/>
              </a:spcAft>
            </a:pPr>
            <a:r>
              <a:rPr sz="1300" b="0">
                <a:solidFill>
                  <a:srgbClr val="262626"/>
                </a:solidFill>
                <a:latin typeface="Yu Mincho"/>
              </a:rPr>
              <a:t>配送</a:t>
            </a:r>
          </a:p>
          <a:p>
            <a:pPr algn="ctr">
              <a:spcAft>
                <a:spcPts val="400"/>
              </a:spcAft>
            </a:pPr>
            <a:r>
              <a:rPr sz="1000" b="0">
                <a:solidFill>
                  <a:srgbClr val="262626"/>
                </a:solidFill>
                <a:latin typeface="Yu Mincho"/>
              </a:rPr>
              <a:t>（ラストマイルを含む）</a:t>
            </a:r>
          </a:p>
          <a:p>
            <a:pPr algn="ctr">
              <a:spcAft>
                <a:spcPts val="400"/>
              </a:spcAft>
            </a:pPr>
            <a:r>
              <a:rPr sz="1300" b="0">
                <a:solidFill>
                  <a:srgbClr val="262626"/>
                </a:solidFill>
                <a:latin typeface="Yu Mincho"/>
              </a:rPr>
              <a:t>返品時の商品回収</a:t>
            </a:r>
          </a:p>
        </p:txBody>
      </p:sp>
      <p:sp>
        <p:nvSpPr>
          <p:cNvPr id="10" name="Venn文字 EC"/>
          <p:cNvSpPr txBox="1"/>
          <p:nvPr/>
        </p:nvSpPr>
        <p:spPr>
          <a:xfrm>
            <a:off x="4600000" y="2650000"/>
            <a:ext cx="1550000" cy="2600000"/>
          </a:xfrm>
          <a:prstGeom prst="rect">
            <a:avLst/>
          </a:prstGeom>
          <a:noFill/>
        </p:spPr>
        <p:txBody>
          <a:bodyPr wrap="square" anchor="ctr" lIns="0" rIns="0">
            <a:spAutoFit/>
          </a:bodyPr>
          <a:lstStyle/>
          <a:p>
            <a:pPr algn="ctr">
              <a:spcAft>
                <a:spcPts val="400"/>
              </a:spcAft>
            </a:pPr>
            <a:r>
              <a:rPr sz="1600" b="1">
                <a:solidFill>
                  <a:srgbClr val="262626"/>
                </a:solidFill>
                <a:latin typeface="Yu Mincho"/>
              </a:rPr>
              <a:t>EC</a:t>
            </a:r>
          </a:p>
          <a:p>
            <a:pPr algn="ctr">
              <a:spcAft>
                <a:spcPts val="400"/>
              </a:spcAft>
            </a:pPr>
            <a:r>
              <a:rPr sz="1300" b="1">
                <a:solidFill>
                  <a:srgbClr val="262626"/>
                </a:solidFill>
                <a:latin typeface="Yu Mincho"/>
              </a:rPr>
              <a:t>フルフィルメント</a:t>
            </a:r>
          </a:p>
          <a:p>
            <a:pPr algn="ctr">
              <a:spcAft>
                <a:spcPts val="400"/>
              </a:spcAft>
            </a:pPr>
            <a:r>
              <a:rPr sz="1300" b="0">
                <a:solidFill>
                  <a:srgbClr val="262626"/>
                </a:solidFill>
                <a:latin typeface="Yu Mincho"/>
              </a:rPr>
              <a:t>受注処理</a:t>
            </a:r>
          </a:p>
          <a:p>
            <a:pPr algn="ctr">
              <a:spcAft>
                <a:spcPts val="400"/>
              </a:spcAft>
            </a:pPr>
            <a:r>
              <a:rPr sz="1300" b="0">
                <a:solidFill>
                  <a:srgbClr val="262626"/>
                </a:solidFill>
                <a:latin typeface="Yu Mincho"/>
              </a:rPr>
              <a:t>顧客対応</a:t>
            </a:r>
          </a:p>
          <a:p>
            <a:pPr algn="ctr">
              <a:spcAft>
                <a:spcPts val="400"/>
              </a:spcAft>
            </a:pPr>
            <a:r>
              <a:rPr sz="1300" b="0">
                <a:solidFill>
                  <a:srgbClr val="262626"/>
                </a:solidFill>
                <a:latin typeface="Yu Mincho"/>
              </a:rPr>
              <a:t>返金手続き</a:t>
            </a:r>
          </a:p>
        </p:txBody>
      </p:sp>
      <p:sp>
        <p:nvSpPr>
          <p:cNvPr id="11" name="Venn注記 物流"/>
          <p:cNvSpPr txBox="1"/>
          <p:nvPr/>
        </p:nvSpPr>
        <p:spPr>
          <a:xfrm>
            <a:off x="1100000" y="5730000"/>
            <a:ext cx="2400000" cy="560000"/>
          </a:xfrm>
          <a:prstGeom prst="rect">
            <a:avLst/>
          </a:prstGeom>
          <a:noFill/>
        </p:spPr>
        <p:txBody>
          <a:bodyPr wrap="square">
            <a:spAutoFit/>
          </a:bodyPr>
          <a:lstStyle/>
          <a:p>
            <a:pPr algn="ctr"/>
            <a:r>
              <a:rPr sz="1100">
                <a:solidFill>
                  <a:srgbClr val="595959"/>
                </a:solidFill>
                <a:latin typeface="Yu Mincho"/>
              </a:rPr>
              <a:t>物流：物資と関連情報の流れ。注文前の物資移動も扱う</a:t>
            </a:r>
          </a:p>
        </p:txBody>
      </p:sp>
      <p:sp>
        <p:nvSpPr>
          <p:cNvPr id="12" name="Venn注記 EC"/>
          <p:cNvSpPr txBox="1"/>
          <p:nvPr/>
        </p:nvSpPr>
        <p:spPr>
          <a:xfrm>
            <a:off x="3550000" y="5730000"/>
            <a:ext cx="2650000" cy="560000"/>
          </a:xfrm>
          <a:prstGeom prst="rect">
            <a:avLst/>
          </a:prstGeom>
          <a:noFill/>
        </p:spPr>
        <p:txBody>
          <a:bodyPr wrap="square">
            <a:spAutoFit/>
          </a:bodyPr>
          <a:lstStyle/>
          <a:p>
            <a:pPr algn="ctr"/>
            <a:r>
              <a:rPr sz="1100">
                <a:solidFill>
                  <a:srgbClr val="595959"/>
                </a:solidFill>
                <a:latin typeface="Yu Mincho"/>
              </a:rPr>
              <a:t>ECフルフィルメント：顧客の注文を完了する業務</a:t>
            </a:r>
          </a:p>
        </p:txBody>
      </p:sp>
    </p:spTree>
    <p:extLst>
      <p:ext uri="{BB962C8B-B14F-4D97-AF65-F5344CB8AC3E}">
        <p14:creationId xmlns:p14="http://schemas.microsoft.com/office/powerpoint/2010/main" val="1968581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733843-E50C-A12A-E126-EF1EB044BE04}"/>
              </a:ext>
            </a:extLst>
          </p:cNvPr>
          <p:cNvSpPr>
            <a:spLocks noGrp="1"/>
          </p:cNvSpPr>
          <p:nvPr>
            <p:ph type="title"/>
          </p:nvPr>
        </p:nvSpPr>
        <p:spPr/>
        <p:txBody>
          <a:bodyPr/>
          <a:lstStyle/>
          <a:p>
            <a:br>
              <a:rPr kumimoji="1" lang="en-US" altLang="ja-JP"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問題の</a:t>
            </a:r>
            <a:r>
              <a:rPr kumimoji="1" lang="ja-JP" altLang="en-US" dirty="0">
                <a:latin typeface="Yu Mincho" panose="02020400000000000000" pitchFamily="18" charset="-128"/>
                <a:ea typeface="Yu Mincho" panose="02020400000000000000" pitchFamily="18" charset="-128"/>
              </a:rPr>
              <a:t>背景</a:t>
            </a:r>
            <a:r>
              <a:rPr kumimoji="1" lang="en-US" altLang="ja-JP" dirty="0">
                <a:latin typeface="Yu Mincho" panose="02020400000000000000" pitchFamily="18" charset="-128"/>
                <a:ea typeface="Yu Mincho" panose="02020400000000000000" pitchFamily="18" charset="-128"/>
              </a:rPr>
              <a:t>)</a:t>
            </a:r>
            <a:endParaRPr kumimoji="1" lang="ja-JP" altLang="en-US" dirty="0">
              <a:latin typeface="Yu Mincho" panose="02020400000000000000" pitchFamily="18" charset="-128"/>
              <a:ea typeface="Yu Mincho" panose="02020400000000000000" pitchFamily="18" charset="-128"/>
            </a:endParaRPr>
          </a:p>
        </p:txBody>
      </p:sp>
      <p:sp>
        <p:nvSpPr>
          <p:cNvPr id="3" name="コンテンツ プレースホルダー 2">
            <a:extLst>
              <a:ext uri="{FF2B5EF4-FFF2-40B4-BE49-F238E27FC236}">
                <a16:creationId xmlns:a16="http://schemas.microsoft.com/office/drawing/2014/main" id="{47FC369D-3716-1FD4-24CC-B6C991BC3FDA}"/>
              </a:ext>
            </a:extLst>
          </p:cNvPr>
          <p:cNvSpPr>
            <a:spLocks noGrp="1"/>
          </p:cNvSpPr>
          <p:nvPr>
            <p:ph idx="1"/>
          </p:nvPr>
        </p:nvSpPr>
        <p:spPr>
          <a:xfrm>
            <a:off x="1215203" y="2855488"/>
            <a:ext cx="9603275" cy="3450613"/>
          </a:xfrm>
        </p:spPr>
        <p:txBody>
          <a:bodyPr>
            <a:normAutofit fontScale="77500" lnSpcReduction="20000"/>
          </a:bodyPr>
          <a:lstStyle/>
          <a:p>
            <a:pPr marL="0" indent="0">
              <a:buNone/>
            </a:pPr>
            <a:endParaRPr lang="en-US" altLang="ja-JP" sz="1600" dirty="0"/>
          </a:p>
          <a:p>
            <a:pPr marL="0" indent="0">
              <a:buNone/>
            </a:pPr>
            <a:r>
              <a:rPr lang="en-US" altLang="ja-JP" sz="1600" dirty="0"/>
              <a:t>               </a:t>
            </a:r>
          </a:p>
          <a:p>
            <a:pPr marL="0" indent="0">
              <a:buNone/>
            </a:pPr>
            <a:endParaRPr lang="en-US" altLang="ja-JP" sz="1600" dirty="0"/>
          </a:p>
          <a:p>
            <a:pPr marL="0" indent="0">
              <a:buNone/>
            </a:pPr>
            <a:endParaRPr lang="en-US" altLang="ja-JP" sz="1600" dirty="0"/>
          </a:p>
          <a:p>
            <a:pPr marL="0" indent="0">
              <a:buNone/>
            </a:pPr>
            <a:endParaRPr lang="en-US" altLang="ja-JP" sz="1600" dirty="0"/>
          </a:p>
          <a:p>
            <a:pPr marL="0" indent="0">
              <a:buNone/>
            </a:pPr>
            <a:endParaRPr lang="en-US" altLang="ja-JP" sz="1600" dirty="0"/>
          </a:p>
          <a:p>
            <a:pPr marL="0" indent="0">
              <a:buNone/>
            </a:pPr>
            <a:endParaRPr lang="en-US" altLang="ja-JP" sz="1600" dirty="0"/>
          </a:p>
          <a:p>
            <a:pPr marL="0" indent="0">
              <a:buNone/>
            </a:pPr>
            <a:r>
              <a:rPr lang="ja-JP" altLang="en-US" sz="1600" b="1" dirty="0">
                <a:latin typeface="Yu Mincho" panose="02020400000000000000" pitchFamily="18" charset="-128"/>
                <a:ea typeface="Yu Mincho" panose="02020400000000000000" pitchFamily="18" charset="-128"/>
              </a:rPr>
              <a:t>・近年、</a:t>
            </a:r>
            <a:r>
              <a:rPr lang="en-US" altLang="ja-JP" sz="1600" b="1" dirty="0">
                <a:latin typeface="Yu Mincho" panose="02020400000000000000" pitchFamily="18" charset="-128"/>
                <a:ea typeface="Yu Mincho" panose="02020400000000000000" pitchFamily="18" charset="-128"/>
              </a:rPr>
              <a:t>EC</a:t>
            </a:r>
            <a:r>
              <a:rPr lang="ja-JP" altLang="en-US" sz="1600" b="1" dirty="0">
                <a:latin typeface="Yu Mincho" panose="02020400000000000000" pitchFamily="18" charset="-128"/>
                <a:ea typeface="Yu Mincho" panose="02020400000000000000" pitchFamily="18" charset="-128"/>
              </a:rPr>
              <a:t>市場は急速に拡大している。</a:t>
            </a:r>
            <a:r>
              <a:rPr lang="en-US" altLang="ja-JP" sz="1600" b="1" dirty="0">
                <a:latin typeface="Yu Mincho" panose="02020400000000000000" pitchFamily="18" charset="-128"/>
                <a:ea typeface="Yu Mincho" panose="02020400000000000000" pitchFamily="18" charset="-128"/>
              </a:rPr>
              <a:t>EC</a:t>
            </a:r>
            <a:r>
              <a:rPr lang="ja-JP" altLang="en-US" sz="1600" b="1" dirty="0">
                <a:latin typeface="Yu Mincho" panose="02020400000000000000" pitchFamily="18" charset="-128"/>
                <a:ea typeface="Yu Mincho" panose="02020400000000000000" pitchFamily="18" charset="-128"/>
              </a:rPr>
              <a:t>企業においてフルフィルメントは重要なオペレーションであり、事業の成功を左右する要因である。（丁，</a:t>
            </a:r>
            <a:r>
              <a:rPr lang="en-US" altLang="ja-JP" sz="1600" b="1" dirty="0">
                <a:latin typeface="Yu Mincho" panose="02020400000000000000" pitchFamily="18" charset="-128"/>
                <a:ea typeface="Yu Mincho" panose="02020400000000000000" pitchFamily="18" charset="-128"/>
              </a:rPr>
              <a:t>2023</a:t>
            </a:r>
            <a:r>
              <a:rPr lang="ja-JP" altLang="en-US" sz="1600" b="1" dirty="0">
                <a:latin typeface="Yu Mincho" panose="02020400000000000000" pitchFamily="18" charset="-128"/>
                <a:ea typeface="Yu Mincho" panose="02020400000000000000" pitchFamily="18" charset="-128"/>
              </a:rPr>
              <a:t>）。</a:t>
            </a:r>
            <a:endParaRPr lang="en-US" altLang="ja-JP" sz="1600" b="1" dirty="0">
              <a:latin typeface="Yu Mincho" panose="02020400000000000000" pitchFamily="18" charset="-128"/>
              <a:ea typeface="Yu Mincho" panose="02020400000000000000" pitchFamily="18" charset="-128"/>
            </a:endParaRPr>
          </a:p>
          <a:p>
            <a:pPr marL="0" indent="0">
              <a:buNone/>
            </a:pPr>
            <a:r>
              <a:rPr lang="ja-JP" altLang="en-US" sz="1600" b="1" dirty="0">
                <a:latin typeface="Yu Mincho" panose="02020400000000000000" pitchFamily="18" charset="-128"/>
                <a:ea typeface="Yu Mincho" panose="02020400000000000000" pitchFamily="18" charset="-128"/>
              </a:rPr>
              <a:t>・ </a:t>
            </a:r>
            <a:r>
              <a:rPr lang="en-US" altLang="ja-JP" sz="1600" b="1" dirty="0">
                <a:latin typeface="Yu Mincho" panose="02020400000000000000" pitchFamily="18" charset="-128"/>
                <a:ea typeface="Yu Mincho" panose="02020400000000000000" pitchFamily="18" charset="-128"/>
              </a:rPr>
              <a:t>Amazon</a:t>
            </a:r>
            <a:r>
              <a:rPr lang="ja-JP" altLang="en-US" sz="1600" b="1" dirty="0">
                <a:latin typeface="Yu Mincho" panose="02020400000000000000" pitchFamily="18" charset="-128"/>
                <a:ea typeface="Yu Mincho" panose="02020400000000000000" pitchFamily="18" charset="-128"/>
              </a:rPr>
              <a:t>はフルフィルメントセンターや自社配送網を整備することでラストマイル配送能力を強化してきた。（齊藤，</a:t>
            </a:r>
            <a:r>
              <a:rPr lang="en-US" altLang="ja-JP" sz="1600" b="1" dirty="0">
                <a:latin typeface="Yu Mincho" panose="02020400000000000000" pitchFamily="18" charset="-128"/>
                <a:ea typeface="Yu Mincho" panose="02020400000000000000" pitchFamily="18" charset="-128"/>
              </a:rPr>
              <a:t>2021</a:t>
            </a:r>
            <a:r>
              <a:rPr lang="ja-JP" altLang="en-US" sz="1600" b="1" dirty="0">
                <a:latin typeface="Yu Mincho" panose="02020400000000000000" pitchFamily="18" charset="-128"/>
                <a:ea typeface="Yu Mincho" panose="02020400000000000000" pitchFamily="18" charset="-128"/>
              </a:rPr>
              <a:t>）。</a:t>
            </a:r>
          </a:p>
          <a:p>
            <a:pPr marL="0" indent="0">
              <a:buNone/>
            </a:pPr>
            <a:endParaRPr lang="en-US" altLang="ja-JP" sz="1600" dirty="0"/>
          </a:p>
        </p:txBody>
      </p:sp>
      <p:sp>
        <p:nvSpPr>
          <p:cNvPr id="6" name="日期占位符 5">
            <a:extLst>
              <a:ext uri="{FF2B5EF4-FFF2-40B4-BE49-F238E27FC236}">
                <a16:creationId xmlns:a16="http://schemas.microsoft.com/office/drawing/2014/main" id="{2C910797-C99F-5E69-025C-9BA447243DEC}"/>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70D0F020-25A5-0A7E-18E8-950A29E41CEF}"/>
              </a:ext>
            </a:extLst>
          </p:cNvPr>
          <p:cNvSpPr>
            <a:spLocks noGrp="1"/>
          </p:cNvSpPr>
          <p:nvPr>
            <p:ph type="sldNum" sz="quarter" idx="12"/>
          </p:nvPr>
        </p:nvSpPr>
        <p:spPr/>
        <p:txBody>
          <a:bodyPr/>
          <a:lstStyle/>
          <a:p>
            <a:fld id="{4BAD8D06-E6E2-4C60-875F-3DB64B60E5CA}" type="slidenum">
              <a:rPr kumimoji="1" lang="ja-JP" altLang="en-US" smtClean="0"/>
              <a:t>3</a:t>
            </a:fld>
            <a:endParaRPr kumimoji="1" lang="ja-JP" altLang="en-US"/>
          </a:p>
        </p:txBody>
      </p:sp>
      <p:pic>
        <p:nvPicPr>
          <p:cNvPr id="10" name="图片 9">
            <a:extLst>
              <a:ext uri="{FF2B5EF4-FFF2-40B4-BE49-F238E27FC236}">
                <a16:creationId xmlns:a16="http://schemas.microsoft.com/office/drawing/2014/main" id="{9870009C-B4CB-C6F8-6B09-2F62495727D8}"/>
              </a:ext>
            </a:extLst>
          </p:cNvPr>
          <p:cNvPicPr>
            <a:picLocks noChangeAspect="1"/>
          </p:cNvPicPr>
          <p:nvPr/>
        </p:nvPicPr>
        <p:blipFill>
          <a:blip r:embed="rId2"/>
          <a:stretch>
            <a:fillRect/>
          </a:stretch>
        </p:blipFill>
        <p:spPr>
          <a:xfrm>
            <a:off x="1373522" y="1917218"/>
            <a:ext cx="5996473" cy="2877280"/>
          </a:xfrm>
          <a:prstGeom prst="rect">
            <a:avLst/>
          </a:prstGeom>
        </p:spPr>
      </p:pic>
      <p:pic>
        <p:nvPicPr>
          <p:cNvPr id="12" name="图片 11">
            <a:extLst>
              <a:ext uri="{FF2B5EF4-FFF2-40B4-BE49-F238E27FC236}">
                <a16:creationId xmlns:a16="http://schemas.microsoft.com/office/drawing/2014/main" id="{1139B41E-A3F1-BBC2-6304-CEF778A0D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2905" y="1902704"/>
            <a:ext cx="3325573" cy="2876539"/>
          </a:xfrm>
          <a:prstGeom prst="rect">
            <a:avLst/>
          </a:prstGeom>
        </p:spPr>
      </p:pic>
      <p:sp>
        <p:nvSpPr>
          <p:cNvPr id="7" name="椭圆 6">
            <a:extLst>
              <a:ext uri="{FF2B5EF4-FFF2-40B4-BE49-F238E27FC236}">
                <a16:creationId xmlns:a16="http://schemas.microsoft.com/office/drawing/2014/main" id="{FCA3EB2D-4210-999B-6DCD-E3667B9F4E11}"/>
              </a:ext>
            </a:extLst>
          </p:cNvPr>
          <p:cNvSpPr/>
          <p:nvPr/>
        </p:nvSpPr>
        <p:spPr>
          <a:xfrm>
            <a:off x="9405257" y="2606351"/>
            <a:ext cx="1156996" cy="1555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5179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arn(inVertical)">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barn(inVertical)">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8AEE4-0BE3-180F-A2F2-BBF91841D926}"/>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問題の背景</a:t>
            </a:r>
            <a:r>
              <a:rPr lang="en-US" altLang="ja-JP" dirty="0">
                <a:latin typeface="Yu Mincho" panose="02020400000000000000" pitchFamily="18" charset="-128"/>
                <a:ea typeface="Yu Mincho" panose="02020400000000000000" pitchFamily="18" charset="-128"/>
              </a:rPr>
              <a:t>)</a:t>
            </a:r>
            <a:endParaRPr lang="zh-CN" altLang="en-US"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9EA383D9-99F3-92A1-CDBA-7B5C1B031B65}"/>
              </a:ext>
            </a:extLst>
          </p:cNvPr>
          <p:cNvSpPr>
            <a:spLocks noGrp="1"/>
          </p:cNvSpPr>
          <p:nvPr>
            <p:ph idx="1"/>
          </p:nvPr>
        </p:nvSpPr>
        <p:spPr>
          <a:xfrm>
            <a:off x="1345832" y="2602868"/>
            <a:ext cx="9603275" cy="3450613"/>
          </a:xfrm>
        </p:spPr>
        <p:txBody>
          <a:bodyPr>
            <a:normAutofit fontScale="77500" lnSpcReduction="20000"/>
          </a:bodyPr>
          <a:lstStyle/>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sz="1500" b="1" dirty="0">
                <a:latin typeface="Yu Mincho" panose="02020400000000000000" pitchFamily="18" charset="-128"/>
                <a:ea typeface="Yu Mincho" panose="02020400000000000000" pitchFamily="18" charset="-128"/>
              </a:rPr>
              <a:t>・齊藤（</a:t>
            </a:r>
            <a:r>
              <a:rPr lang="en-US" altLang="ja-JP" sz="1500" b="1" dirty="0">
                <a:latin typeface="Yu Mincho" panose="02020400000000000000" pitchFamily="18" charset="-128"/>
                <a:ea typeface="Yu Mincho" panose="02020400000000000000" pitchFamily="18" charset="-128"/>
              </a:rPr>
              <a:t>2021</a:t>
            </a:r>
            <a:r>
              <a:rPr lang="ja-JP" altLang="en-US" sz="1500" b="1" dirty="0">
                <a:latin typeface="Yu Mincho" panose="02020400000000000000" pitchFamily="18" charset="-128"/>
                <a:ea typeface="Yu Mincho" panose="02020400000000000000" pitchFamily="18" charset="-128"/>
              </a:rPr>
              <a:t>）は、</a:t>
            </a:r>
            <a:r>
              <a:rPr lang="en-US" altLang="ja-JP" sz="1500" b="1" dirty="0">
                <a:latin typeface="Yu Mincho" panose="02020400000000000000" pitchFamily="18" charset="-128"/>
                <a:ea typeface="Yu Mincho" panose="02020400000000000000" pitchFamily="18" charset="-128"/>
              </a:rPr>
              <a:t>Amazon</a:t>
            </a:r>
            <a:r>
              <a:rPr lang="ja-JP" altLang="en-US" sz="1500" b="1" dirty="0">
                <a:latin typeface="Yu Mincho" panose="02020400000000000000" pitchFamily="18" charset="-128"/>
                <a:ea typeface="Yu Mincho" panose="02020400000000000000" pitchFamily="18" charset="-128"/>
              </a:rPr>
              <a:t>は従来</a:t>
            </a:r>
            <a:r>
              <a:rPr lang="en-US" altLang="ja-JP" sz="1500" b="1" dirty="0">
                <a:latin typeface="Yu Mincho" panose="02020400000000000000" pitchFamily="18" charset="-128"/>
                <a:ea typeface="Yu Mincho" panose="02020400000000000000" pitchFamily="18" charset="-128"/>
              </a:rPr>
              <a:t>UPS</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FedEx</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USPS</a:t>
            </a:r>
            <a:r>
              <a:rPr lang="ja-JP" altLang="en-US" sz="1500" b="1" dirty="0">
                <a:latin typeface="Yu Mincho" panose="02020400000000000000" pitchFamily="18" charset="-128"/>
                <a:ea typeface="Yu Mincho" panose="02020400000000000000" pitchFamily="18" charset="-128"/>
              </a:rPr>
              <a:t>などの宅配便事業者にラストマイル配送を委託していたが、</a:t>
            </a:r>
            <a:r>
              <a:rPr lang="en-US" altLang="ja-JP" sz="1500" b="1" dirty="0">
                <a:latin typeface="Yu Mincho" panose="02020400000000000000" pitchFamily="18" charset="-128"/>
                <a:ea typeface="Yu Mincho" panose="02020400000000000000" pitchFamily="18" charset="-128"/>
              </a:rPr>
              <a:t>2013</a:t>
            </a:r>
            <a:r>
              <a:rPr lang="ja-JP" altLang="en-US" sz="1500" b="1" dirty="0">
                <a:latin typeface="Yu Mincho" panose="02020400000000000000" pitchFamily="18" charset="-128"/>
                <a:ea typeface="Yu Mincho" panose="02020400000000000000" pitchFamily="18" charset="-128"/>
              </a:rPr>
              <a:t>年の配送遅延問題を契機として、</a:t>
            </a:r>
            <a:r>
              <a:rPr lang="en-US" altLang="ja-JP" sz="1500" b="1" dirty="0">
                <a:latin typeface="Yu Mincho" panose="02020400000000000000" pitchFamily="18" charset="-128"/>
                <a:ea typeface="Yu Mincho" panose="02020400000000000000" pitchFamily="18" charset="-128"/>
              </a:rPr>
              <a:t>Amazon Flex</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Delivery Service Partner</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DSP</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Amazon Air</a:t>
            </a:r>
            <a:r>
              <a:rPr lang="ja-JP" altLang="en-US" sz="1500" b="1" dirty="0">
                <a:latin typeface="Yu Mincho" panose="02020400000000000000" pitchFamily="18" charset="-128"/>
                <a:ea typeface="Yu Mincho" panose="02020400000000000000" pitchFamily="18" charset="-128"/>
              </a:rPr>
              <a:t>などを導入し、自らコントロール可能な配送体制の構築を進めたと指摘している。</a:t>
            </a:r>
            <a:endParaRPr lang="en-US" altLang="ja-JP" sz="1500" b="1" dirty="0">
              <a:latin typeface="Yu Mincho" panose="02020400000000000000" pitchFamily="18" charset="-128"/>
              <a:ea typeface="Yu Mincho" panose="02020400000000000000" pitchFamily="18" charset="-128"/>
            </a:endParaRPr>
          </a:p>
          <a:p>
            <a:pPr marL="0" indent="0">
              <a:buNone/>
            </a:pP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 Amazon </a:t>
            </a:r>
            <a:r>
              <a:rPr lang="ja-JP" altLang="en-US" sz="1500" b="1" dirty="0">
                <a:latin typeface="Yu Mincho" panose="02020400000000000000" pitchFamily="18" charset="-128"/>
                <a:ea typeface="Yu Mincho" panose="02020400000000000000" pitchFamily="18" charset="-128"/>
              </a:rPr>
              <a:t>（日本）は、大都市圏を中心に地域限定の配送事業者である</a:t>
            </a:r>
            <a:r>
              <a:rPr lang="en-US" altLang="ja-JP" sz="1500" b="1" dirty="0">
                <a:latin typeface="Yu Mincho" panose="02020400000000000000" pitchFamily="18" charset="-128"/>
                <a:ea typeface="Yu Mincho" panose="02020400000000000000" pitchFamily="18" charset="-128"/>
              </a:rPr>
              <a:t>『</a:t>
            </a:r>
            <a:r>
              <a:rPr lang="ja-JP" altLang="en-US" sz="1500" b="1" dirty="0">
                <a:latin typeface="Yu Mincho" panose="02020400000000000000" pitchFamily="18" charset="-128"/>
                <a:ea typeface="Yu Mincho" panose="02020400000000000000" pitchFamily="18" charset="-128"/>
              </a:rPr>
              <a:t>デリバリープロバイダ</a:t>
            </a:r>
            <a:r>
              <a:rPr lang="en-US" altLang="ja-JP" sz="1500" b="1" dirty="0">
                <a:latin typeface="Yu Mincho" panose="02020400000000000000" pitchFamily="18" charset="-128"/>
                <a:ea typeface="Yu Mincho" panose="02020400000000000000" pitchFamily="18" charset="-128"/>
              </a:rPr>
              <a:t>』</a:t>
            </a:r>
            <a:r>
              <a:rPr lang="ja-JP" altLang="en-US" sz="1500" b="1" dirty="0">
                <a:latin typeface="Yu Mincho" panose="02020400000000000000" pitchFamily="18" charset="-128"/>
                <a:ea typeface="Yu Mincho" panose="02020400000000000000" pitchFamily="18" charset="-128"/>
              </a:rPr>
              <a:t>を組織化し、自社配送体制を強化している。</a:t>
            </a:r>
            <a:r>
              <a:rPr lang="zh-CN" altLang="en-US" sz="1500" b="1" dirty="0">
                <a:latin typeface="Yu Mincho" panose="02020400000000000000" pitchFamily="18" charset="-128"/>
                <a:ea typeface="Yu Mincho" panose="02020400000000000000" pitchFamily="18" charset="-128"/>
              </a:rPr>
              <a:t>（林，</a:t>
            </a:r>
            <a:r>
              <a:rPr lang="en-US" altLang="zh-CN" sz="1500" b="1" dirty="0">
                <a:latin typeface="Yu Mincho" panose="02020400000000000000" pitchFamily="18" charset="-128"/>
                <a:ea typeface="Yu Mincho" panose="02020400000000000000" pitchFamily="18" charset="-128"/>
              </a:rPr>
              <a:t>2020</a:t>
            </a:r>
            <a:r>
              <a:rPr lang="zh-CN" altLang="en-US" sz="1500" b="1" dirty="0">
                <a:latin typeface="Yu Mincho" panose="02020400000000000000" pitchFamily="18" charset="-128"/>
                <a:ea typeface="Yu Mincho" panose="02020400000000000000" pitchFamily="18" charset="-128"/>
              </a:rPr>
              <a:t>）</a:t>
            </a:r>
          </a:p>
        </p:txBody>
      </p:sp>
      <p:sp>
        <p:nvSpPr>
          <p:cNvPr id="6" name="日期占位符 5">
            <a:extLst>
              <a:ext uri="{FF2B5EF4-FFF2-40B4-BE49-F238E27FC236}">
                <a16:creationId xmlns:a16="http://schemas.microsoft.com/office/drawing/2014/main" id="{4033FF2A-A708-63F6-B3D7-D45E8CD26458}"/>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520D81C0-7129-1BBC-8915-8FC737E90E9E}"/>
              </a:ext>
            </a:extLst>
          </p:cNvPr>
          <p:cNvSpPr>
            <a:spLocks noGrp="1"/>
          </p:cNvSpPr>
          <p:nvPr>
            <p:ph type="sldNum" sz="quarter" idx="12"/>
          </p:nvPr>
        </p:nvSpPr>
        <p:spPr/>
        <p:txBody>
          <a:bodyPr/>
          <a:lstStyle/>
          <a:p>
            <a:fld id="{4BAD8D06-E6E2-4C60-875F-3DB64B60E5CA}" type="slidenum">
              <a:rPr kumimoji="1" lang="ja-JP" altLang="en-US" smtClean="0"/>
              <a:t>4</a:t>
            </a:fld>
            <a:endParaRPr kumimoji="1" lang="ja-JP" altLang="en-US"/>
          </a:p>
        </p:txBody>
      </p:sp>
      <p:pic>
        <p:nvPicPr>
          <p:cNvPr id="5" name="图片 4">
            <a:extLst>
              <a:ext uri="{FF2B5EF4-FFF2-40B4-BE49-F238E27FC236}">
                <a16:creationId xmlns:a16="http://schemas.microsoft.com/office/drawing/2014/main" id="{9B127EE5-D73C-971D-349C-9E1549067D0B}"/>
              </a:ext>
            </a:extLst>
          </p:cNvPr>
          <p:cNvPicPr>
            <a:picLocks noChangeAspect="1"/>
          </p:cNvPicPr>
          <p:nvPr/>
        </p:nvPicPr>
        <p:blipFill>
          <a:blip r:embed="rId2"/>
          <a:stretch>
            <a:fillRect/>
          </a:stretch>
        </p:blipFill>
        <p:spPr>
          <a:xfrm>
            <a:off x="1779036" y="1953208"/>
            <a:ext cx="8770775" cy="2869451"/>
          </a:xfrm>
          <a:prstGeom prst="rect">
            <a:avLst/>
          </a:prstGeom>
        </p:spPr>
      </p:pic>
    </p:spTree>
    <p:extLst>
      <p:ext uri="{BB962C8B-B14F-4D97-AF65-F5344CB8AC3E}">
        <p14:creationId xmlns:p14="http://schemas.microsoft.com/office/powerpoint/2010/main" val="351971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arn(inVertical)">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arn(inVertical)">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996C0D-00E6-ED40-E29E-F68EDA47C1BB}"/>
              </a:ext>
            </a:extLst>
          </p:cNvPr>
          <p:cNvSpPr>
            <a:spLocks noGrp="1"/>
          </p:cNvSpPr>
          <p:nvPr>
            <p:ph type="title"/>
          </p:nvPr>
        </p:nvSpPr>
        <p:spPr/>
        <p:txBody>
          <a:bodyPr/>
          <a:lstStyle/>
          <a:p>
            <a:br>
              <a:rPr kumimoji="1" lang="en-US" altLang="ja-JP" dirty="0"/>
            </a:br>
            <a:r>
              <a:rPr kumimoji="1" lang="ja-JP" altLang="en-US" dirty="0">
                <a:latin typeface="Yu Mincho" panose="02020400000000000000" pitchFamily="18" charset="-128"/>
                <a:ea typeface="Yu Mincho" panose="02020400000000000000" pitchFamily="18" charset="-128"/>
              </a:rPr>
              <a:t>アメリカ</a:t>
            </a:r>
            <a:r>
              <a:rPr lang="ja-JP" altLang="en-US" dirty="0">
                <a:latin typeface="Yu Mincho" panose="02020400000000000000" pitchFamily="18" charset="-128"/>
                <a:ea typeface="Yu Mincho" panose="02020400000000000000" pitchFamily="18" charset="-128"/>
              </a:rPr>
              <a:t>での自社配送体制を拡大する背景</a:t>
            </a:r>
            <a:endParaRPr kumimoji="1" lang="ja-JP" altLang="en-US" dirty="0"/>
          </a:p>
        </p:txBody>
      </p:sp>
      <p:sp>
        <p:nvSpPr>
          <p:cNvPr id="3" name="コンテンツ プレースホルダー 2">
            <a:extLst>
              <a:ext uri="{FF2B5EF4-FFF2-40B4-BE49-F238E27FC236}">
                <a16:creationId xmlns:a16="http://schemas.microsoft.com/office/drawing/2014/main" id="{8BB1D2C0-D64A-7E2C-FE6D-CFEF2FEFB5C1}"/>
              </a:ext>
            </a:extLst>
          </p:cNvPr>
          <p:cNvSpPr>
            <a:spLocks noGrp="1"/>
          </p:cNvSpPr>
          <p:nvPr>
            <p:ph idx="1"/>
          </p:nvPr>
        </p:nvSpPr>
        <p:spPr>
          <a:xfrm>
            <a:off x="895927" y="2015732"/>
            <a:ext cx="10158927" cy="3895541"/>
          </a:xfrm>
        </p:spPr>
        <p:txBody>
          <a:bodyPr>
            <a:normAutofit/>
          </a:bodyPr>
          <a:lstStyle/>
          <a:p>
            <a:pPr marL="0" indent="0">
              <a:buNone/>
            </a:pPr>
            <a:r>
              <a:rPr lang="ja-JP" altLang="en-US" dirty="0"/>
              <a:t>　　　　　　　　</a:t>
            </a:r>
            <a:r>
              <a:rPr lang="ja-JP" altLang="en-US" dirty="0">
                <a:solidFill>
                  <a:schemeClr val="accent2"/>
                </a:solidFill>
              </a:rPr>
              <a:t>①外部事業者への依存とコスト増　　　</a:t>
            </a:r>
            <a:endParaRPr lang="en-US" altLang="ja-JP" dirty="0">
              <a:solidFill>
                <a:schemeClr val="accent2"/>
              </a:solidFill>
            </a:endParaRPr>
          </a:p>
          <a:p>
            <a:pPr marL="0" indent="0">
              <a:buNone/>
            </a:pPr>
            <a:r>
              <a:rPr lang="ja-JP" altLang="en-US" dirty="0">
                <a:solidFill>
                  <a:schemeClr val="accent2"/>
                </a:solidFill>
              </a:rPr>
              <a:t>　売上高の占める輸送コストの割合：</a:t>
            </a:r>
            <a:r>
              <a:rPr lang="en-US" altLang="ja-JP" dirty="0">
                <a:solidFill>
                  <a:schemeClr val="accent2"/>
                </a:solidFill>
              </a:rPr>
              <a:t>2010</a:t>
            </a:r>
            <a:r>
              <a:rPr lang="ja-JP" altLang="en-US" dirty="0">
                <a:solidFill>
                  <a:schemeClr val="accent2"/>
                </a:solidFill>
              </a:rPr>
              <a:t>年代初め約８％　　</a:t>
            </a:r>
            <a:r>
              <a:rPr lang="en-US" altLang="ja-JP" dirty="0">
                <a:solidFill>
                  <a:schemeClr val="accent2"/>
                </a:solidFill>
              </a:rPr>
              <a:t>2017</a:t>
            </a:r>
            <a:r>
              <a:rPr lang="ja-JP" altLang="en-US" dirty="0">
                <a:solidFill>
                  <a:schemeClr val="accent2"/>
                </a:solidFill>
              </a:rPr>
              <a:t>年</a:t>
            </a:r>
            <a:r>
              <a:rPr lang="en-US" altLang="ja-JP" dirty="0">
                <a:solidFill>
                  <a:schemeClr val="accent2"/>
                </a:solidFill>
              </a:rPr>
              <a:t>12.2</a:t>
            </a:r>
            <a:r>
              <a:rPr lang="ja-JP" altLang="en-US" dirty="0">
                <a:solidFill>
                  <a:schemeClr val="accent2"/>
                </a:solidFill>
              </a:rPr>
              <a:t>％</a:t>
            </a:r>
            <a:endParaRPr lang="en-US" altLang="ja-JP" dirty="0">
              <a:solidFill>
                <a:schemeClr val="accent2"/>
              </a:solidFill>
            </a:endParaRPr>
          </a:p>
          <a:p>
            <a:pPr marL="0" indent="0">
              <a:buNone/>
            </a:pPr>
            <a:endParaRPr lang="en-US" altLang="ja-JP" dirty="0">
              <a:solidFill>
                <a:schemeClr val="accent2"/>
              </a:solidFill>
            </a:endParaRPr>
          </a:p>
          <a:p>
            <a:pPr marL="0" indent="0">
              <a:buNone/>
            </a:pPr>
            <a:r>
              <a:rPr lang="ja-JP" altLang="en-US" dirty="0">
                <a:solidFill>
                  <a:schemeClr val="accent2"/>
                </a:solidFill>
              </a:rPr>
              <a:t>　　　　　　　　②</a:t>
            </a:r>
            <a:r>
              <a:rPr lang="en-US" altLang="ja-JP" dirty="0">
                <a:solidFill>
                  <a:schemeClr val="accent2"/>
                </a:solidFill>
              </a:rPr>
              <a:t>2013</a:t>
            </a:r>
            <a:r>
              <a:rPr lang="ja-JP" altLang="en-US" dirty="0">
                <a:solidFill>
                  <a:schemeClr val="accent2"/>
                </a:solidFill>
              </a:rPr>
              <a:t>年のクリスマス商戦における配送遅延</a:t>
            </a:r>
            <a:endParaRPr lang="en-US" altLang="ja-JP" dirty="0">
              <a:solidFill>
                <a:schemeClr val="accent2"/>
              </a:solidFill>
            </a:endParaRPr>
          </a:p>
          <a:p>
            <a:pPr marL="0" indent="0">
              <a:buNone/>
            </a:pPr>
            <a:endParaRPr lang="en-US" altLang="ja-JP" dirty="0">
              <a:solidFill>
                <a:schemeClr val="accent2"/>
              </a:solidFill>
            </a:endParaRPr>
          </a:p>
          <a:p>
            <a:pPr marL="0" indent="0">
              <a:buNone/>
            </a:pPr>
            <a:r>
              <a:rPr lang="ja-JP" altLang="en-US" dirty="0"/>
              <a:t>　　</a:t>
            </a:r>
            <a:endParaRPr lang="en-US" altLang="ja-JP" dirty="0"/>
          </a:p>
          <a:p>
            <a:pPr marL="0" indent="0">
              <a:buNone/>
            </a:pPr>
            <a:r>
              <a:rPr kumimoji="1" lang="ja-JP" altLang="en-US" dirty="0"/>
              <a:t>　　</a:t>
            </a:r>
            <a:r>
              <a:rPr kumimoji="1" lang="ja-JP" altLang="en-US" b="1" dirty="0"/>
              <a:t>外部事業者への依存を見直し、自社で管理できる配送体制の構築を開始</a:t>
            </a:r>
            <a:endParaRPr kumimoji="1" lang="en-US" altLang="ja-JP" b="1" dirty="0"/>
          </a:p>
          <a:p>
            <a:pPr marL="0" indent="0">
              <a:buNone/>
            </a:pPr>
            <a:r>
              <a:rPr lang="ja-JP" altLang="en-US" sz="1200" dirty="0">
                <a:latin typeface="Yu Mincho" panose="02020400000000000000" pitchFamily="18" charset="-128"/>
                <a:ea typeface="Yu Mincho" panose="02020400000000000000" pitchFamily="18" charset="-128"/>
              </a:rPr>
              <a:t>出所：齊藤実（</a:t>
            </a:r>
            <a:r>
              <a:rPr lang="en-US" altLang="ja-JP" sz="1200" dirty="0">
                <a:latin typeface="Yu Mincho" panose="02020400000000000000" pitchFamily="18" charset="-128"/>
                <a:ea typeface="Yu Mincho" panose="02020400000000000000" pitchFamily="18" charset="-128"/>
              </a:rPr>
              <a:t>2021</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E </a:t>
            </a:r>
            <a:r>
              <a:rPr lang="ja-JP" altLang="en-US" sz="1200" dirty="0">
                <a:latin typeface="Yu Mincho" panose="02020400000000000000" pitchFamily="18" charset="-128"/>
                <a:ea typeface="Yu Mincho" panose="02020400000000000000" pitchFamily="18" charset="-128"/>
              </a:rPr>
              <a:t>コマース時代におけるアマゾンの物流戦略」</a:t>
            </a:r>
            <a:r>
              <a:rPr lang="en-US" altLang="ja-JP" sz="1200" dirty="0">
                <a:latin typeface="Yu Mincho" panose="02020400000000000000" pitchFamily="18" charset="-128"/>
                <a:ea typeface="Yu Mincho" panose="02020400000000000000" pitchFamily="18" charset="-128"/>
              </a:rPr>
              <a:t> 『</a:t>
            </a:r>
            <a:r>
              <a:rPr lang="ja-JP" altLang="en-US" sz="1200" dirty="0">
                <a:latin typeface="Yu Mincho" panose="02020400000000000000" pitchFamily="18" charset="-128"/>
                <a:ea typeface="Yu Mincho" panose="02020400000000000000" pitchFamily="18" charset="-128"/>
              </a:rPr>
              <a:t>経済貿易研究</a:t>
            </a:r>
            <a:r>
              <a:rPr lang="en-US" altLang="ja-JP" sz="1200" dirty="0">
                <a:latin typeface="Yu Mincho" panose="02020400000000000000" pitchFamily="18" charset="-128"/>
                <a:ea typeface="Yu Mincho" panose="02020400000000000000" pitchFamily="18" charset="-128"/>
              </a:rPr>
              <a:t>: </a:t>
            </a:r>
            <a:r>
              <a:rPr lang="ja-JP" altLang="en-US" sz="1200" dirty="0">
                <a:latin typeface="Yu Mincho" panose="02020400000000000000" pitchFamily="18" charset="-128"/>
                <a:ea typeface="Yu Mincho" panose="02020400000000000000" pitchFamily="18" charset="-128"/>
              </a:rPr>
              <a:t>研究所年報</a:t>
            </a:r>
            <a:r>
              <a:rPr lang="en-US" altLang="ja-JP" sz="1200" dirty="0">
                <a:latin typeface="Yu Mincho" panose="02020400000000000000" pitchFamily="18" charset="-128"/>
                <a:ea typeface="Yu Mincho" panose="02020400000000000000" pitchFamily="18" charset="-128"/>
              </a:rPr>
              <a:t>』</a:t>
            </a:r>
            <a:r>
              <a:rPr lang="zh-CN" altLang="en-US" sz="1200" dirty="0">
                <a:latin typeface="Yu Mincho" panose="02020400000000000000" pitchFamily="18" charset="-128"/>
                <a:ea typeface="Yu Mincho" panose="02020400000000000000" pitchFamily="18" charset="-128"/>
              </a:rPr>
              <a:t>神奈川大学経済貿易研究所</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47</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pp.39-62</a:t>
            </a:r>
            <a:r>
              <a:rPr lang="ja-JP" altLang="en-US" sz="1200" dirty="0">
                <a:latin typeface="Yu Mincho" panose="02020400000000000000" pitchFamily="18" charset="-128"/>
                <a:ea typeface="Yu Mincho" panose="02020400000000000000" pitchFamily="18" charset="-128"/>
              </a:rPr>
              <a:t>。</a:t>
            </a:r>
            <a:endParaRPr lang="en-US" altLang="ja-JP" sz="1200" dirty="0">
              <a:latin typeface="Yu Mincho" panose="02020400000000000000" pitchFamily="18" charset="-128"/>
              <a:ea typeface="Yu Mincho" panose="02020400000000000000" pitchFamily="18" charset="-128"/>
            </a:endParaRPr>
          </a:p>
          <a:p>
            <a:pPr marL="0" indent="0">
              <a:buNone/>
            </a:pPr>
            <a:endParaRPr kumimoji="1" lang="en-US" altLang="ja-JP" dirty="0"/>
          </a:p>
        </p:txBody>
      </p:sp>
      <p:sp>
        <p:nvSpPr>
          <p:cNvPr id="4" name="日付プレースホルダー 3">
            <a:extLst>
              <a:ext uri="{FF2B5EF4-FFF2-40B4-BE49-F238E27FC236}">
                <a16:creationId xmlns:a16="http://schemas.microsoft.com/office/drawing/2014/main" id="{0B42CAF6-FBFA-4239-A3CA-CFADA4C2CD01}"/>
              </a:ext>
            </a:extLst>
          </p:cNvPr>
          <p:cNvSpPr>
            <a:spLocks noGrp="1"/>
          </p:cNvSpPr>
          <p:nvPr>
            <p:ph type="dt" sz="half" idx="10"/>
          </p:nvPr>
        </p:nvSpPr>
        <p:spPr/>
        <p:txBody>
          <a:bodyPr/>
          <a:lstStyle/>
          <a:p>
            <a:r>
              <a:rPr kumimoji="1" lang="en-US" altLang="zh-CN"/>
              <a:t>2026/7/11</a:t>
            </a:r>
            <a:endParaRPr kumimoji="1" lang="ja-JP" altLang="en-US"/>
          </a:p>
        </p:txBody>
      </p:sp>
      <p:sp>
        <p:nvSpPr>
          <p:cNvPr id="5" name="スライド番号プレースホルダー 4">
            <a:extLst>
              <a:ext uri="{FF2B5EF4-FFF2-40B4-BE49-F238E27FC236}">
                <a16:creationId xmlns:a16="http://schemas.microsoft.com/office/drawing/2014/main" id="{248DD2E8-05DA-A59D-414B-B2BE37443839}"/>
              </a:ext>
            </a:extLst>
          </p:cNvPr>
          <p:cNvSpPr>
            <a:spLocks noGrp="1"/>
          </p:cNvSpPr>
          <p:nvPr>
            <p:ph type="sldNum" sz="quarter" idx="12"/>
          </p:nvPr>
        </p:nvSpPr>
        <p:spPr/>
        <p:txBody>
          <a:bodyPr/>
          <a:lstStyle/>
          <a:p>
            <a:fld id="{4BAD8D06-E6E2-4C60-875F-3DB64B60E5CA}" type="slidenum">
              <a:rPr kumimoji="1" lang="ja-JP" altLang="en-US" smtClean="0"/>
              <a:t>5</a:t>
            </a:fld>
            <a:endParaRPr kumimoji="1" lang="ja-JP" altLang="en-US"/>
          </a:p>
        </p:txBody>
      </p:sp>
      <p:sp>
        <p:nvSpPr>
          <p:cNvPr id="8" name="矢印: 右 7">
            <a:extLst>
              <a:ext uri="{FF2B5EF4-FFF2-40B4-BE49-F238E27FC236}">
                <a16:creationId xmlns:a16="http://schemas.microsoft.com/office/drawing/2014/main" id="{F2F82EDB-10DC-FC36-3ADE-2F18337B86C2}"/>
              </a:ext>
            </a:extLst>
          </p:cNvPr>
          <p:cNvSpPr/>
          <p:nvPr/>
        </p:nvSpPr>
        <p:spPr>
          <a:xfrm>
            <a:off x="7712365" y="2706252"/>
            <a:ext cx="286328" cy="831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加算記号 8">
            <a:extLst>
              <a:ext uri="{FF2B5EF4-FFF2-40B4-BE49-F238E27FC236}">
                <a16:creationId xmlns:a16="http://schemas.microsoft.com/office/drawing/2014/main" id="{8C17DCA8-6A1C-CAD9-D808-E23DF60C3621}"/>
              </a:ext>
            </a:extLst>
          </p:cNvPr>
          <p:cNvSpPr/>
          <p:nvPr/>
        </p:nvSpPr>
        <p:spPr>
          <a:xfrm>
            <a:off x="5093854" y="3021328"/>
            <a:ext cx="378691" cy="333781"/>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矢印: 下 9">
            <a:extLst>
              <a:ext uri="{FF2B5EF4-FFF2-40B4-BE49-F238E27FC236}">
                <a16:creationId xmlns:a16="http://schemas.microsoft.com/office/drawing/2014/main" id="{8E3E2C5D-3EAD-D18D-2285-DDF7C3DF8C70}"/>
              </a:ext>
            </a:extLst>
          </p:cNvPr>
          <p:cNvSpPr/>
          <p:nvPr/>
        </p:nvSpPr>
        <p:spPr>
          <a:xfrm>
            <a:off x="4802908" y="3977396"/>
            <a:ext cx="960582" cy="7666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0269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C0D897-34A6-0B0E-7680-1675CB54C4B4}"/>
              </a:ext>
            </a:extLst>
          </p:cNvPr>
          <p:cNvSpPr>
            <a:spLocks noGrp="1"/>
          </p:cNvSpPr>
          <p:nvPr>
            <p:ph type="title"/>
          </p:nvPr>
        </p:nvSpPr>
        <p:spPr/>
        <p:txBody>
          <a:bodyPr>
            <a:normAutofit fontScale="90000"/>
          </a:bodyPr>
          <a:lstStyle/>
          <a:p>
            <a:br>
              <a:rPr lang="en-US" altLang="zh-CN" b="1" dirty="0"/>
            </a:br>
            <a:r>
              <a:rPr lang="ja-JP" altLang="en-US" b="1" dirty="0"/>
              <a:t>アメリカにおけるラストマイル配送の拡充</a:t>
            </a:r>
            <a:br>
              <a:rPr lang="en-US" altLang="ja-JP" b="1" dirty="0"/>
            </a:br>
            <a:endParaRPr lang="zh-CN" altLang="en-US" b="1" dirty="0"/>
          </a:p>
        </p:txBody>
      </p:sp>
      <p:sp>
        <p:nvSpPr>
          <p:cNvPr id="4" name="日期占位符 3">
            <a:extLst>
              <a:ext uri="{FF2B5EF4-FFF2-40B4-BE49-F238E27FC236}">
                <a16:creationId xmlns:a16="http://schemas.microsoft.com/office/drawing/2014/main" id="{1093E9BF-7B21-4887-C09B-CDC62B94D5C8}"/>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F17B5A62-CB46-38F5-ED8B-E5301383DA31}"/>
              </a:ext>
            </a:extLst>
          </p:cNvPr>
          <p:cNvSpPr>
            <a:spLocks noGrp="1"/>
          </p:cNvSpPr>
          <p:nvPr>
            <p:ph type="sldNum" sz="quarter" idx="12"/>
          </p:nvPr>
        </p:nvSpPr>
        <p:spPr/>
        <p:txBody>
          <a:bodyPr/>
          <a:lstStyle/>
          <a:p>
            <a:fld id="{4BAD8D06-E6E2-4C60-875F-3DB64B60E5CA}" type="slidenum">
              <a:rPr kumimoji="1" lang="ja-JP" altLang="en-US" smtClean="0"/>
              <a:t>6</a:t>
            </a:fld>
            <a:endParaRPr kumimoji="1" lang="ja-JP" altLang="en-US"/>
          </a:p>
        </p:txBody>
      </p:sp>
      <p:sp>
        <p:nvSpPr>
          <p:cNvPr id="8" name="文本框 7">
            <a:extLst>
              <a:ext uri="{FF2B5EF4-FFF2-40B4-BE49-F238E27FC236}">
                <a16:creationId xmlns:a16="http://schemas.microsoft.com/office/drawing/2014/main" id="{DA847D03-6AEA-13E6-52C3-25ACE0329CAD}"/>
              </a:ext>
            </a:extLst>
          </p:cNvPr>
          <p:cNvSpPr txBox="1"/>
          <p:nvPr/>
        </p:nvSpPr>
        <p:spPr>
          <a:xfrm>
            <a:off x="1592424" y="4897565"/>
            <a:ext cx="8521960" cy="923330"/>
          </a:xfrm>
          <a:prstGeom prst="rect">
            <a:avLst/>
          </a:prstGeom>
          <a:noFill/>
        </p:spPr>
        <p:txBody>
          <a:bodyPr wrap="square" rtlCol="0">
            <a:spAutoFit/>
          </a:bodyPr>
          <a:lstStyle/>
          <a:p>
            <a:r>
              <a:rPr lang="ja-JP" altLang="en-US" dirty="0"/>
              <a:t>齊藤（2021）によると、米国アマゾンはDSPとAmazon Flexを活用して配送体制を拡大してきた。DSPはアマゾンの荷物を専門に配送する配送会社に、Amazon Flexは個人ドライバーに、それぞれ配送を委託する仕組みである。自社配送化が最終区間の運営効率に与える影響は、Wang et al.（2023）が分析している。</a:t>
            </a:r>
            <a:endParaRPr lang="zh-CN" altLang="en-US" dirty="0"/>
          </a:p>
        </p:txBody>
      </p:sp>
      <p:pic>
        <p:nvPicPr>
          <p:cNvPr id="17" name="图片 16">
            <a:extLst>
              <a:ext uri="{FF2B5EF4-FFF2-40B4-BE49-F238E27FC236}">
                <a16:creationId xmlns:a16="http://schemas.microsoft.com/office/drawing/2014/main" id="{CF9F85A4-40E0-3B8A-A6CE-8F1E61546AB8}"/>
              </a:ext>
            </a:extLst>
          </p:cNvPr>
          <p:cNvPicPr>
            <a:picLocks noChangeAspect="1"/>
          </p:cNvPicPr>
          <p:nvPr/>
        </p:nvPicPr>
        <p:blipFill>
          <a:blip r:embed="rId2"/>
          <a:stretch>
            <a:fillRect/>
          </a:stretch>
        </p:blipFill>
        <p:spPr>
          <a:xfrm>
            <a:off x="2270837" y="1942633"/>
            <a:ext cx="7165133" cy="2866053"/>
          </a:xfrm>
          <a:prstGeom prst="rect">
            <a:avLst/>
          </a:prstGeom>
        </p:spPr>
      </p:pic>
    </p:spTree>
    <p:extLst>
      <p:ext uri="{BB962C8B-B14F-4D97-AF65-F5344CB8AC3E}">
        <p14:creationId xmlns:p14="http://schemas.microsoft.com/office/powerpoint/2010/main" val="2504472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9C1B7-BAF1-E47C-B1FD-0E689A1A9FE2}"/>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日本での自社配送体制を拡大する背景</a:t>
            </a:r>
            <a:endParaRPr lang="zh-CN" altLang="en-US" dirty="0"/>
          </a:p>
        </p:txBody>
      </p:sp>
      <p:sp>
        <p:nvSpPr>
          <p:cNvPr id="3" name="内容占位符 2">
            <a:extLst>
              <a:ext uri="{FF2B5EF4-FFF2-40B4-BE49-F238E27FC236}">
                <a16:creationId xmlns:a16="http://schemas.microsoft.com/office/drawing/2014/main" id="{7A3C66DA-8C8C-7147-AADD-8C925665DB20}"/>
              </a:ext>
            </a:extLst>
          </p:cNvPr>
          <p:cNvSpPr>
            <a:spLocks noGrp="1"/>
          </p:cNvSpPr>
          <p:nvPr>
            <p:ph idx="1"/>
          </p:nvPr>
        </p:nvSpPr>
        <p:spPr>
          <a:xfrm>
            <a:off x="1441361" y="2018702"/>
            <a:ext cx="9603275" cy="4034779"/>
          </a:xfrm>
        </p:spPr>
        <p:txBody>
          <a:bodyPr>
            <a:normAutofit/>
          </a:bodyPr>
          <a:lstStyle/>
          <a:p>
            <a:pPr marL="0" indent="0">
              <a:buNone/>
            </a:pPr>
            <a:r>
              <a:rPr lang="ja-JP" altLang="en-US" dirty="0"/>
              <a:t> 従来、大手宅配便事業者</a:t>
            </a:r>
            <a:r>
              <a:rPr lang="zh-CN" altLang="en-US" dirty="0"/>
              <a:t>（</a:t>
            </a:r>
            <a:r>
              <a:rPr lang="ja-JP" altLang="en-US" dirty="0"/>
              <a:t>ヤマト運輸・日本郵便・佐川急便</a:t>
            </a:r>
            <a:r>
              <a:rPr lang="zh-CN" altLang="en-US" dirty="0"/>
              <a:t>）</a:t>
            </a:r>
            <a:r>
              <a:rPr lang="ja-JP" altLang="en-US" dirty="0"/>
              <a:t>への依存していた </a:t>
            </a:r>
            <a:endParaRPr lang="en-US" altLang="ja-JP" dirty="0"/>
          </a:p>
          <a:p>
            <a:pPr marL="0" indent="0">
              <a:buNone/>
            </a:pPr>
            <a:endParaRPr lang="en-US" altLang="zh-CN" dirty="0"/>
          </a:p>
          <a:p>
            <a:pPr marL="0" indent="0">
              <a:buNone/>
            </a:pPr>
            <a:r>
              <a:rPr lang="en-US" altLang="ja-JP" dirty="0"/>
              <a:t>  </a:t>
            </a:r>
            <a:r>
              <a:rPr lang="en-US" altLang="ja-JP" sz="1800" dirty="0">
                <a:solidFill>
                  <a:schemeClr val="accent2"/>
                </a:solidFill>
              </a:rPr>
              <a:t>EC</a:t>
            </a:r>
            <a:r>
              <a:rPr lang="ja-JP" altLang="en-US" sz="1800" dirty="0">
                <a:solidFill>
                  <a:schemeClr val="accent2"/>
                </a:solidFill>
              </a:rPr>
              <a:t>貨物の増加とドライバー不足を背景に、配送総量の制限や一部サービスの停止が生じた</a:t>
            </a:r>
            <a:endParaRPr lang="en-US" altLang="ja-JP" sz="1800" dirty="0">
              <a:solidFill>
                <a:schemeClr val="accent2"/>
              </a:solidFill>
            </a:endParaRPr>
          </a:p>
          <a:p>
            <a:pPr marL="0" indent="0">
              <a:buNone/>
            </a:pPr>
            <a:r>
              <a:rPr lang="en-US" altLang="ja-JP" sz="1800" dirty="0">
                <a:solidFill>
                  <a:schemeClr val="accent2"/>
                </a:solidFill>
              </a:rPr>
              <a:t>                                                  </a:t>
            </a:r>
            <a:r>
              <a:rPr lang="zh-CN" altLang="en-US" sz="1800" dirty="0">
                <a:solidFill>
                  <a:schemeClr val="accent2"/>
                </a:solidFill>
              </a:rPr>
              <a:t>（</a:t>
            </a:r>
            <a:r>
              <a:rPr lang="en-US" altLang="ja-JP" sz="1800" dirty="0">
                <a:solidFill>
                  <a:schemeClr val="accent2"/>
                </a:solidFill>
              </a:rPr>
              <a:t>2017</a:t>
            </a:r>
            <a:r>
              <a:rPr lang="ja-JP" altLang="en-US" sz="1800" dirty="0">
                <a:solidFill>
                  <a:schemeClr val="accent2"/>
                </a:solidFill>
              </a:rPr>
              <a:t>年の宅配クライシス</a:t>
            </a:r>
            <a:r>
              <a:rPr lang="zh-CN" altLang="en-US" sz="1800" dirty="0">
                <a:solidFill>
                  <a:schemeClr val="accent2"/>
                </a:solidFill>
              </a:rPr>
              <a:t>）</a:t>
            </a:r>
            <a:endParaRPr lang="en-US" altLang="zh-CN" sz="1800" dirty="0">
              <a:solidFill>
                <a:schemeClr val="accent2"/>
              </a:solidFill>
            </a:endParaRPr>
          </a:p>
          <a:p>
            <a:pPr marL="0" indent="0">
              <a:buNone/>
            </a:pPr>
            <a:r>
              <a:rPr lang="en-US" altLang="ja-JP" sz="1800" dirty="0">
                <a:solidFill>
                  <a:schemeClr val="accent2"/>
                </a:solidFill>
              </a:rPr>
              <a:t>    </a:t>
            </a:r>
          </a:p>
          <a:p>
            <a:pPr marL="0" indent="0">
              <a:buNone/>
            </a:pPr>
            <a:r>
              <a:rPr lang="en-US" altLang="ja-JP" sz="1800" dirty="0">
                <a:solidFill>
                  <a:schemeClr val="accent2"/>
                </a:solidFill>
              </a:rPr>
              <a:t>          </a:t>
            </a:r>
            <a:r>
              <a:rPr lang="ja-JP" altLang="en-US" sz="1800" dirty="0">
                <a:solidFill>
                  <a:schemeClr val="accent2"/>
                </a:solidFill>
              </a:rPr>
              <a:t>宅配運賃の値上げにより、アマゾンの物流コストと収益への負担が増大した</a:t>
            </a:r>
            <a:endParaRPr lang="en-US" altLang="ja-JP" sz="1800" dirty="0">
              <a:solidFill>
                <a:schemeClr val="accent2"/>
              </a:solidFill>
            </a:endParaRPr>
          </a:p>
          <a:p>
            <a:pPr marL="0" indent="0">
              <a:buNone/>
            </a:pPr>
            <a:endParaRPr lang="en-US" altLang="ja-JP" sz="1800" dirty="0"/>
          </a:p>
          <a:p>
            <a:pPr marL="0" indent="0">
              <a:buNone/>
            </a:pPr>
            <a:r>
              <a:rPr lang="ja-JP" altLang="en-US" sz="1800" dirty="0"/>
              <a:t>                                        </a:t>
            </a:r>
            <a:r>
              <a:rPr lang="ja-JP" altLang="en-US" sz="1800" b="1" dirty="0"/>
              <a:t>自ら管理する配送体制の拡大を進めた</a:t>
            </a:r>
            <a:endParaRPr lang="en-US" altLang="ja-JP" sz="1800" b="1" dirty="0"/>
          </a:p>
          <a:p>
            <a:pPr marL="0" indent="0">
              <a:buNone/>
            </a:pPr>
            <a:endParaRPr lang="zh-CN" altLang="en-US" sz="1800" dirty="0"/>
          </a:p>
        </p:txBody>
      </p:sp>
      <p:sp>
        <p:nvSpPr>
          <p:cNvPr id="4" name="日期占位符 3">
            <a:extLst>
              <a:ext uri="{FF2B5EF4-FFF2-40B4-BE49-F238E27FC236}">
                <a16:creationId xmlns:a16="http://schemas.microsoft.com/office/drawing/2014/main" id="{3F457B75-6E2E-7816-8528-2416A6F9F3D4}"/>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E0703B77-E8BA-A5F1-96E5-E7E18DDEF819}"/>
              </a:ext>
            </a:extLst>
          </p:cNvPr>
          <p:cNvSpPr>
            <a:spLocks noGrp="1"/>
          </p:cNvSpPr>
          <p:nvPr>
            <p:ph type="sldNum" sz="quarter" idx="12"/>
          </p:nvPr>
        </p:nvSpPr>
        <p:spPr/>
        <p:txBody>
          <a:bodyPr/>
          <a:lstStyle/>
          <a:p>
            <a:fld id="{4BAD8D06-E6E2-4C60-875F-3DB64B60E5CA}" type="slidenum">
              <a:rPr kumimoji="1" lang="ja-JP" altLang="en-US" smtClean="0"/>
              <a:t>7</a:t>
            </a:fld>
            <a:endParaRPr kumimoji="1" lang="ja-JP" altLang="en-US"/>
          </a:p>
        </p:txBody>
      </p:sp>
      <p:sp>
        <p:nvSpPr>
          <p:cNvPr id="7" name="加算記号 8">
            <a:extLst>
              <a:ext uri="{FF2B5EF4-FFF2-40B4-BE49-F238E27FC236}">
                <a16:creationId xmlns:a16="http://schemas.microsoft.com/office/drawing/2014/main" id="{F5DB9443-7452-D2F3-EB64-05323E279192}"/>
              </a:ext>
            </a:extLst>
          </p:cNvPr>
          <p:cNvSpPr/>
          <p:nvPr/>
        </p:nvSpPr>
        <p:spPr>
          <a:xfrm>
            <a:off x="5906654" y="3977413"/>
            <a:ext cx="378691" cy="333781"/>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矢印: 下 9">
            <a:extLst>
              <a:ext uri="{FF2B5EF4-FFF2-40B4-BE49-F238E27FC236}">
                <a16:creationId xmlns:a16="http://schemas.microsoft.com/office/drawing/2014/main" id="{67FD6C61-71EF-0ED2-0409-10464B039DA5}"/>
              </a:ext>
            </a:extLst>
          </p:cNvPr>
          <p:cNvSpPr/>
          <p:nvPr/>
        </p:nvSpPr>
        <p:spPr>
          <a:xfrm>
            <a:off x="5761181" y="4842763"/>
            <a:ext cx="669637" cy="5005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06471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31F3BD-5D79-3797-FC2A-6FCF301FB65E}"/>
              </a:ext>
            </a:extLst>
          </p:cNvPr>
          <p:cNvSpPr>
            <a:spLocks noGrp="1"/>
          </p:cNvSpPr>
          <p:nvPr>
            <p:ph type="title"/>
          </p:nvPr>
        </p:nvSpPr>
        <p:spPr/>
        <p:txBody>
          <a:bodyPr>
            <a:normAutofit fontScale="90000"/>
          </a:bodyPr>
          <a:lstStyle/>
          <a:p>
            <a:br>
              <a:rPr kumimoji="1" lang="en-US" altLang="ja-JP" dirty="0"/>
            </a:br>
            <a:r>
              <a:rPr kumimoji="1" lang="ja-JP" altLang="en-US" dirty="0"/>
              <a:t>日本におけるラストマイル配送の拡充</a:t>
            </a:r>
            <a:br>
              <a:rPr kumimoji="1" lang="en-US" altLang="ja-JP" dirty="0"/>
            </a:br>
            <a:endParaRPr kumimoji="1" lang="ja-JP" altLang="en-US" dirty="0"/>
          </a:p>
        </p:txBody>
      </p:sp>
      <p:sp>
        <p:nvSpPr>
          <p:cNvPr id="4" name="日付プレースホルダー 3">
            <a:extLst>
              <a:ext uri="{FF2B5EF4-FFF2-40B4-BE49-F238E27FC236}">
                <a16:creationId xmlns:a16="http://schemas.microsoft.com/office/drawing/2014/main" id="{85451679-5C63-783A-EB43-23BEB3FC61DC}"/>
              </a:ext>
            </a:extLst>
          </p:cNvPr>
          <p:cNvSpPr>
            <a:spLocks noGrp="1"/>
          </p:cNvSpPr>
          <p:nvPr>
            <p:ph type="dt" sz="half" idx="10"/>
          </p:nvPr>
        </p:nvSpPr>
        <p:spPr/>
        <p:txBody>
          <a:bodyPr/>
          <a:lstStyle/>
          <a:p>
            <a:r>
              <a:rPr kumimoji="1" lang="en-US" altLang="zh-CN"/>
              <a:t>2026/7/11</a:t>
            </a:r>
            <a:endParaRPr kumimoji="1" lang="ja-JP" altLang="en-US"/>
          </a:p>
        </p:txBody>
      </p:sp>
      <p:sp>
        <p:nvSpPr>
          <p:cNvPr id="5" name="スライド番号プレースホルダー 4">
            <a:extLst>
              <a:ext uri="{FF2B5EF4-FFF2-40B4-BE49-F238E27FC236}">
                <a16:creationId xmlns:a16="http://schemas.microsoft.com/office/drawing/2014/main" id="{8D78ECC3-68FF-38E0-8706-5A04FD978D2A}"/>
              </a:ext>
            </a:extLst>
          </p:cNvPr>
          <p:cNvSpPr>
            <a:spLocks noGrp="1"/>
          </p:cNvSpPr>
          <p:nvPr>
            <p:ph type="sldNum" sz="quarter" idx="12"/>
          </p:nvPr>
        </p:nvSpPr>
        <p:spPr/>
        <p:txBody>
          <a:bodyPr/>
          <a:lstStyle/>
          <a:p>
            <a:fld id="{4BAD8D06-E6E2-4C60-875F-3DB64B60E5CA}" type="slidenum">
              <a:rPr kumimoji="1" lang="ja-JP" altLang="en-US" smtClean="0"/>
              <a:t>8</a:t>
            </a:fld>
            <a:endParaRPr kumimoji="1" lang="ja-JP" altLang="en-US"/>
          </a:p>
        </p:txBody>
      </p:sp>
      <p:sp>
        <p:nvSpPr>
          <p:cNvPr id="27" name="テキスト ボックス 26">
            <a:extLst>
              <a:ext uri="{FF2B5EF4-FFF2-40B4-BE49-F238E27FC236}">
                <a16:creationId xmlns:a16="http://schemas.microsoft.com/office/drawing/2014/main" id="{D6AAAB22-1AD9-7A07-D6E2-9A0A5C8963F6}"/>
              </a:ext>
            </a:extLst>
          </p:cNvPr>
          <p:cNvSpPr txBox="1"/>
          <p:nvPr/>
        </p:nvSpPr>
        <p:spPr>
          <a:xfrm>
            <a:off x="1145308" y="5004247"/>
            <a:ext cx="9522691" cy="923330"/>
          </a:xfrm>
          <a:prstGeom prst="rect">
            <a:avLst/>
          </a:prstGeom>
          <a:noFill/>
        </p:spPr>
        <p:txBody>
          <a:bodyPr wrap="square" rtlCol="0">
            <a:spAutoFit/>
          </a:bodyPr>
          <a:lstStyle>
            <a:defPPr>
              <a:defRPr lang="en-US"/>
            </a:defPPr>
            <a:lvl1pPr>
              <a:defRPr kumimoji="1"/>
            </a:lvl1pPr>
          </a:lstStyle>
          <a:p>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長谷川（</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2023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）は、アマゾン・ジャパンが従来の宅配便に加え、</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ADP</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AHDP</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通じてラストマイル配送体制を拡充してきたことを指摘した。また、2024年には日本のラストワンマイル配送への250億円以上の追加投資が発表された（アマゾンジャパン，2024）。宅配便事業者と貨物軽自動車運送業者のネットワーク再編も論じられている（日交研，2024）。</a:t>
            </a:r>
          </a:p>
          <a:p>
            <a:endParaRPr lang="ja-JP" altLang="en-US" dirty="0"/>
          </a:p>
        </p:txBody>
      </p:sp>
      <p:pic>
        <p:nvPicPr>
          <p:cNvPr id="10" name="内容占位符 9">
            <a:extLst>
              <a:ext uri="{FF2B5EF4-FFF2-40B4-BE49-F238E27FC236}">
                <a16:creationId xmlns:a16="http://schemas.microsoft.com/office/drawing/2014/main" id="{EA0C3D35-395B-DECD-8C64-0668F3A50455}"/>
              </a:ext>
            </a:extLst>
          </p:cNvPr>
          <p:cNvPicPr>
            <a:picLocks noGrp="1" noChangeAspect="1"/>
          </p:cNvPicPr>
          <p:nvPr>
            <p:ph idx="1"/>
          </p:nvPr>
        </p:nvPicPr>
        <p:blipFill>
          <a:blip r:embed="rId2"/>
          <a:stretch>
            <a:fillRect/>
          </a:stretch>
        </p:blipFill>
        <p:spPr>
          <a:xfrm>
            <a:off x="1293812" y="2018702"/>
            <a:ext cx="9604375" cy="2519875"/>
          </a:xfrm>
          <a:prstGeom prst="rect">
            <a:avLst/>
          </a:prstGeom>
        </p:spPr>
      </p:pic>
    </p:spTree>
    <p:extLst>
      <p:ext uri="{BB962C8B-B14F-4D97-AF65-F5344CB8AC3E}">
        <p14:creationId xmlns:p14="http://schemas.microsoft.com/office/powerpoint/2010/main" val="1127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D74305-455F-F586-16FA-634D5756F3DD}"/>
              </a:ext>
            </a:extLst>
          </p:cNvPr>
          <p:cNvSpPr>
            <a:spLocks noGrp="1"/>
          </p:cNvSpPr>
          <p:nvPr>
            <p:ph type="title"/>
          </p:nvPr>
        </p:nvSpPr>
        <p:spPr/>
        <p:txBody>
          <a:bodyPr>
            <a:normAutofit fontScale="90000"/>
          </a:bodyPr>
          <a:lstStyle/>
          <a:p>
            <a:br>
              <a:rPr lang="en-US" altLang="zh-CN" dirty="0"/>
            </a:br>
            <a:r>
              <a:rPr lang="ja-JP" altLang="en-US" dirty="0">
                <a:solidFill>
                  <a:srgbClr val="222222"/>
                </a:solidFill>
                <a:latin typeface="Yu Mincho"/>
                <a:ea typeface="Yu Mincho"/>
                <a:cs typeface="Yu Mincho"/>
              </a:rPr>
              <a:t>日米の配送方式の整理</a:t>
            </a:r>
            <a:br>
              <a:rPr lang="ja-JP" altLang="en-US" dirty="0">
                <a:solidFill>
                  <a:srgbClr val="222222"/>
                </a:solidFill>
                <a:latin typeface="Yu Mincho"/>
                <a:ea typeface="Yu Mincho"/>
                <a:cs typeface="Yu Mincho"/>
              </a:rPr>
            </a:br>
            <a:endParaRPr lang="zh-CN" altLang="en-US" dirty="0"/>
          </a:p>
        </p:txBody>
      </p:sp>
      <p:pic>
        <p:nvPicPr>
          <p:cNvPr id="7" name="内容占位符 6">
            <a:extLst>
              <a:ext uri="{FF2B5EF4-FFF2-40B4-BE49-F238E27FC236}">
                <a16:creationId xmlns:a16="http://schemas.microsoft.com/office/drawing/2014/main" id="{33CEE45C-E8F6-58E5-7DBF-EF2D31A45339}"/>
              </a:ext>
            </a:extLst>
          </p:cNvPr>
          <p:cNvPicPr>
            <a:picLocks noGrp="1" noChangeAspect="1"/>
          </p:cNvPicPr>
          <p:nvPr>
            <p:ph idx="1"/>
          </p:nvPr>
        </p:nvPicPr>
        <p:blipFill>
          <a:blip r:embed="rId2"/>
          <a:stretch>
            <a:fillRect/>
          </a:stretch>
        </p:blipFill>
        <p:spPr>
          <a:xfrm>
            <a:off x="1598214" y="1935260"/>
            <a:ext cx="9222813" cy="3449638"/>
          </a:xfrm>
          <a:prstGeom prst="rect">
            <a:avLst/>
          </a:prstGeom>
        </p:spPr>
      </p:pic>
      <p:sp>
        <p:nvSpPr>
          <p:cNvPr id="4" name="日期占位符 3">
            <a:extLst>
              <a:ext uri="{FF2B5EF4-FFF2-40B4-BE49-F238E27FC236}">
                <a16:creationId xmlns:a16="http://schemas.microsoft.com/office/drawing/2014/main" id="{9B37A2A3-5813-EA77-C414-963B480BF3A7}"/>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7F363A08-BB68-6274-862F-78D62D7489A6}"/>
              </a:ext>
            </a:extLst>
          </p:cNvPr>
          <p:cNvSpPr>
            <a:spLocks noGrp="1"/>
          </p:cNvSpPr>
          <p:nvPr>
            <p:ph type="sldNum" sz="quarter" idx="12"/>
          </p:nvPr>
        </p:nvSpPr>
        <p:spPr/>
        <p:txBody>
          <a:bodyPr/>
          <a:lstStyle/>
          <a:p>
            <a:fld id="{4BAD8D06-E6E2-4C60-875F-3DB64B60E5CA}" type="slidenum">
              <a:rPr kumimoji="1" lang="ja-JP" altLang="en-US" smtClean="0"/>
              <a:t>9</a:t>
            </a:fld>
            <a:endParaRPr kumimoji="1" lang="ja-JP" altLang="en-US"/>
          </a:p>
        </p:txBody>
      </p:sp>
    </p:spTree>
    <p:extLst>
      <p:ext uri="{BB962C8B-B14F-4D97-AF65-F5344CB8AC3E}">
        <p14:creationId xmlns:p14="http://schemas.microsoft.com/office/powerpoint/2010/main" val="3364964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E31E4-DA43-AFD4-1ED2-4E659E736D9D}"/>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取引費用論の視点）</a:t>
            </a:r>
            <a:endParaRPr lang="zh-CN" altLang="en-US" dirty="0"/>
          </a:p>
        </p:txBody>
      </p:sp>
      <p:sp>
        <p:nvSpPr>
          <p:cNvPr id="3" name="内容占位符 2">
            <a:extLst>
              <a:ext uri="{FF2B5EF4-FFF2-40B4-BE49-F238E27FC236}">
                <a16:creationId xmlns:a16="http://schemas.microsoft.com/office/drawing/2014/main" id="{06A14FDD-6086-F1F9-667F-3634DF91B58E}"/>
              </a:ext>
            </a:extLst>
          </p:cNvPr>
          <p:cNvSpPr>
            <a:spLocks noGrp="1"/>
          </p:cNvSpPr>
          <p:nvPr>
            <p:ph idx="1"/>
          </p:nvPr>
        </p:nvSpPr>
        <p:spPr/>
        <p:txBody>
          <a:bodyPr/>
          <a:lstStyle/>
          <a:p>
            <a:pPr marL="0" indent="0">
              <a:buNone/>
            </a:pPr>
            <a:r>
              <a:rPr lang="ja-JP" altLang="en-US" dirty="0"/>
              <a:t>　　　　　　　　　　　　　　　</a:t>
            </a:r>
            <a:r>
              <a:rPr lang="ja-JP" altLang="en-US" b="1" dirty="0"/>
              <a:t>「企業の境界」</a:t>
            </a:r>
            <a:endParaRPr lang="en-US" altLang="ja-JP" b="1" dirty="0"/>
          </a:p>
          <a:p>
            <a:pPr marL="0" indent="0">
              <a:buNone/>
            </a:pPr>
            <a:r>
              <a:rPr lang="ja-JP" altLang="en-US" dirty="0"/>
              <a:t>市場で取引を行うには、情報の収集、契約の交渉、相手方の監視、トラブルの解決などの取引費用（トランザクション・コスト）が発生する（Coase, 1937；Williamson, 1975）。</a:t>
            </a:r>
            <a:endParaRPr lang="en-US" altLang="ja-JP" dirty="0"/>
          </a:p>
          <a:p>
            <a:pPr marL="0" indent="0">
              <a:buNone/>
            </a:pPr>
            <a:endParaRPr lang="en-US" altLang="zh-CN" dirty="0"/>
          </a:p>
          <a:p>
            <a:pPr marL="0" indent="0">
              <a:buNone/>
            </a:pPr>
            <a:r>
              <a:rPr lang="en-US" altLang="ja-JP" dirty="0"/>
              <a:t>• </a:t>
            </a:r>
            <a:r>
              <a:rPr lang="ja-JP" altLang="en-US" dirty="0"/>
              <a:t>取引費用 ＞ 内部管理費用 の場合：企業はプロセスを直営化（組織内への取り込み）する。</a:t>
            </a:r>
          </a:p>
          <a:p>
            <a:pPr marL="0" indent="0">
              <a:buNone/>
            </a:pPr>
            <a:r>
              <a:rPr lang="en-US" altLang="ja-JP" dirty="0"/>
              <a:t>• </a:t>
            </a:r>
            <a:r>
              <a:rPr lang="ja-JP" altLang="en-US" dirty="0"/>
              <a:t>取引費用 ＜ 内部管理費用 の場合：企業は市場での取引を選択する。</a:t>
            </a:r>
            <a:endParaRPr lang="zh-CN" altLang="en-US" dirty="0"/>
          </a:p>
          <a:p>
            <a:pPr marL="0" indent="0">
              <a:buNone/>
            </a:pPr>
            <a:r>
              <a:rPr lang="ja-JP" altLang="en-US" dirty="0" b="1"/>
              <a:t>→ ラストマイル配送を「外部委託（市場）」とするか「自社配送（組織）」とするかの説明に適用できる。</a:t>
            </a:r>
            <a:endParaRPr lang="en-US" altLang="ja-JP" dirty="0"/>
          </a:p>
        </p:txBody>
      </p:sp>
      <p:sp>
        <p:nvSpPr>
          <p:cNvPr id="4" name="日期占位符 3">
            <a:extLst>
              <a:ext uri="{FF2B5EF4-FFF2-40B4-BE49-F238E27FC236}">
                <a16:creationId xmlns:a16="http://schemas.microsoft.com/office/drawing/2014/main" id="{C1AB32AE-037F-3F3B-6C80-DDD7C97347F6}"/>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8AD8897C-D815-A910-D4D6-CD0FF393B51A}"/>
              </a:ext>
            </a:extLst>
          </p:cNvPr>
          <p:cNvSpPr>
            <a:spLocks noGrp="1"/>
          </p:cNvSpPr>
          <p:nvPr>
            <p:ph type="sldNum" sz="quarter" idx="12"/>
          </p:nvPr>
        </p:nvSpPr>
        <p:spPr/>
        <p:txBody>
          <a:bodyPr/>
          <a:lstStyle/>
          <a:p>
            <a:fld id="{4BAD8D06-E6E2-4C60-875F-3DB64B60E5CA}" type="slidenum">
              <a:rPr kumimoji="1" lang="ja-JP" altLang="en-US" smtClean="0"/>
              <a:t>10</a:t>
            </a:fld>
            <a:endParaRPr kumimoji="1" lang="ja-JP" altLang="en-US"/>
          </a:p>
        </p:txBody>
      </p:sp>
    </p:spTree>
    <p:extLst>
      <p:ext uri="{BB962C8B-B14F-4D97-AF65-F5344CB8AC3E}">
        <p14:creationId xmlns:p14="http://schemas.microsoft.com/office/powerpoint/2010/main" val="297576494"/>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先行研究（標準化と現地適応の視点）</a:t>
            </a:r>
          </a:p>
        </p:txBody>
      </p:sp>
      <p:sp>
        <p:nvSpPr>
          <p:cNvPr id="3" name="Content Placeholder 2"/>
          <p:cNvSpPr>
            <a:spLocks noGrp="1"/>
          </p:cNvSpPr>
          <p:nvPr>
            <p:ph idx="1"/>
          </p:nvPr>
        </p:nvSpPr>
        <p:spPr/>
        <p:txBody>
          <a:bodyPr/>
          <a:lstStyle/>
          <a:p>
            <a:pPr marL="0" indent="0">
              <a:buNone/>
            </a:pPr>
            <a:r>
              <a:rPr b="0" sz="2000">
                <a:latin typeface="Yu Mincho"/>
              </a:rPr>
              <a:t>多国籍企業は「グローバル統合（標準化）」と「現地適応」の両圧力に直面する（Prahalad &amp; Doz, 1987；Bartlett &amp; Ghoshal, 1989）。</a:t>
            </a:r>
          </a:p>
          <a:p>
            <a:pPr marL="0" indent="0">
              <a:buNone/>
            </a:pPr>
            <a:r>
              <a:rPr b="0" sz="2000">
                <a:latin typeface="Yu Mincho"/>
              </a:rPr>
              <a:t/>
            </a:r>
          </a:p>
          <a:p>
            <a:pPr marL="0" indent="0">
              <a:buNone/>
            </a:pPr>
            <a:r>
              <a:rPr b="0" sz="2000">
                <a:latin typeface="Yu Mincho"/>
              </a:rPr>
              <a:t>Ghemawat（2007）：国境を越える戦略は 適応（Adaptation）・集約（Aggregation）・裁定（Arbitrage）の3つに整理できる。</a:t>
            </a:r>
          </a:p>
          <a:p>
            <a:pPr marL="0" indent="0">
              <a:buNone/>
            </a:pPr>
            <a:r>
              <a:rPr b="0" sz="2000">
                <a:latin typeface="Yu Mincho"/>
              </a:rPr>
              <a:t/>
            </a:r>
          </a:p>
          <a:p>
            <a:pPr marL="0" indent="0">
              <a:buNone/>
            </a:pPr>
            <a:r>
              <a:rPr b="1" sz="2000">
                <a:latin typeface="Yu Mincho"/>
              </a:rPr>
              <a:t>本研究への適用</a:t>
            </a:r>
          </a:p>
          <a:p>
            <a:pPr marL="0" indent="0">
              <a:buNone/>
            </a:pPr>
            <a:r>
              <a:rPr b="0" sz="2000">
                <a:latin typeface="Yu Mincho"/>
              </a:rPr>
              <a:t>• 共通化：物流拠点・IT・配送管理の仕組みなど、Amazonが日米で共通に持つ部分</a:t>
            </a:r>
          </a:p>
          <a:p>
            <a:pPr marL="0" indent="0">
              <a:buNone/>
            </a:pPr>
            <a:r>
              <a:rPr b="0" sz="2000">
                <a:latin typeface="Yu Mincho"/>
              </a:rPr>
              <a:t>• 現地適応：配送主体・外部事業者との連携度合いなど、国ごとに異なる部分</a:t>
            </a:r>
          </a:p>
        </p:txBody>
      </p:sp>
      <p:sp>
        <p:nvSpPr>
          <p:cNvPr id="4" name="日期占位符 3">
            <a:extLst>
              <a:ext uri="{FF2B5EF4-FFF2-40B4-BE49-F238E27FC236}">
                <a16:creationId xmlns:a16="http://schemas.microsoft.com/office/drawing/2014/main" id="{C1AB32AE-037F-3F3B-6C80-DDD7C97347F6}"/>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8AD8897C-D815-A910-D4D6-CD0FF393B51A}"/>
              </a:ext>
            </a:extLst>
          </p:cNvPr>
          <p:cNvSpPr>
            <a:spLocks noGrp="1"/>
          </p:cNvSpPr>
          <p:nvPr>
            <p:ph type="sldNum" sz="quarter" idx="12"/>
          </p:nvPr>
        </p:nvSpPr>
        <p:spPr/>
        <p:txBody>
          <a:bodyPr/>
          <a:lstStyle/>
          <a:p>
            <a:fld id="{4BAD8D06-E6E2-4C60-875F-3DB64B60E5CA}" type="slidenum">
              <a:rPr kumimoji="1" lang="ja-JP" altLang="en-US" smtClean="0"/>
              <a:t>10</a:t>
            </a:fld>
            <a:endParaRPr kumimoji="1" lang="ja-JP"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02DCBC-77F7-517B-026C-85C8FE97EEB0}"/>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ja-JP" altLang="en-US" dirty="0"/>
              <a:t>アマゾン日米の比較）</a:t>
            </a:r>
            <a:endParaRPr lang="zh-CN" altLang="en-US" dirty="0"/>
          </a:p>
        </p:txBody>
      </p:sp>
      <p:pic>
        <p:nvPicPr>
          <p:cNvPr id="7" name="内容占位符 6">
            <a:extLst>
              <a:ext uri="{FF2B5EF4-FFF2-40B4-BE49-F238E27FC236}">
                <a16:creationId xmlns:a16="http://schemas.microsoft.com/office/drawing/2014/main" id="{C020E858-C6AB-55D4-BF6F-961DE98BB5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506184"/>
            <a:ext cx="3490774" cy="1845632"/>
          </a:xfrm>
        </p:spPr>
      </p:pic>
      <p:sp>
        <p:nvSpPr>
          <p:cNvPr id="4" name="日期占位符 3">
            <a:extLst>
              <a:ext uri="{FF2B5EF4-FFF2-40B4-BE49-F238E27FC236}">
                <a16:creationId xmlns:a16="http://schemas.microsoft.com/office/drawing/2014/main" id="{281A217F-80CA-85B6-DF80-22233C9C6810}"/>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5C6ADD75-1771-F604-3F95-4C15B719A704}"/>
              </a:ext>
            </a:extLst>
          </p:cNvPr>
          <p:cNvSpPr>
            <a:spLocks noGrp="1"/>
          </p:cNvSpPr>
          <p:nvPr>
            <p:ph type="sldNum" sz="quarter" idx="12"/>
          </p:nvPr>
        </p:nvSpPr>
        <p:spPr/>
        <p:txBody>
          <a:bodyPr/>
          <a:lstStyle/>
          <a:p>
            <a:fld id="{4BAD8D06-E6E2-4C60-875F-3DB64B60E5CA}" type="slidenum">
              <a:rPr kumimoji="1" lang="ja-JP" altLang="en-US" smtClean="0"/>
              <a:t>11</a:t>
            </a:fld>
            <a:endParaRPr kumimoji="1" lang="ja-JP" altLang="en-US"/>
          </a:p>
        </p:txBody>
      </p:sp>
      <p:pic>
        <p:nvPicPr>
          <p:cNvPr id="9" name="图片 8">
            <a:extLst>
              <a:ext uri="{FF2B5EF4-FFF2-40B4-BE49-F238E27FC236}">
                <a16:creationId xmlns:a16="http://schemas.microsoft.com/office/drawing/2014/main" id="{8071B790-3F3B-B09A-5118-9C401BEB5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041" y="2339794"/>
            <a:ext cx="3024185" cy="2178412"/>
          </a:xfrm>
          <a:prstGeom prst="rect">
            <a:avLst/>
          </a:prstGeom>
        </p:spPr>
      </p:pic>
      <p:cxnSp>
        <p:nvCxnSpPr>
          <p:cNvPr id="11" name="直接箭头连接符 10">
            <a:extLst>
              <a:ext uri="{FF2B5EF4-FFF2-40B4-BE49-F238E27FC236}">
                <a16:creationId xmlns:a16="http://schemas.microsoft.com/office/drawing/2014/main" id="{992EB770-80F0-0F0E-B72C-AA11D8F5B59C}"/>
              </a:ext>
            </a:extLst>
          </p:cNvPr>
          <p:cNvCxnSpPr/>
          <p:nvPr/>
        </p:nvCxnSpPr>
        <p:spPr>
          <a:xfrm flipH="1">
            <a:off x="9586774" y="3429000"/>
            <a:ext cx="261257" cy="180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9BD6685D-347C-D8C1-8BBF-969EDBFE307E}"/>
              </a:ext>
            </a:extLst>
          </p:cNvPr>
          <p:cNvSpPr txBox="1"/>
          <p:nvPr/>
        </p:nvSpPr>
        <p:spPr>
          <a:xfrm>
            <a:off x="9848031" y="3290500"/>
            <a:ext cx="1667070" cy="276999"/>
          </a:xfrm>
          <a:prstGeom prst="rect">
            <a:avLst/>
          </a:prstGeom>
          <a:noFill/>
        </p:spPr>
        <p:txBody>
          <a:bodyPr wrap="square" rtlCol="0">
            <a:spAutoFit/>
          </a:bodyPr>
          <a:lstStyle/>
          <a:p>
            <a:r>
              <a:rPr lang="ja-JP" altLang="en-US" sz="1200" dirty="0">
                <a:solidFill>
                  <a:srgbClr val="FF0000"/>
                </a:solidFill>
              </a:rPr>
              <a:t>コントロールできる</a:t>
            </a:r>
            <a:endParaRPr lang="zh-CN" altLang="en-US" sz="1200" dirty="0">
              <a:solidFill>
                <a:srgbClr val="FF0000"/>
              </a:solidFill>
            </a:endParaRPr>
          </a:p>
        </p:txBody>
      </p:sp>
      <p:sp>
        <p:nvSpPr>
          <p:cNvPr id="13" name="TextBox 12"/>
          <p:cNvSpPr txBox="1"/>
          <p:nvPr/>
        </p:nvSpPr>
        <p:spPr>
          <a:xfrm>
            <a:off x="1775041" y="4650000"/>
            <a:ext cx="8000000" cy="420000"/>
          </a:xfrm>
          <a:prstGeom prst="rect">
            <a:avLst/>
          </a:prstGeom>
          <a:noFill/>
        </p:spPr>
        <p:txBody>
          <a:bodyPr wrap="square">
            <a:spAutoFit/>
          </a:bodyPr>
          <a:lstStyle/>
          <a:p>
            <a:r>
              <a:rPr sz="1200">
                <a:latin typeface="Yu Mincho"/>
              </a:rPr>
              <a:t>補足：米国の宅配市場におけるAmazon Logisticsの荷物量シェアは、2020年に約21%（Pitney Bowes, Parcel Shipping Index）。</a:t>
            </a:r>
          </a:p>
        </p:txBody>
      </p:sp>
    </p:spTree>
    <p:extLst>
      <p:ext uri="{BB962C8B-B14F-4D97-AF65-F5344CB8AC3E}">
        <p14:creationId xmlns:p14="http://schemas.microsoft.com/office/powerpoint/2010/main" val="3844513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77476-5C56-1EDB-A716-1779B800A09B}"/>
              </a:ext>
            </a:extLst>
          </p:cNvPr>
          <p:cNvSpPr>
            <a:spLocks noGrp="1"/>
          </p:cNvSpPr>
          <p:nvPr>
            <p:ph type="title"/>
          </p:nvPr>
        </p:nvSpPr>
        <p:spPr/>
        <p:txBody>
          <a:bodyPr/>
          <a:lstStyle/>
          <a:p>
            <a:br>
              <a:rPr lang="en-US" altLang="zh-CN" dirty="0"/>
            </a:br>
            <a:endParaRPr lang="zh-CN" altLang="en-US" dirty="0"/>
          </a:p>
        </p:txBody>
      </p:sp>
      <p:sp>
        <p:nvSpPr>
          <p:cNvPr id="4" name="日期占位符 3">
            <a:extLst>
              <a:ext uri="{FF2B5EF4-FFF2-40B4-BE49-F238E27FC236}">
                <a16:creationId xmlns:a16="http://schemas.microsoft.com/office/drawing/2014/main" id="{FC0A7422-A82D-30CB-D274-6E4C827923FF}"/>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355A80CB-47AA-AE36-4017-4F17CC2681F0}"/>
              </a:ext>
            </a:extLst>
          </p:cNvPr>
          <p:cNvSpPr>
            <a:spLocks noGrp="1"/>
          </p:cNvSpPr>
          <p:nvPr>
            <p:ph type="sldNum" sz="quarter" idx="12"/>
          </p:nvPr>
        </p:nvSpPr>
        <p:spPr/>
        <p:txBody>
          <a:bodyPr/>
          <a:lstStyle/>
          <a:p>
            <a:fld id="{4BAD8D06-E6E2-4C60-875F-3DB64B60E5CA}" type="slidenum">
              <a:rPr kumimoji="1" lang="ja-JP" altLang="en-US" smtClean="0"/>
              <a:t>12</a:t>
            </a:fld>
            <a:endParaRPr kumimoji="1" lang="ja-JP" altLang="en-US"/>
          </a:p>
        </p:txBody>
      </p:sp>
      <p:sp>
        <p:nvSpPr>
          <p:cNvPr id="6" name="文本框 5">
            <a:extLst>
              <a:ext uri="{FF2B5EF4-FFF2-40B4-BE49-F238E27FC236}">
                <a16:creationId xmlns:a16="http://schemas.microsoft.com/office/drawing/2014/main" id="{2218765B-E3B3-3B53-9CDE-78F6BE64A7B9}"/>
              </a:ext>
            </a:extLst>
          </p:cNvPr>
          <p:cNvSpPr txBox="1"/>
          <p:nvPr/>
        </p:nvSpPr>
        <p:spPr>
          <a:xfrm>
            <a:off x="1536441" y="939282"/>
            <a:ext cx="9678913" cy="861774"/>
          </a:xfrm>
          <a:prstGeom prst="rect">
            <a:avLst/>
          </a:prstGeom>
          <a:noFill/>
        </p:spPr>
        <p:txBody>
          <a:bodyPr wrap="square" rtlCol="0">
            <a:spAutoFit/>
          </a:bodyPr>
          <a:lstStyle/>
          <a:p>
            <a:endParaRPr lang="en-US" altLang="zh-CN" dirty="0"/>
          </a:p>
          <a:p>
            <a:r>
              <a:rPr lang="ja-JP" altLang="en-US" sz="3200" dirty="0">
                <a:latin typeface="Yu Mincho" panose="02020400000000000000" pitchFamily="18" charset="-128"/>
                <a:ea typeface="Yu Mincho" panose="02020400000000000000" pitchFamily="18" charset="-128"/>
              </a:rPr>
              <a:t>先行研究（</a:t>
            </a:r>
            <a:r>
              <a:rPr lang="ja-JP" altLang="en-US" sz="3200" dirty="0"/>
              <a:t>アマゾン日米の比較）</a:t>
            </a:r>
            <a:endParaRPr lang="zh-CN" altLang="en-US" sz="3200" dirty="0"/>
          </a:p>
        </p:txBody>
      </p:sp>
      <p:cxnSp>
        <p:nvCxnSpPr>
          <p:cNvPr id="10" name="直接箭头连接符 9">
            <a:extLst>
              <a:ext uri="{FF2B5EF4-FFF2-40B4-BE49-F238E27FC236}">
                <a16:creationId xmlns:a16="http://schemas.microsoft.com/office/drawing/2014/main" id="{67013EEE-3DD7-346F-22EC-A109F09EC5A9}"/>
              </a:ext>
            </a:extLst>
          </p:cNvPr>
          <p:cNvCxnSpPr/>
          <p:nvPr/>
        </p:nvCxnSpPr>
        <p:spPr>
          <a:xfrm flipH="1">
            <a:off x="8568591" y="3541985"/>
            <a:ext cx="503853" cy="199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74E2A38B-E946-2CFB-3C5F-B6645D7AB1DB}"/>
              </a:ext>
            </a:extLst>
          </p:cNvPr>
          <p:cNvSpPr txBox="1"/>
          <p:nvPr/>
        </p:nvSpPr>
        <p:spPr>
          <a:xfrm>
            <a:off x="9119118" y="3381957"/>
            <a:ext cx="2096236" cy="307777"/>
          </a:xfrm>
          <a:prstGeom prst="rect">
            <a:avLst/>
          </a:prstGeom>
          <a:noFill/>
        </p:spPr>
        <p:txBody>
          <a:bodyPr wrap="square" rtlCol="0">
            <a:spAutoFit/>
          </a:bodyPr>
          <a:lstStyle/>
          <a:p>
            <a:r>
              <a:rPr lang="ja-JP" altLang="en-US" sz="1400" dirty="0">
                <a:solidFill>
                  <a:srgbClr val="FF0000"/>
                </a:solidFill>
              </a:rPr>
              <a:t>コントロールできない</a:t>
            </a:r>
            <a:endParaRPr lang="zh-CN" altLang="en-US" sz="1400" dirty="0">
              <a:solidFill>
                <a:srgbClr val="FF0000"/>
              </a:solidFill>
            </a:endParaRPr>
          </a:p>
        </p:txBody>
      </p:sp>
      <p:pic>
        <p:nvPicPr>
          <p:cNvPr id="16" name="图片 15">
            <a:extLst>
              <a:ext uri="{FF2B5EF4-FFF2-40B4-BE49-F238E27FC236}">
                <a16:creationId xmlns:a16="http://schemas.microsoft.com/office/drawing/2014/main" id="{AA75941D-D1D9-180C-1745-DAD8E5327208}"/>
              </a:ext>
            </a:extLst>
          </p:cNvPr>
          <p:cNvPicPr>
            <a:picLocks noChangeAspect="1"/>
          </p:cNvPicPr>
          <p:nvPr/>
        </p:nvPicPr>
        <p:blipFill>
          <a:blip r:embed="rId2"/>
          <a:stretch>
            <a:fillRect/>
          </a:stretch>
        </p:blipFill>
        <p:spPr>
          <a:xfrm>
            <a:off x="3268761" y="2153465"/>
            <a:ext cx="5253156" cy="2722826"/>
          </a:xfrm>
          <a:prstGeom prst="rect">
            <a:avLst/>
          </a:prstGeom>
        </p:spPr>
      </p:pic>
    </p:spTree>
    <p:extLst>
      <p:ext uri="{BB962C8B-B14F-4D97-AF65-F5344CB8AC3E}">
        <p14:creationId xmlns:p14="http://schemas.microsoft.com/office/powerpoint/2010/main" val="153786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13B9B-692A-4FFD-A9E6-8D739115B7CA}"/>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問題意識</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461FD1E8-330A-D4BE-5BC4-144746527E7E}"/>
              </a:ext>
            </a:extLst>
          </p:cNvPr>
          <p:cNvSpPr>
            <a:spLocks noGrp="1"/>
          </p:cNvSpPr>
          <p:nvPr>
            <p:ph idx="1"/>
          </p:nvPr>
        </p:nvSpPr>
        <p:spPr>
          <a:xfrm>
            <a:off x="1423587" y="1341649"/>
            <a:ext cx="9659257" cy="3197217"/>
          </a:xfrm>
        </p:spPr>
        <p:txBody>
          <a:bodyPr>
            <a:normAutofit lnSpcReduction="10000"/>
          </a:bodyPr>
          <a:lstStyle/>
          <a:p>
            <a:pPr marL="0" indent="0">
              <a:buNone/>
            </a:pPr>
            <a:endParaRPr lang="en-US" altLang="ja-JP" dirty="0"/>
          </a:p>
          <a:p>
            <a:pPr marL="0" indent="0">
              <a:buNone/>
            </a:pPr>
            <a:endParaRPr lang="en-US" altLang="ja-JP" sz="2800" dirty="0">
              <a:latin typeface="Yu Mincho" panose="02020400000000000000" pitchFamily="18" charset="-128"/>
              <a:ea typeface="Yu Mincho" panose="02020400000000000000" pitchFamily="18" charset="-128"/>
            </a:endParaRPr>
          </a:p>
          <a:p>
            <a:pPr marL="0" indent="0">
              <a:buNone/>
            </a:pPr>
            <a:r>
              <a:rPr lang="en-US" altLang="ja-JP" sz="2800" dirty="0">
                <a:latin typeface="Yu Mincho" panose="02020400000000000000" pitchFamily="18" charset="-128"/>
                <a:ea typeface="Yu Mincho" panose="02020400000000000000" pitchFamily="18" charset="-128"/>
              </a:rPr>
              <a:t>Amazon</a:t>
            </a:r>
            <a:r>
              <a:rPr lang="ja-JP" altLang="en-US" sz="2800" dirty="0">
                <a:latin typeface="Yu Mincho" panose="02020400000000000000" pitchFamily="18" charset="-128"/>
                <a:ea typeface="Yu Mincho" panose="02020400000000000000" pitchFamily="18" charset="-128"/>
              </a:rPr>
              <a:t>はなぜ，</a:t>
            </a:r>
            <a:r>
              <a:rPr lang="ja-JP" altLang="en-US" sz="2800" dirty="0">
                <a:solidFill>
                  <a:srgbClr val="00B050"/>
                </a:solidFill>
                <a:latin typeface="Yu Mincho" panose="02020400000000000000" pitchFamily="18" charset="-128"/>
                <a:ea typeface="Yu Mincho" panose="02020400000000000000" pitchFamily="18" charset="-128"/>
              </a:rPr>
              <a:t>アメリカでは自社配送を中心</a:t>
            </a:r>
            <a:r>
              <a:rPr lang="ja-JP" altLang="en-US" sz="2800" dirty="0">
                <a:latin typeface="Yu Mincho" panose="02020400000000000000" pitchFamily="18" charset="-128"/>
                <a:ea typeface="Yu Mincho" panose="02020400000000000000" pitchFamily="18" charset="-128"/>
              </a:rPr>
              <a:t>としたラストマイル配送体制を構築している一方で，</a:t>
            </a:r>
            <a:r>
              <a:rPr lang="ja-JP" altLang="en-US" sz="2800" dirty="0">
                <a:solidFill>
                  <a:srgbClr val="00B0F0"/>
                </a:solidFill>
                <a:latin typeface="Yu Mincho" panose="02020400000000000000" pitchFamily="18" charset="-128"/>
                <a:ea typeface="Yu Mincho" panose="02020400000000000000" pitchFamily="18" charset="-128"/>
              </a:rPr>
              <a:t>日本では外部配送事業者との連携</a:t>
            </a:r>
            <a:r>
              <a:rPr lang="ja-JP" altLang="en-US" sz="2800" dirty="0">
                <a:latin typeface="Yu Mincho" panose="02020400000000000000" pitchFamily="18" charset="-128"/>
                <a:ea typeface="Yu Mincho" panose="02020400000000000000" pitchFamily="18" charset="-128"/>
              </a:rPr>
              <a:t>を維持しながら，自社配送体制が拡大しているのか</a:t>
            </a:r>
            <a:r>
              <a:rPr lang="ja-JP" altLang="en-US" sz="2800" b="1" dirty="0"/>
              <a:t>。</a:t>
            </a:r>
            <a:endParaRPr lang="zh-CN" altLang="en-US" sz="2800" b="1" dirty="0">
              <a:latin typeface="Yu Mincho" panose="02020400000000000000" pitchFamily="18" charset="-128"/>
              <a:ea typeface="Yu Mincho" panose="02020400000000000000" pitchFamily="18" charset="-128"/>
            </a:endParaRPr>
          </a:p>
          <a:p>
            <a:pPr marL="0" indent="0">
              <a:buNone/>
            </a:pPr>
            <a:r>
              <a:rPr lang="en-US" altLang="ja-JP" sz="2800" dirty="0">
                <a:latin typeface="Yu Mincho" panose="02020400000000000000" pitchFamily="18" charset="-128"/>
                <a:ea typeface="Yu Mincho" panose="02020400000000000000" pitchFamily="18" charset="-128"/>
              </a:rPr>
              <a:t/>
            </a:r>
            <a:endParaRPr lang="zh-CN" altLang="en-US" sz="2800" b="1" dirty="0">
              <a:latin typeface="Yu Mincho" panose="02020400000000000000" pitchFamily="18" charset="-128"/>
              <a:ea typeface="Yu Mincho" panose="02020400000000000000" pitchFamily="18" charset="-128"/>
            </a:endParaRPr>
          </a:p>
          <a:p>
            <a:pPr marL="0" indent="0">
              <a:buNone/>
            </a:pPr>
            <a:r>
              <a:rPr lang="en-US" altLang="ja-JP" sz="2200" dirty="0">
                <a:latin typeface="Yu Mincho" panose="02020400000000000000" pitchFamily="18" charset="-128"/>
                <a:ea typeface="Yu Mincho" panose="02020400000000000000" pitchFamily="18" charset="-128"/>
              </a:rPr>
              <a:t>→ 取引費用論（外部委託か自社か）と標準化・現地適応論（共通化か現地対応か）の2つの視点から検討する。</a:t>
            </a:r>
            <a:endParaRPr lang="zh-CN" altLang="en-US" sz="2800" b="1" dirty="0">
              <a:latin typeface="Yu Mincho" panose="02020400000000000000" pitchFamily="18" charset="-128"/>
              <a:ea typeface="Yu Mincho" panose="02020400000000000000" pitchFamily="18" charset="-128"/>
            </a:endParaRPr>
          </a:p>
        </p:txBody>
      </p:sp>
      <p:sp>
        <p:nvSpPr>
          <p:cNvPr id="6" name="日期占位符 5">
            <a:extLst>
              <a:ext uri="{FF2B5EF4-FFF2-40B4-BE49-F238E27FC236}">
                <a16:creationId xmlns:a16="http://schemas.microsoft.com/office/drawing/2014/main" id="{515D0F17-706A-0C1A-6CB3-8B12186894AB}"/>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1A198CAD-FD62-0E84-5C57-63E52A8EB949}"/>
              </a:ext>
            </a:extLst>
          </p:cNvPr>
          <p:cNvSpPr>
            <a:spLocks noGrp="1"/>
          </p:cNvSpPr>
          <p:nvPr>
            <p:ph type="sldNum" sz="quarter" idx="12"/>
          </p:nvPr>
        </p:nvSpPr>
        <p:spPr/>
        <p:txBody>
          <a:bodyPr/>
          <a:lstStyle/>
          <a:p>
            <a:fld id="{4BAD8D06-E6E2-4C60-875F-3DB64B60E5CA}" type="slidenum">
              <a:rPr kumimoji="1" lang="ja-JP" altLang="en-US" smtClean="0"/>
              <a:t>13</a:t>
            </a:fld>
            <a:endParaRPr kumimoji="1" lang="ja-JP" altLang="en-US"/>
          </a:p>
        </p:txBody>
      </p:sp>
    </p:spTree>
    <p:extLst>
      <p:ext uri="{BB962C8B-B14F-4D97-AF65-F5344CB8AC3E}">
        <p14:creationId xmlns:p14="http://schemas.microsoft.com/office/powerpoint/2010/main" val="640666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F7E65-7596-5214-EB06-AA6BB953CB40}"/>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研究方法</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2566695C-9EF7-4DB4-2195-5B7EFB5331BC}"/>
              </a:ext>
            </a:extLst>
          </p:cNvPr>
          <p:cNvSpPr>
            <a:spLocks noGrp="1"/>
          </p:cNvSpPr>
          <p:nvPr>
            <p:ph idx="1"/>
          </p:nvPr>
        </p:nvSpPr>
        <p:spPr/>
        <p:txBody>
          <a:bodyPr>
            <a:normAutofit fontScale="92500" lnSpcReduction="20000"/>
          </a:bodyPr>
          <a:lstStyle/>
          <a:p>
            <a:pPr marL="0" indent="0">
              <a:buNone/>
            </a:pPr>
            <a:r>
              <a:rPr lang="ja-JP" altLang="en-US">
                <a:latin typeface="Yu Mincho" panose="02020400000000000000" pitchFamily="18" charset="-128"/>
                <a:ea typeface="Yu Mincho" panose="02020400000000000000" pitchFamily="18" charset="-128"/>
              </a:rPr>
              <a:t>                                                                </a:t>
            </a:r>
            <a:r>
              <a:rPr lang="ja-JP" altLang="en-US" b="1">
                <a:latin typeface="Yu Mincho" panose="02020400000000000000" pitchFamily="18" charset="-128"/>
                <a:ea typeface="Yu Mincho" panose="02020400000000000000" pitchFamily="18" charset="-128"/>
              </a:rPr>
              <a:t>定性研究</a:t>
            </a:r>
            <a:endParaRPr lang="en-US" altLang="ja-JP" b="1">
              <a:latin typeface="Yu Mincho" panose="02020400000000000000" pitchFamily="18" charset="-128"/>
              <a:ea typeface="Yu Mincho" panose="02020400000000000000" pitchFamily="18" charset="-128"/>
            </a:endParaRPr>
          </a:p>
          <a:p>
            <a:pPr marL="0" indent="0">
              <a:buNone/>
            </a:pPr>
            <a:r>
              <a:rPr lang="ja-JP" altLang="en-US">
                <a:latin typeface="Yu Mincho" panose="02020400000000000000" pitchFamily="18" charset="-128"/>
                <a:ea typeface="Yu Mincho" panose="02020400000000000000" pitchFamily="18" charset="-128"/>
              </a:rPr>
              <a:t>                                            文献研究法＋比較ケーススタディ</a:t>
            </a:r>
            <a:endParaRPr lang="en-US" altLang="ja-JP">
              <a:latin typeface="Yu Mincho" panose="02020400000000000000" pitchFamily="18" charset="-128"/>
              <a:ea typeface="Yu Mincho" panose="02020400000000000000" pitchFamily="18" charset="-128"/>
            </a:endParaRPr>
          </a:p>
          <a:p>
            <a:pPr marL="0" indent="0">
              <a:buNone/>
            </a:pPr>
            <a:endParaRPr lang="en-US" altLang="ja-JP">
              <a:latin typeface="Yu Mincho" panose="02020400000000000000" pitchFamily="18" charset="-128"/>
              <a:ea typeface="Yu Mincho" panose="02020400000000000000" pitchFamily="18" charset="-128"/>
            </a:endParaRPr>
          </a:p>
          <a:p>
            <a:pPr marL="0" indent="0">
              <a:buNone/>
            </a:pPr>
            <a:r>
              <a:rPr lang="en-US" altLang="ja-JP" sz="1400">
                <a:latin typeface="Yu Mincho" panose="02020400000000000000" pitchFamily="18" charset="-128"/>
                <a:ea typeface="Yu Mincho" panose="02020400000000000000" pitchFamily="18" charset="-128"/>
              </a:rPr>
              <a:t>                                               </a:t>
            </a:r>
            <a:r>
              <a:rPr lang="ja-JP" altLang="en-US" sz="1400">
                <a:latin typeface="Yu Mincho" panose="02020400000000000000" pitchFamily="18" charset="-128"/>
                <a:ea typeface="Yu Mincho" panose="02020400000000000000" pitchFamily="18" charset="-128"/>
              </a:rPr>
              <a:t>　　　　　　　　　</a:t>
            </a:r>
            <a:r>
              <a:rPr lang="en-US" altLang="ja-JP" sz="1400">
                <a:latin typeface="Yu Mincho" panose="02020400000000000000" pitchFamily="18" charset="-128"/>
                <a:ea typeface="Yu Mincho" panose="02020400000000000000" pitchFamily="18" charset="-128"/>
              </a:rPr>
              <a:t>( </a:t>
            </a:r>
            <a:r>
              <a:rPr lang="en-US" altLang="zh-CN" sz="1400">
                <a:latin typeface="Yu Mincho" panose="02020400000000000000" pitchFamily="18" charset="-128"/>
                <a:ea typeface="Yu Mincho" panose="02020400000000000000" pitchFamily="18" charset="-128"/>
              </a:rPr>
              <a:t>Amazon</a:t>
            </a:r>
            <a:r>
              <a:rPr lang="ja-JP" altLang="en-US" sz="1400">
                <a:latin typeface="Yu Mincho" panose="02020400000000000000" pitchFamily="18" charset="-128"/>
                <a:ea typeface="Yu Mincho" panose="02020400000000000000" pitchFamily="18" charset="-128"/>
              </a:rPr>
              <a:t>日本と</a:t>
            </a:r>
            <a:r>
              <a:rPr lang="en-US" altLang="zh-CN" sz="1400">
                <a:latin typeface="Yu Mincho" panose="02020400000000000000" pitchFamily="18" charset="-128"/>
                <a:ea typeface="Yu Mincho" panose="02020400000000000000" pitchFamily="18" charset="-128"/>
              </a:rPr>
              <a:t>Amazon</a:t>
            </a:r>
            <a:r>
              <a:rPr lang="ja-JP" altLang="en-US" sz="1400">
                <a:latin typeface="Yu Mincho" panose="02020400000000000000" pitchFamily="18" charset="-128"/>
                <a:ea typeface="Yu Mincho" panose="02020400000000000000" pitchFamily="18" charset="-128"/>
              </a:rPr>
              <a:t>アメリカとの比較）</a:t>
            </a:r>
            <a:endParaRPr lang="en-US" altLang="ja-JP" sz="1400">
              <a:latin typeface="Yu Mincho" panose="02020400000000000000" pitchFamily="18" charset="-128"/>
              <a:ea typeface="Yu Mincho" panose="02020400000000000000" pitchFamily="18" charset="-128"/>
            </a:endParaRPr>
          </a:p>
          <a:p>
            <a:pPr marL="0" indent="0">
              <a:buNone/>
            </a:pPr>
            <a:endParaRPr lang="en-US" altLang="ja-JP" sz="1400">
              <a:latin typeface="Yu Mincho" panose="02020400000000000000" pitchFamily="18" charset="-128"/>
              <a:ea typeface="Yu Mincho" panose="02020400000000000000" pitchFamily="18" charset="-128"/>
            </a:endParaRPr>
          </a:p>
          <a:p>
            <a:pPr marL="0" indent="0">
              <a:buNone/>
            </a:pPr>
            <a:r>
              <a:rPr lang="ja-JP" altLang="en-US" sz="1600">
                <a:latin typeface="Yu Mincho" panose="02020400000000000000" pitchFamily="18" charset="-128"/>
                <a:ea typeface="Yu Mincho" panose="02020400000000000000" pitchFamily="18" charset="-128"/>
              </a:rPr>
              <a:t>先行研究や</a:t>
            </a:r>
            <a:r>
              <a:rPr lang="en-US" altLang="ja-JP" sz="1600">
                <a:latin typeface="Yu Mincho" panose="02020400000000000000" pitchFamily="18" charset="-128"/>
                <a:ea typeface="Yu Mincho" panose="02020400000000000000" pitchFamily="18" charset="-128"/>
              </a:rPr>
              <a:t>Amazon</a:t>
            </a:r>
            <a:r>
              <a:rPr lang="ja-JP" altLang="en-US" sz="1600">
                <a:latin typeface="Yu Mincho" panose="02020400000000000000" pitchFamily="18" charset="-128"/>
                <a:ea typeface="Yu Mincho" panose="02020400000000000000" pitchFamily="18" charset="-128"/>
              </a:rPr>
              <a:t>の公開資料、業界レポートなどをもとに、</a:t>
            </a:r>
            <a:r>
              <a:rPr lang="en-US" altLang="ja-JP" sz="1600">
                <a:latin typeface="Yu Mincho" panose="02020400000000000000" pitchFamily="18" charset="-128"/>
                <a:ea typeface="Yu Mincho" panose="02020400000000000000" pitchFamily="18" charset="-128"/>
              </a:rPr>
              <a:t>Amazon</a:t>
            </a:r>
            <a:r>
              <a:rPr lang="ja-JP" altLang="en-US" sz="1600">
                <a:latin typeface="Yu Mincho" panose="02020400000000000000" pitchFamily="18" charset="-128"/>
                <a:ea typeface="Yu Mincho" panose="02020400000000000000" pitchFamily="18" charset="-128"/>
              </a:rPr>
              <a:t>の日米におけるラストマイル配送戦略を整理する。</a:t>
            </a:r>
            <a:endParaRPr lang="en-US" altLang="ja-JP" sz="1600">
              <a:latin typeface="Yu Mincho" panose="02020400000000000000" pitchFamily="18" charset="-128"/>
              <a:ea typeface="Yu Mincho" panose="02020400000000000000" pitchFamily="18" charset="-128"/>
            </a:endParaRPr>
          </a:p>
          <a:p>
            <a:pPr marL="0" indent="0">
              <a:buNone/>
            </a:pPr>
            <a:endParaRPr lang="ja-JP" altLang="en-US" sz="1600">
              <a:latin typeface="Yu Mincho" panose="02020400000000000000" pitchFamily="18" charset="-128"/>
              <a:ea typeface="Yu Mincho" panose="02020400000000000000" pitchFamily="18" charset="-128"/>
            </a:endParaRPr>
          </a:p>
          <a:p>
            <a:pPr marL="0" indent="0">
              <a:buNone/>
            </a:pPr>
            <a:r>
              <a:rPr lang="en-US" altLang="ja-JP" sz="1600">
                <a:latin typeface="Yu Mincho" panose="02020400000000000000" pitchFamily="18" charset="-128"/>
                <a:ea typeface="Yu Mincho" panose="02020400000000000000" pitchFamily="18" charset="-128"/>
              </a:rPr>
              <a:t>Amazon</a:t>
            </a:r>
            <a:r>
              <a:rPr lang="ja-JP" altLang="en-US" sz="1600">
                <a:latin typeface="Yu Mincho" panose="02020400000000000000" pitchFamily="18" charset="-128"/>
                <a:ea typeface="Yu Mincho" panose="02020400000000000000" pitchFamily="18" charset="-128"/>
              </a:rPr>
              <a:t>のアメリカと日本を比較対象とし，配送主体，配送ネットワーク，外部配送事業者との連携などの観点から比較分析を行い，両国の共通点と相違点，さらにその要因を明らかにする。</a:t>
            </a:r>
            <a:endParaRPr lang="zh-CN" altLang="en-US" sz="1600">
              <a:latin typeface="Yu Mincho" panose="02020400000000000000" pitchFamily="18" charset="-128"/>
              <a:ea typeface="Yu Mincho" panose="02020400000000000000" pitchFamily="18" charset="-128"/>
            </a:endParaRPr>
          </a:p>
          <a:p>
            <a:pPr marL="0" indent="0">
              <a:buNone/>
            </a:pPr>
            <a:r>
              <a:rPr lang="en-US" altLang="ja-JP" sz="1600">
                <a:latin typeface="Yu Mincho" panose="02020400000000000000" pitchFamily="18" charset="-128"/>
                <a:ea typeface="Yu Mincho" panose="02020400000000000000" pitchFamily="18" charset="-128"/>
              </a:rPr>
              <a:t>分析の視点：①配送主体（自社／外部）②配送ネットワーク ③外部事業者との連携 ④物流環境（インフラ・労働・国土）</a:t>
            </a:r>
            <a:endParaRPr lang="zh-CN" altLang="en-US" sz="1600">
              <a:latin typeface="Yu Mincho" panose="02020400000000000000" pitchFamily="18" charset="-128"/>
              <a:ea typeface="Yu Mincho" panose="02020400000000000000" pitchFamily="18" charset="-128"/>
            </a:endParaRPr>
          </a:p>
        </p:txBody>
      </p:sp>
      <p:sp>
        <p:nvSpPr>
          <p:cNvPr id="6" name="日期占位符 5">
            <a:extLst>
              <a:ext uri="{FF2B5EF4-FFF2-40B4-BE49-F238E27FC236}">
                <a16:creationId xmlns:a16="http://schemas.microsoft.com/office/drawing/2014/main" id="{AF914612-1642-7F60-E575-35BFC3970B39}"/>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69786983-7C4A-6938-981F-C1971B8E6F66}"/>
              </a:ext>
            </a:extLst>
          </p:cNvPr>
          <p:cNvSpPr>
            <a:spLocks noGrp="1"/>
          </p:cNvSpPr>
          <p:nvPr>
            <p:ph type="sldNum" sz="quarter" idx="12"/>
          </p:nvPr>
        </p:nvSpPr>
        <p:spPr/>
        <p:txBody>
          <a:bodyPr/>
          <a:lstStyle/>
          <a:p>
            <a:fld id="{4BAD8D06-E6E2-4C60-875F-3DB64B60E5CA}" type="slidenum">
              <a:rPr kumimoji="1" lang="ja-JP" altLang="en-US" smtClean="0"/>
              <a:t>14</a:t>
            </a:fld>
            <a:endParaRPr kumimoji="1" lang="ja-JP" altLang="en-US"/>
          </a:p>
        </p:txBody>
      </p:sp>
      <p:sp>
        <p:nvSpPr>
          <p:cNvPr id="4" name="箭头: 下 3">
            <a:extLst>
              <a:ext uri="{FF2B5EF4-FFF2-40B4-BE49-F238E27FC236}">
                <a16:creationId xmlns:a16="http://schemas.microsoft.com/office/drawing/2014/main" id="{C6908F64-2F36-6CE0-959C-369D07563D64}"/>
              </a:ext>
            </a:extLst>
          </p:cNvPr>
          <p:cNvSpPr/>
          <p:nvPr/>
        </p:nvSpPr>
        <p:spPr>
          <a:xfrm>
            <a:off x="6817567" y="2817845"/>
            <a:ext cx="429208" cy="404327"/>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984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arn(inVertical)">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 calcmode="lin" valueType="num">
                                      <p:cBhvr>
                                        <p:cTn id="26"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28" dur="500"/>
                                        <p:tgtEl>
                                          <p:spTgt spid="3">
                                            <p:txEl>
                                              <p:pRg st="5" end="5"/>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p:cTn id="31"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D28CF-C681-C4E8-201F-EAD9CDE71109}"/>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結論の方向性</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63A1F0B4-389D-38E1-E3F8-D5AA94A98488}"/>
              </a:ext>
            </a:extLst>
          </p:cNvPr>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sp>
        <p:nvSpPr>
          <p:cNvPr id="6" name="日期占位符 5">
            <a:extLst>
              <a:ext uri="{FF2B5EF4-FFF2-40B4-BE49-F238E27FC236}">
                <a16:creationId xmlns:a16="http://schemas.microsoft.com/office/drawing/2014/main" id="{7B172073-A9CE-0936-D159-1EF51C15375A}"/>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2E8128BA-8FD0-89AF-404D-B8EA6A3992AF}"/>
              </a:ext>
            </a:extLst>
          </p:cNvPr>
          <p:cNvSpPr>
            <a:spLocks noGrp="1"/>
          </p:cNvSpPr>
          <p:nvPr>
            <p:ph type="sldNum" sz="quarter" idx="12"/>
          </p:nvPr>
        </p:nvSpPr>
        <p:spPr/>
        <p:txBody>
          <a:bodyPr/>
          <a:lstStyle/>
          <a:p>
            <a:fld id="{4BAD8D06-E6E2-4C60-875F-3DB64B60E5CA}" type="slidenum">
              <a:rPr kumimoji="1" lang="ja-JP" altLang="en-US" smtClean="0"/>
              <a:t>15</a:t>
            </a:fld>
            <a:endParaRPr kumimoji="1" lang="ja-JP" altLang="en-US"/>
          </a:p>
        </p:txBody>
      </p:sp>
      <p:pic>
        <p:nvPicPr>
          <p:cNvPr id="5" name="图片 4">
            <a:extLst>
              <a:ext uri="{FF2B5EF4-FFF2-40B4-BE49-F238E27FC236}">
                <a16:creationId xmlns:a16="http://schemas.microsoft.com/office/drawing/2014/main" id="{0219B5BE-6794-F6D2-51D7-F2124EC82DD2}"/>
              </a:ext>
            </a:extLst>
          </p:cNvPr>
          <p:cNvPicPr>
            <a:picLocks noChangeAspect="1"/>
          </p:cNvPicPr>
          <p:nvPr/>
        </p:nvPicPr>
        <p:blipFill>
          <a:blip r:embed="rId2"/>
          <a:stretch>
            <a:fillRect/>
          </a:stretch>
        </p:blipFill>
        <p:spPr>
          <a:xfrm>
            <a:off x="1451579" y="2015732"/>
            <a:ext cx="5853174" cy="2177834"/>
          </a:xfrm>
          <a:prstGeom prst="rect">
            <a:avLst/>
          </a:prstGeom>
        </p:spPr>
      </p:pic>
      <p:sp>
        <p:nvSpPr>
          <p:cNvPr id="4" name="文本框 3">
            <a:extLst>
              <a:ext uri="{FF2B5EF4-FFF2-40B4-BE49-F238E27FC236}">
                <a16:creationId xmlns:a16="http://schemas.microsoft.com/office/drawing/2014/main" id="{BCA4FE09-4095-A261-7279-CE2BA9A7FFEB}"/>
              </a:ext>
            </a:extLst>
          </p:cNvPr>
          <p:cNvSpPr txBox="1"/>
          <p:nvPr/>
        </p:nvSpPr>
        <p:spPr>
          <a:xfrm>
            <a:off x="7763069" y="2088986"/>
            <a:ext cx="3682481" cy="2031325"/>
          </a:xfrm>
          <a:prstGeom prst="rect">
            <a:avLst/>
          </a:prstGeom>
          <a:noFill/>
        </p:spPr>
        <p:txBody>
          <a:bodyPr wrap="square" rtlCol="0">
            <a:spAutoFit/>
          </a:bodyPr>
          <a:lstStyle/>
          <a:p>
            <a:r>
              <a:rPr lang="ja-JP" altLang="en-US" dirty="0">
                <a:solidFill>
                  <a:srgbClr val="FF0000"/>
                </a:solidFill>
                <a:latin typeface="Yu Mincho" panose="02020400000000000000" pitchFamily="18" charset="-128"/>
                <a:ea typeface="Yu Mincho" panose="02020400000000000000" pitchFamily="18" charset="-128"/>
              </a:rPr>
              <a:t>物流環境の違い</a:t>
            </a:r>
          </a:p>
          <a:p>
            <a:r>
              <a:rPr lang="ja-JP" altLang="en-US" dirty="0">
                <a:solidFill>
                  <a:srgbClr val="FF0000"/>
                </a:solidFill>
                <a:latin typeface="Yu Mincho" panose="02020400000000000000" pitchFamily="18" charset="-128"/>
                <a:ea typeface="Yu Mincho" panose="02020400000000000000" pitchFamily="18" charset="-128"/>
              </a:rPr>
              <a:t>　　　↓</a:t>
            </a:r>
          </a:p>
          <a:p>
            <a:endParaRPr lang="ja-JP" altLang="en-US" dirty="0">
              <a:solidFill>
                <a:srgbClr val="FF0000"/>
              </a:solidFill>
              <a:latin typeface="Yu Mincho" panose="02020400000000000000" pitchFamily="18" charset="-128"/>
              <a:ea typeface="Yu Mincho" panose="02020400000000000000" pitchFamily="18" charset="-128"/>
            </a:endParaRPr>
          </a:p>
          <a:p>
            <a:r>
              <a:rPr lang="ja-JP" altLang="en-US" dirty="0">
                <a:solidFill>
                  <a:srgbClr val="FF0000"/>
                </a:solidFill>
                <a:latin typeface="Yu Mincho" panose="02020400000000000000" pitchFamily="18" charset="-128"/>
                <a:ea typeface="Yu Mincho" panose="02020400000000000000" pitchFamily="18" charset="-128"/>
              </a:rPr>
              <a:t>外部依頼程度の違い</a:t>
            </a:r>
          </a:p>
          <a:p>
            <a:r>
              <a:rPr lang="ja-JP" altLang="en-US" dirty="0">
                <a:solidFill>
                  <a:srgbClr val="FF0000"/>
                </a:solidFill>
                <a:latin typeface="Yu Mincho" panose="02020400000000000000" pitchFamily="18" charset="-128"/>
                <a:ea typeface="Yu Mincho" panose="02020400000000000000" pitchFamily="18" charset="-128"/>
              </a:rPr>
              <a:t>　　　↓</a:t>
            </a:r>
          </a:p>
          <a:p>
            <a:endParaRPr lang="ja-JP" altLang="en-US" dirty="0">
              <a:solidFill>
                <a:srgbClr val="FF0000"/>
              </a:solidFill>
              <a:latin typeface="Yu Mincho" panose="02020400000000000000" pitchFamily="18" charset="-128"/>
              <a:ea typeface="Yu Mincho" panose="02020400000000000000" pitchFamily="18" charset="-128"/>
            </a:endParaRPr>
          </a:p>
          <a:p>
            <a:r>
              <a:rPr lang="ja-JP" altLang="en-US" dirty="0">
                <a:solidFill>
                  <a:srgbClr val="FF0000"/>
                </a:solidFill>
                <a:latin typeface="Yu Mincho" panose="02020400000000000000" pitchFamily="18" charset="-128"/>
                <a:ea typeface="Yu Mincho" panose="02020400000000000000" pitchFamily="18" charset="-128"/>
              </a:rPr>
              <a:t>ラストマイル配送戦略の違い</a:t>
            </a:r>
          </a:p>
        </p:txBody>
      </p:sp>
      <p:sp>
        <p:nvSpPr>
          <p:cNvPr id="7" name="文本框 6">
            <a:extLst>
              <a:ext uri="{FF2B5EF4-FFF2-40B4-BE49-F238E27FC236}">
                <a16:creationId xmlns:a16="http://schemas.microsoft.com/office/drawing/2014/main" id="{140FC1C5-788D-4E7C-9C83-A09887D38F13}"/>
              </a:ext>
            </a:extLst>
          </p:cNvPr>
          <p:cNvSpPr txBox="1"/>
          <p:nvPr/>
        </p:nvSpPr>
        <p:spPr>
          <a:xfrm>
            <a:off x="871564" y="5004247"/>
            <a:ext cx="10183289" cy="646331"/>
          </a:xfrm>
          <a:prstGeom prst="rect">
            <a:avLst/>
          </a:prstGeom>
          <a:noFill/>
        </p:spPr>
        <p:txBody>
          <a:bodyPr wrap="square" rtlCol="0">
            <a:spAutoFit/>
          </a:bodyPr>
          <a:lstStyle/>
          <a:p>
            <a:r>
              <a:rPr lang="ja-JP" altLang="en-US" dirty="0">
                <a:latin typeface="Yu Mincho" panose="02020400000000000000" pitchFamily="18" charset="-128"/>
                <a:ea typeface="Yu Mincho" panose="02020400000000000000" pitchFamily="18" charset="-128"/>
              </a:rPr>
              <a:t>【仮説】日本とアメリカでは物流環境が異なるため、Amazonは配送の仕組みを共通化しつつ、ラストマイル配送では国ごとに異なる現地適応型の戦略を採用していると考えられる。</a:t>
            </a:r>
            <a:endParaRPr lang="zh-CN" altLang="en-US" dirty="0">
              <a:latin typeface="Yu Mincho" panose="02020400000000000000" pitchFamily="18" charset="-128"/>
              <a:ea typeface="Yu Mincho" panose="02020400000000000000" pitchFamily="18" charset="-128"/>
            </a:endParaRPr>
          </a:p>
        </p:txBody>
      </p:sp>
      <p:sp>
        <p:nvSpPr>
          <p:cNvPr id="21" name="TextBox 20"/>
          <p:cNvSpPr txBox="1"/>
          <p:nvPr/>
        </p:nvSpPr>
        <p:spPr>
          <a:xfrm>
            <a:off x="871564" y="5700000"/>
            <a:ext cx="10183289" cy="420000"/>
          </a:xfrm>
          <a:prstGeom prst="rect">
            <a:avLst/>
          </a:prstGeom>
          <a:noFill/>
        </p:spPr>
        <p:txBody>
          <a:bodyPr wrap="square">
            <a:spAutoFit/>
          </a:bodyPr>
          <a:lstStyle/>
          <a:p>
            <a:r>
              <a:rPr sz="1200">
                <a:latin typeface="Yu Mincho"/>
              </a:rPr>
              <a:t>参考：Amazonの物流センター網を対象に、密度の経済を分析した研究がある（Houde et al., 2023）。</a:t>
            </a:r>
          </a:p>
        </p:txBody>
      </p:sp>
    </p:spTree>
    <p:extLst>
      <p:ext uri="{BB962C8B-B14F-4D97-AF65-F5344CB8AC3E}">
        <p14:creationId xmlns:p14="http://schemas.microsoft.com/office/powerpoint/2010/main" val="125616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37ADF-3C78-51FD-1577-2CED46E6CBBE}"/>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研究意義</a:t>
            </a:r>
            <a:endParaRPr lang="zh-CN" altLang="en-US"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6FBD8B19-9EB9-651C-B6DB-FAF05F96CA8A}"/>
              </a:ext>
            </a:extLst>
          </p:cNvPr>
          <p:cNvSpPr>
            <a:spLocks noGrp="1"/>
          </p:cNvSpPr>
          <p:nvPr>
            <p:ph idx="1"/>
          </p:nvPr>
        </p:nvSpPr>
        <p:spPr>
          <a:xfrm>
            <a:off x="1451579" y="2015732"/>
            <a:ext cx="10740421" cy="4403729"/>
          </a:xfrm>
        </p:spPr>
        <p:txBody>
          <a:bodyPr>
            <a:normAutofit/>
          </a:bodyPr>
          <a:lstStyle/>
          <a:p>
            <a:r>
              <a:rPr lang="ja-JP" altLang="en-US" b="1" dirty="0">
                <a:latin typeface="Yu Mincho" panose="02020400000000000000" pitchFamily="18" charset="-128"/>
                <a:ea typeface="Yu Mincho" panose="02020400000000000000" pitchFamily="18" charset="-128"/>
              </a:rPr>
              <a:t>学術的意義</a:t>
            </a:r>
            <a:endParaRPr lang="en-US" altLang="ja-JP" b="1"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日米配送戦略の比較研究を補完する。</a:t>
            </a:r>
            <a:endParaRPr lang="en-US" altLang="ja-JP"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物流環境がラストマイル戦略に与える影響を明らかにする 。</a:t>
            </a:r>
            <a:endParaRPr lang="en-US" altLang="ja-JP" dirty="0">
              <a:latin typeface="Yu Mincho" panose="02020400000000000000" pitchFamily="18" charset="-128"/>
              <a:ea typeface="Yu Mincho" panose="02020400000000000000" pitchFamily="18" charset="-128"/>
            </a:endParaRPr>
          </a:p>
          <a:p>
            <a:pPr marL="0" indent="0">
              <a:buNone/>
            </a:pP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実務的意義</a:t>
            </a:r>
            <a:endParaRPr lang="en-US" altLang="ja-JP" b="1"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a:t>
            </a:r>
            <a:r>
              <a:rPr lang="en-US" altLang="ja-JP" dirty="0">
                <a:latin typeface="Yu Mincho" panose="02020400000000000000" pitchFamily="18" charset="-128"/>
                <a:ea typeface="Yu Mincho" panose="02020400000000000000" pitchFamily="18" charset="-128"/>
              </a:rPr>
              <a:t>EC</a:t>
            </a:r>
            <a:r>
              <a:rPr lang="ja-JP" altLang="en-US" dirty="0">
                <a:latin typeface="Yu Mincho" panose="02020400000000000000" pitchFamily="18" charset="-128"/>
                <a:ea typeface="Yu Mincho" panose="02020400000000000000" pitchFamily="18" charset="-128"/>
              </a:rPr>
              <a:t>企業の海外物流戦略に示唆を提供する 。</a:t>
            </a:r>
          </a:p>
          <a:p>
            <a:pPr marL="0" indent="0">
              <a:buNone/>
            </a:pPr>
            <a:r>
              <a:rPr lang="ja-JP" altLang="en-US" dirty="0">
                <a:latin typeface="Yu Mincho" panose="02020400000000000000" pitchFamily="18" charset="-128"/>
                <a:ea typeface="Yu Mincho" panose="02020400000000000000" pitchFamily="18" charset="-128"/>
              </a:rPr>
              <a:t>　各国の物流環境に応じた配送体制の構築に貢献する。</a:t>
            </a:r>
            <a:endParaRPr lang="en-US" altLang="ja-JP" dirty="0">
              <a:latin typeface="Yu Mincho" panose="02020400000000000000" pitchFamily="18" charset="-128"/>
              <a:ea typeface="Yu Mincho" panose="02020400000000000000" pitchFamily="18" charset="-128"/>
            </a:endParaRPr>
          </a:p>
          <a:p>
            <a:endParaRPr lang="ja-JP" altLang="en-US" b="1" dirty="0">
              <a:latin typeface="Yu Mincho" panose="02020400000000000000" pitchFamily="18" charset="-128"/>
              <a:ea typeface="Yu Mincho" panose="02020400000000000000" pitchFamily="18" charset="-128"/>
            </a:endParaRPr>
          </a:p>
          <a:p>
            <a:endParaRPr lang="ja-JP" altLang="en-US" dirty="0">
              <a:latin typeface="Yu Mincho" panose="02020400000000000000" pitchFamily="18" charset="-128"/>
              <a:ea typeface="Yu Mincho" panose="02020400000000000000" pitchFamily="18" charset="-128"/>
            </a:endParaRPr>
          </a:p>
          <a:p>
            <a:pPr marL="0" indent="0">
              <a:buNone/>
            </a:pPr>
            <a:endParaRPr lang="en-US" altLang="ja-JP" dirty="0"/>
          </a:p>
        </p:txBody>
      </p:sp>
      <p:sp>
        <p:nvSpPr>
          <p:cNvPr id="6" name="日期占位符 5">
            <a:extLst>
              <a:ext uri="{FF2B5EF4-FFF2-40B4-BE49-F238E27FC236}">
                <a16:creationId xmlns:a16="http://schemas.microsoft.com/office/drawing/2014/main" id="{405B9197-CD3E-1412-9550-07116BD09F65}"/>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95960A0B-B70C-C5BF-6C51-E2B6C7B6A9F7}"/>
              </a:ext>
            </a:extLst>
          </p:cNvPr>
          <p:cNvSpPr>
            <a:spLocks noGrp="1"/>
          </p:cNvSpPr>
          <p:nvPr>
            <p:ph type="sldNum" sz="quarter" idx="12"/>
          </p:nvPr>
        </p:nvSpPr>
        <p:spPr/>
        <p:txBody>
          <a:bodyPr/>
          <a:lstStyle/>
          <a:p>
            <a:fld id="{4BAD8D06-E6E2-4C60-875F-3DB64B60E5CA}" type="slidenum">
              <a:rPr kumimoji="1" lang="ja-JP" altLang="en-US" smtClean="0"/>
              <a:t>16</a:t>
            </a:fld>
            <a:endParaRPr kumimoji="1" lang="ja-JP" altLang="en-US"/>
          </a:p>
        </p:txBody>
      </p:sp>
    </p:spTree>
    <p:extLst>
      <p:ext uri="{BB962C8B-B14F-4D97-AF65-F5344CB8AC3E}">
        <p14:creationId xmlns:p14="http://schemas.microsoft.com/office/powerpoint/2010/main" val="26613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9" dur="500"/>
                                        <p:tgtEl>
                                          <p:spTgt spid="3">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2F057-DD81-C416-F934-43274A8165E1}"/>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論文の目次（仮）</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CD15AADC-83E7-A7E6-C3EB-6F2738DE4F37}"/>
              </a:ext>
            </a:extLst>
          </p:cNvPr>
          <p:cNvSpPr>
            <a:spLocks noGrp="1"/>
          </p:cNvSpPr>
          <p:nvPr>
            <p:ph idx="1"/>
          </p:nvPr>
        </p:nvSpPr>
        <p:spPr/>
        <p:txBody>
          <a:bodyPr/>
          <a:lstStyle/>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1</a:t>
            </a:r>
            <a:r>
              <a:rPr lang="ja-JP" altLang="en-US" b="1" dirty="0">
                <a:latin typeface="Yu Mincho" panose="02020400000000000000" pitchFamily="18" charset="-128"/>
                <a:ea typeface="Yu Mincho" panose="02020400000000000000" pitchFamily="18" charset="-128"/>
              </a:rPr>
              <a:t>章　序論</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2</a:t>
            </a:r>
            <a:r>
              <a:rPr lang="ja-JP" altLang="en-US" b="1" dirty="0">
                <a:latin typeface="Yu Mincho" panose="02020400000000000000" pitchFamily="18" charset="-128"/>
                <a:ea typeface="Yu Mincho" panose="02020400000000000000" pitchFamily="18" charset="-128"/>
              </a:rPr>
              <a:t>章　先行研究</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3</a:t>
            </a:r>
            <a:r>
              <a:rPr lang="ja-JP" altLang="en-US" b="1" dirty="0">
                <a:latin typeface="Yu Mincho" panose="02020400000000000000" pitchFamily="18" charset="-128"/>
                <a:ea typeface="Yu Mincho" panose="02020400000000000000" pitchFamily="18" charset="-128"/>
              </a:rPr>
              <a:t>章　</a:t>
            </a:r>
            <a:r>
              <a:rPr lang="en-US" altLang="ja-JP" b="1" dirty="0">
                <a:latin typeface="Yu Mincho" panose="02020400000000000000" pitchFamily="18" charset="-128"/>
                <a:ea typeface="Yu Mincho" panose="02020400000000000000" pitchFamily="18" charset="-128"/>
              </a:rPr>
              <a:t>Amazon</a:t>
            </a:r>
            <a:r>
              <a:rPr lang="ja-JP" altLang="en-US" b="1" dirty="0">
                <a:latin typeface="Yu Mincho" panose="02020400000000000000" pitchFamily="18" charset="-128"/>
                <a:ea typeface="Yu Mincho" panose="02020400000000000000" pitchFamily="18" charset="-128"/>
              </a:rPr>
              <a:t>の日米におけるラストマイル配送の現状</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4</a:t>
            </a:r>
            <a:r>
              <a:rPr lang="ja-JP" altLang="en-US" b="1" dirty="0">
                <a:latin typeface="Yu Mincho" panose="02020400000000000000" pitchFamily="18" charset="-128"/>
                <a:ea typeface="Yu Mincho" panose="02020400000000000000" pitchFamily="18" charset="-128"/>
              </a:rPr>
              <a:t>章　日米ラストマイル配送戦略の比較分析</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5</a:t>
            </a:r>
            <a:r>
              <a:rPr lang="ja-JP" altLang="en-US" b="1" dirty="0">
                <a:latin typeface="Yu Mincho" panose="02020400000000000000" pitchFamily="18" charset="-128"/>
                <a:ea typeface="Yu Mincho" panose="02020400000000000000" pitchFamily="18" charset="-128"/>
              </a:rPr>
              <a:t>章　フルフィルメント戦略の視点からの考察</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6</a:t>
            </a:r>
            <a:r>
              <a:rPr lang="ja-JP" altLang="en-US" b="1" dirty="0">
                <a:latin typeface="Yu Mincho" panose="02020400000000000000" pitchFamily="18" charset="-128"/>
                <a:ea typeface="Yu Mincho" panose="02020400000000000000" pitchFamily="18" charset="-128"/>
              </a:rPr>
              <a:t>章　結論</a:t>
            </a:r>
            <a:endParaRPr lang="ja-JP" altLang="en-US" dirty="0">
              <a:latin typeface="Yu Mincho" panose="02020400000000000000" pitchFamily="18" charset="-128"/>
              <a:ea typeface="Yu Mincho" panose="02020400000000000000" pitchFamily="18" charset="-128"/>
            </a:endParaRPr>
          </a:p>
          <a:p>
            <a:endParaRPr lang="zh-CN" altLang="en-US" dirty="0"/>
          </a:p>
        </p:txBody>
      </p:sp>
      <p:sp>
        <p:nvSpPr>
          <p:cNvPr id="4" name="日期占位符 3">
            <a:extLst>
              <a:ext uri="{FF2B5EF4-FFF2-40B4-BE49-F238E27FC236}">
                <a16:creationId xmlns:a16="http://schemas.microsoft.com/office/drawing/2014/main" id="{1953755F-4F4F-839D-980D-671D84F6CF02}"/>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C98F9A46-394C-40A8-C08F-8F4E1D627888}"/>
              </a:ext>
            </a:extLst>
          </p:cNvPr>
          <p:cNvSpPr>
            <a:spLocks noGrp="1"/>
          </p:cNvSpPr>
          <p:nvPr>
            <p:ph type="sldNum" sz="quarter" idx="12"/>
          </p:nvPr>
        </p:nvSpPr>
        <p:spPr/>
        <p:txBody>
          <a:bodyPr/>
          <a:lstStyle/>
          <a:p>
            <a:fld id="{4BAD8D06-E6E2-4C60-875F-3DB64B60E5CA}" type="slidenum">
              <a:rPr kumimoji="1" lang="ja-JP" altLang="en-US" smtClean="0"/>
              <a:t>17</a:t>
            </a:fld>
            <a:endParaRPr kumimoji="1" lang="ja-JP" altLang="en-US"/>
          </a:p>
        </p:txBody>
      </p:sp>
    </p:spTree>
    <p:extLst>
      <p:ext uri="{BB962C8B-B14F-4D97-AF65-F5344CB8AC3E}">
        <p14:creationId xmlns:p14="http://schemas.microsoft.com/office/powerpoint/2010/main" val="369134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ACDECC-22BB-8323-5BAF-2B5348316E34}"/>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参考文献</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F1AD5F41-C38E-3028-A298-7C13611C1B46}"/>
              </a:ext>
            </a:extLst>
          </p:cNvPr>
          <p:cNvSpPr>
            <a:spLocks noGrp="1"/>
          </p:cNvSpPr>
          <p:nvPr>
            <p:ph idx="1"/>
          </p:nvPr>
        </p:nvSpPr>
        <p:spPr>
          <a:xfrm>
            <a:off x="1451579" y="1900000"/>
            <a:ext cx="9603275" cy="4850000"/>
          </a:xfrm>
        </p:spPr>
        <p:txBody>
          <a:bodyPr>
            <a:normAutofit/>
          </a:bodyPr>
          <a:lstStyle/>
          <a:p>
            <a:pPr marL="0" indent="0">
              <a:buNone/>
            </a:pPr>
            <a:r>
              <a:rPr lang="ja-JP" altLang="en-US" sz="900" dirty="0">
                <a:latin typeface="Yu Mincho" panose="02020400000000000000" pitchFamily="18" charset="-128"/>
                <a:ea typeface="Yu Mincho" panose="02020400000000000000" pitchFamily="18" charset="-128"/>
              </a:rPr>
              <a:t>齊藤実（2021）「E コマース時代におけるアマゾンの物流戦略」 『経済貿易研究: 研究所年報』神奈川大学経済貿易研究所、47、pp.39-62。</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丁明（2022）「電子商取引における顧客満足要因 -店舗型小売業における顧客満足要因との比較-」『経営学研究論集』明治大学大学院、56、pp.21-38。</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丁明（2023）「電子商取引におけるフルフィルメントが顧客満足に与える影響-文献レビュー- 」『経営学研究論集』明治大学大学院、59、pp.1-16。</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丁明（2026）「ラストマイル配送における情報品質が顧客満足と再利用意向に与える影響」『流通研究』日本商業学会、29 (1)、pp.39-52。</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小嵜秀信（2025）「日本政府が目指すフィジカルインターネットでラストマイル配送が変わる」『流通ネットワーキング』東京 : 日本工業出版、349、 pp.45-49。</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林克彦（2020）「宅配危機からネット通販物流革新へ」『計画行政』一般財団法人日本計画行政学会、43（2）、pp.9-14。</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林部健二（2017）『なぜアマゾンは「今日中」にモノが届くのか : 続々と新サービスを打ち出すアマゾンの本当の強さの秘密とは』プチ・レトル株式会社。</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楠田康之（2021）「オムニチャネル,フルフィルメントおよびダイナミック・プライシングに関する一考察」『日本福祉大学経済論集』日本福祉大学経済学会、62 、pp.267-291。</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宮武宏輔（2022）「日中間の越境 EC に関する現状と展望」 『流通経済大学流通情報学部紀要』流通経済大学、26 (2)、pp.275-285。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劉亜氷（2024）「ネット通販のラストマイル配送における置き配拡大の可能性」『日本物流学会誌』東京 : 日本物流学会、 32、 pp.71-78 。</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日本交通政策研究会（2024）「ラストマイルを担う貨物軽自動車運送業者と宅配便事業者のネットワーク再編に関する研究」日交研シリーズ A-917。https://www.nikkoken.or.jp/pdf/project/2024/A-917.pdf</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アマゾンジャパン（2024）「Amazonが2024年の日本のラストワンマイル配送に250億円以上の追加投資を発表」About Amazon Japan。https://www.aboutamazon.jp/news/activities-of-amazon-japan/amazon-japan-to-invest-an-additional-25-billion-yen-towards-last-mile-delivery-innovation-and-driver-experience（閲覧日：2026年9月29日）</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Bartlett, C. A. &amp; Ghoshal, S. (1989) Managing Across Borders: The Transnational Solution, Harvard Business School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Coase, R. H. (1937) “The Nature of the Firm,” Economica, 4(16), pp.386-405.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Ghemawat, P. (2007) Redefining Global Strategy: Crossing Borders in a World Where Differences Still Matter, Harvard Business School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Houde, J.-F., Newberry, P. &amp; Seim, K. (2023) “Nexus Tax Laws and Economies of Density in E-Commerce: A Study of Amazon’s Fulfillment Center Network,” Econometrica, 91(1), pp.147-190.</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Pitney Bowes, Parcel Shipping Index (various years). https://www.pitneybowes.com/us/shipping-index.html</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Prahalad, C. K. &amp; Doz, Y. L. (1987) The Multinational Mission: Balancing Local Demands and Global Vision, Free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Wang, L., Rabinovich, E. &amp; Guda, H. (2023) “An analysis of operating efficiency and policy implications in last-mile transportation following Amazon’s integration,” Journal of Operations Management, 69(1), pp.9-35.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Williamson, O. E. (1975) Markets and Hierarchies: Analysis and Antitrust Implications, Free Press.</a:t>
            </a:r>
            <a:endParaRPr lang="en-US" altLang="ja-JP" sz="1100" dirty="0">
              <a:latin typeface="Yu Mincho" panose="02020400000000000000" pitchFamily="18" charset="-128"/>
              <a:ea typeface="Yu Mincho" panose="02020400000000000000" pitchFamily="18" charset="-128"/>
            </a:endParaRPr>
          </a:p>
        </p:txBody>
      </p:sp>
      <p:sp>
        <p:nvSpPr>
          <p:cNvPr id="4" name="日期占位符 3">
            <a:extLst>
              <a:ext uri="{FF2B5EF4-FFF2-40B4-BE49-F238E27FC236}">
                <a16:creationId xmlns:a16="http://schemas.microsoft.com/office/drawing/2014/main" id="{601C4725-AB25-4E65-E932-662FC2228824}"/>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2FB676B0-9EE4-A757-1EFC-049A17B56A6C}"/>
              </a:ext>
            </a:extLst>
          </p:cNvPr>
          <p:cNvSpPr>
            <a:spLocks noGrp="1"/>
          </p:cNvSpPr>
          <p:nvPr>
            <p:ph type="sldNum" sz="quarter" idx="12"/>
          </p:nvPr>
        </p:nvSpPr>
        <p:spPr/>
        <p:txBody>
          <a:bodyPr/>
          <a:lstStyle/>
          <a:p>
            <a:fld id="{4BAD8D06-E6E2-4C60-875F-3DB64B60E5CA}" type="slidenum">
              <a:rPr kumimoji="1" lang="ja-JP" altLang="en-US" smtClean="0"/>
              <a:t>18</a:t>
            </a:fld>
            <a:endParaRPr kumimoji="1" lang="ja-JP" altLang="en-US"/>
          </a:p>
        </p:txBody>
      </p:sp>
    </p:spTree>
    <p:extLst>
      <p:ext uri="{BB962C8B-B14F-4D97-AF65-F5344CB8AC3E}">
        <p14:creationId xmlns:p14="http://schemas.microsoft.com/office/powerpoint/2010/main" val="2453989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C9E8D8F-467B-1CCF-FA36-B42B8AD8DE20}"/>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3853FD80-BFD2-98FB-2F00-24A11B2E0ECB}"/>
              </a:ext>
            </a:extLst>
          </p:cNvPr>
          <p:cNvSpPr>
            <a:spLocks noGrp="1"/>
          </p:cNvSpPr>
          <p:nvPr>
            <p:ph type="sldNum" sz="quarter" idx="12"/>
          </p:nvPr>
        </p:nvSpPr>
        <p:spPr/>
        <p:txBody>
          <a:bodyPr/>
          <a:lstStyle/>
          <a:p>
            <a:fld id="{4BAD8D06-E6E2-4C60-875F-3DB64B60E5CA}" type="slidenum">
              <a:rPr kumimoji="1" lang="ja-JP" altLang="en-US" smtClean="0"/>
              <a:t>19</a:t>
            </a:fld>
            <a:endParaRPr kumimoji="1" lang="ja-JP" altLang="en-US"/>
          </a:p>
        </p:txBody>
      </p:sp>
      <p:sp>
        <p:nvSpPr>
          <p:cNvPr id="6" name="文本框 5">
            <a:extLst>
              <a:ext uri="{FF2B5EF4-FFF2-40B4-BE49-F238E27FC236}">
                <a16:creationId xmlns:a16="http://schemas.microsoft.com/office/drawing/2014/main" id="{46CE964D-F147-2089-285F-D6CD49CDB779}"/>
              </a:ext>
            </a:extLst>
          </p:cNvPr>
          <p:cNvSpPr txBox="1"/>
          <p:nvPr/>
        </p:nvSpPr>
        <p:spPr>
          <a:xfrm>
            <a:off x="2021632" y="2659559"/>
            <a:ext cx="9511004" cy="769441"/>
          </a:xfrm>
          <a:prstGeom prst="rect">
            <a:avLst/>
          </a:prstGeom>
          <a:noFill/>
        </p:spPr>
        <p:txBody>
          <a:bodyPr wrap="square" rtlCol="0">
            <a:spAutoFit/>
          </a:bodyPr>
          <a:lstStyle/>
          <a:p>
            <a:r>
              <a:rPr lang="ja-JP" altLang="en-US" sz="4400">
                <a:latin typeface="Yu Mincho" panose="02020400000000000000" pitchFamily="18" charset="-128"/>
                <a:ea typeface="Yu Mincho" panose="02020400000000000000" pitchFamily="18" charset="-128"/>
              </a:rPr>
              <a:t>ご清聴ありがとうございました</a:t>
            </a:r>
            <a:endParaRPr lang="zh-CN" altLang="en-US" sz="4400">
              <a:latin typeface="Yu Mincho" panose="02020400000000000000" pitchFamily="18" charset="-128"/>
              <a:ea typeface="Yu Mincho" panose="02020400000000000000" pitchFamily="18" charset="-128"/>
            </a:endParaRPr>
          </a:p>
        </p:txBody>
      </p:sp>
    </p:spTree>
    <p:extLst>
      <p:ext uri="{BB962C8B-B14F-4D97-AF65-F5344CB8AC3E}">
        <p14:creationId xmlns:p14="http://schemas.microsoft.com/office/powerpoint/2010/main" val="170638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9F2CD8B0006744AB89755F4D39DF490" ma:contentTypeVersion="8" ma:contentTypeDescription="新しいドキュメントを作成します。" ma:contentTypeScope="" ma:versionID="72fe3cd77c277de52b12e371e34a57bc">
  <xsd:schema xmlns:xsd="http://www.w3.org/2001/XMLSchema" xmlns:xs="http://www.w3.org/2001/XMLSchema" xmlns:p="http://schemas.microsoft.com/office/2006/metadata/properties" xmlns:ns2="053a100f-2901-41e0-8272-8cd5768c0754" targetNamespace="http://schemas.microsoft.com/office/2006/metadata/properties" ma:root="true" ma:fieldsID="6ab692b00275724fc7c24b4c7e03f837" ns2:_="">
    <xsd:import namespace="053a100f-2901-41e0-8272-8cd5768c075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3a100f-2901-41e0-8272-8cd5768c07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E09E02-8F07-487B-B06C-75DD96F1E3D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E61CC07-0052-4C2E-A1EE-C93A6F52F4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3a100f-2901-41e0-8272-8cd5768c07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523D3F-EC51-4CCE-8648-9C2A5D4616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TM10001114[[fn=ギャラリー]]</Template>
  <TotalTime>951</TotalTime>
  <Words>1768</Words>
  <Application>Microsoft Office PowerPoint</Application>
  <PresentationFormat>宽屏</PresentationFormat>
  <Paragraphs>162</Paragraphs>
  <Slides>19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游明朝</vt:lpstr>
      <vt:lpstr>游明朝</vt:lpstr>
      <vt:lpstr>等线</vt:lpstr>
      <vt:lpstr>Arial</vt:lpstr>
      <vt:lpstr>Gill Sans MT</vt:lpstr>
      <vt:lpstr>ギャラリー</vt:lpstr>
      <vt:lpstr>  アマゾンのラストマイル配送における共通化と現地適応                                </vt:lpstr>
      <vt:lpstr> 先行研究(物流とECにおけるフルフィルメントの関係)</vt:lpstr>
      <vt:lpstr> 先行研究(問題の背景)</vt:lpstr>
      <vt:lpstr> 先行研究(問題の背景)</vt:lpstr>
      <vt:lpstr> アメリカでの自社配送体制を拡大する背景</vt:lpstr>
      <vt:lpstr> アメリカにおけるラストマイル配送の拡充 </vt:lpstr>
      <vt:lpstr> 日本での自社配送体制を拡大する背景</vt:lpstr>
      <vt:lpstr> 日本におけるラストマイル配送の拡充 </vt:lpstr>
      <vt:lpstr> 日米の配送方式の整理 </vt:lpstr>
      <vt:lpstr> 先行研究(取引費用論の視点）</vt:lpstr>
      <vt:lpstr> 先行研究（アマゾン日米の比較）</vt:lpstr>
      <vt:lpstr> </vt:lpstr>
      <vt:lpstr> 問題意識</vt:lpstr>
      <vt:lpstr> 研究方法</vt:lpstr>
      <vt:lpstr> 結論の方向性</vt:lpstr>
      <vt:lpstr> 研究意義</vt:lpstr>
      <vt:lpstr> 論文の目次（仮）</vt:lpstr>
      <vt:lpstr> 参考文献</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admin4</dc:creator>
  <cp:lastModifiedBy>baiqing xin</cp:lastModifiedBy>
  <cp:revision>11</cp:revision>
  <dcterms:created xsi:type="dcterms:W3CDTF">2026-07-04T02:27:39Z</dcterms:created>
  <dcterms:modified xsi:type="dcterms:W3CDTF">2026-09-29T11:13:27Z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0x01010089F2CD8B0006744AB89755F4D39DF490</vt:lpwstr>
  </property>
</Properties>
</file>